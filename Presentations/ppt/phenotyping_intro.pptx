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85" r:id="rId5"/>
    <p:sldMasterId id="2147483696" r:id="rId6"/>
    <p:sldMasterId id="2147483703" r:id="rId7"/>
    <p:sldMasterId id="2147483717" r:id="rId8"/>
  </p:sldMasterIdLst>
  <p:notesMasterIdLst>
    <p:notesMasterId r:id="rId45"/>
  </p:notesMasterIdLst>
  <p:sldIdLst>
    <p:sldId id="495" r:id="rId9"/>
    <p:sldId id="496" r:id="rId10"/>
    <p:sldId id="2147470368" r:id="rId11"/>
    <p:sldId id="427" r:id="rId12"/>
    <p:sldId id="481" r:id="rId13"/>
    <p:sldId id="482" r:id="rId14"/>
    <p:sldId id="484" r:id="rId15"/>
    <p:sldId id="483" r:id="rId16"/>
    <p:sldId id="486" r:id="rId17"/>
    <p:sldId id="487" r:id="rId18"/>
    <p:sldId id="2147470381" r:id="rId19"/>
    <p:sldId id="2147470370" r:id="rId20"/>
    <p:sldId id="489" r:id="rId21"/>
    <p:sldId id="491" r:id="rId22"/>
    <p:sldId id="2147470371" r:id="rId23"/>
    <p:sldId id="2134806399" r:id="rId24"/>
    <p:sldId id="2147470367" r:id="rId25"/>
    <p:sldId id="281" r:id="rId26"/>
    <p:sldId id="272" r:id="rId27"/>
    <p:sldId id="257" r:id="rId28"/>
    <p:sldId id="273" r:id="rId29"/>
    <p:sldId id="263" r:id="rId30"/>
    <p:sldId id="270" r:id="rId31"/>
    <p:sldId id="264" r:id="rId32"/>
    <p:sldId id="265" r:id="rId33"/>
    <p:sldId id="275" r:id="rId34"/>
    <p:sldId id="266" r:id="rId35"/>
    <p:sldId id="276" r:id="rId36"/>
    <p:sldId id="267" r:id="rId37"/>
    <p:sldId id="268" r:id="rId38"/>
    <p:sldId id="2147470379" r:id="rId39"/>
    <p:sldId id="278" r:id="rId40"/>
    <p:sldId id="259" r:id="rId41"/>
    <p:sldId id="269" r:id="rId42"/>
    <p:sldId id="280" r:id="rId43"/>
    <p:sldId id="214141084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A9E2"/>
    <a:srgbClr val="7936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5953D2-DE3B-2C4C-9B11-8A8F936DD2ED}" v="1" dt="2026-10-19T20:30:56.3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58"/>
  </p:normalViewPr>
  <p:slideViewPr>
    <p:cSldViewPr snapToGrid="0">
      <p:cViewPr varScale="1">
        <p:scale>
          <a:sx n="120" d="100"/>
          <a:sy n="120" d="100"/>
        </p:scale>
        <p:origin x="79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presProps" Target="presProps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Prieto Alhambra" userId="46de9d2e-8dcb-4dc2-ac3c-1211bd044275" providerId="ADAL" clId="{9DA8AEDC-E824-53CE-A2D4-0A1B64B2C554}"/>
    <pc:docChg chg="undo custSel delSld modSld delMainMaster">
      <pc:chgData name="Daniel Prieto Alhambra" userId="46de9d2e-8dcb-4dc2-ac3c-1211bd044275" providerId="ADAL" clId="{9DA8AEDC-E824-53CE-A2D4-0A1B64B2C554}" dt="2026-10-19T20:38:05.070" v="33" actId="20577"/>
      <pc:docMkLst>
        <pc:docMk/>
      </pc:docMkLst>
      <pc:sldChg chg="modSp mod">
        <pc:chgData name="Daniel Prieto Alhambra" userId="46de9d2e-8dcb-4dc2-ac3c-1211bd044275" providerId="ADAL" clId="{9DA8AEDC-E824-53CE-A2D4-0A1B64B2C554}" dt="2026-10-19T20:38:05.070" v="33" actId="20577"/>
        <pc:sldMkLst>
          <pc:docMk/>
          <pc:sldMk cId="4159892872" sldId="270"/>
        </pc:sldMkLst>
        <pc:spChg chg="mod">
          <ac:chgData name="Daniel Prieto Alhambra" userId="46de9d2e-8dcb-4dc2-ac3c-1211bd044275" providerId="ADAL" clId="{9DA8AEDC-E824-53CE-A2D4-0A1B64B2C554}" dt="2026-10-19T20:38:05.070" v="33" actId="20577"/>
          <ac:spMkLst>
            <pc:docMk/>
            <pc:sldMk cId="4159892872" sldId="270"/>
            <ac:spMk id="9" creationId="{502F4CA3-01A0-DF97-A1FB-6F17FE2AD1B0}"/>
          </ac:spMkLst>
        </pc:spChg>
      </pc:sldChg>
      <pc:sldChg chg="del">
        <pc:chgData name="Daniel Prieto Alhambra" userId="46de9d2e-8dcb-4dc2-ac3c-1211bd044275" providerId="ADAL" clId="{9DA8AEDC-E824-53CE-A2D4-0A1B64B2C554}" dt="2026-10-19T20:37:06.712" v="16" actId="2696"/>
        <pc:sldMkLst>
          <pc:docMk/>
          <pc:sldMk cId="1712277255" sldId="309"/>
        </pc:sldMkLst>
      </pc:sldChg>
      <pc:sldChg chg="del">
        <pc:chgData name="Daniel Prieto Alhambra" userId="46de9d2e-8dcb-4dc2-ac3c-1211bd044275" providerId="ADAL" clId="{9DA8AEDC-E824-53CE-A2D4-0A1B64B2C554}" dt="2026-10-19T20:37:11.773" v="22" actId="2696"/>
        <pc:sldMkLst>
          <pc:docMk/>
          <pc:sldMk cId="1756582360" sldId="439"/>
        </pc:sldMkLst>
      </pc:sldChg>
      <pc:sldChg chg="del">
        <pc:chgData name="Daniel Prieto Alhambra" userId="46de9d2e-8dcb-4dc2-ac3c-1211bd044275" providerId="ADAL" clId="{9DA8AEDC-E824-53CE-A2D4-0A1B64B2C554}" dt="2026-10-19T20:37:06.698" v="14" actId="2696"/>
        <pc:sldMkLst>
          <pc:docMk/>
          <pc:sldMk cId="3714820785" sldId="488"/>
        </pc:sldMkLst>
      </pc:sldChg>
      <pc:sldChg chg="modSp mod">
        <pc:chgData name="Daniel Prieto Alhambra" userId="46de9d2e-8dcb-4dc2-ac3c-1211bd044275" providerId="ADAL" clId="{9DA8AEDC-E824-53CE-A2D4-0A1B64B2C554}" dt="2026-10-19T20:36:40.181" v="10" actId="5793"/>
        <pc:sldMkLst>
          <pc:docMk/>
          <pc:sldMk cId="2753385694" sldId="496"/>
        </pc:sldMkLst>
        <pc:spChg chg="mod">
          <ac:chgData name="Daniel Prieto Alhambra" userId="46de9d2e-8dcb-4dc2-ac3c-1211bd044275" providerId="ADAL" clId="{9DA8AEDC-E824-53CE-A2D4-0A1B64B2C554}" dt="2026-10-19T20:36:40.181" v="10" actId="5793"/>
          <ac:spMkLst>
            <pc:docMk/>
            <pc:sldMk cId="2753385694" sldId="496"/>
            <ac:spMk id="3" creationId="{0D0AE4C0-3EEA-EB92-1374-5D5CD57DE85F}"/>
          </ac:spMkLst>
        </pc:spChg>
      </pc:sldChg>
      <pc:sldChg chg="delSp modSp mod">
        <pc:chgData name="Daniel Prieto Alhambra" userId="46de9d2e-8dcb-4dc2-ac3c-1211bd044275" providerId="ADAL" clId="{9DA8AEDC-E824-53CE-A2D4-0A1B64B2C554}" dt="2026-10-19T20:31:01.245" v="2" actId="20577"/>
        <pc:sldMkLst>
          <pc:docMk/>
          <pc:sldMk cId="3273109752" sldId="2141410845"/>
        </pc:sldMkLst>
        <pc:spChg chg="mod">
          <ac:chgData name="Daniel Prieto Alhambra" userId="46de9d2e-8dcb-4dc2-ac3c-1211bd044275" providerId="ADAL" clId="{9DA8AEDC-E824-53CE-A2D4-0A1B64B2C554}" dt="2026-10-19T20:31:01.245" v="2" actId="20577"/>
          <ac:spMkLst>
            <pc:docMk/>
            <pc:sldMk cId="3273109752" sldId="2141410845"/>
            <ac:spMk id="5" creationId="{33301296-15A5-5CC6-579D-8021B67741D2}"/>
          </ac:spMkLst>
        </pc:spChg>
        <pc:picChg chg="del">
          <ac:chgData name="Daniel Prieto Alhambra" userId="46de9d2e-8dcb-4dc2-ac3c-1211bd044275" providerId="ADAL" clId="{9DA8AEDC-E824-53CE-A2D4-0A1B64B2C554}" dt="2026-10-19T20:30:56.359" v="1" actId="478"/>
          <ac:picMkLst>
            <pc:docMk/>
            <pc:sldMk cId="3273109752" sldId="2141410845"/>
            <ac:picMk id="6150" creationId="{9C8CF5F3-F910-BC11-C599-13E7AD187D91}"/>
          </ac:picMkLst>
        </pc:picChg>
      </pc:sldChg>
      <pc:sldChg chg="del">
        <pc:chgData name="Daniel Prieto Alhambra" userId="46de9d2e-8dcb-4dc2-ac3c-1211bd044275" providerId="ADAL" clId="{9DA8AEDC-E824-53CE-A2D4-0A1B64B2C554}" dt="2026-10-19T20:37:06.732" v="20" actId="2696"/>
        <pc:sldMkLst>
          <pc:docMk/>
          <pc:sldMk cId="3563781087" sldId="2141410848"/>
        </pc:sldMkLst>
      </pc:sldChg>
      <pc:sldChg chg="del">
        <pc:chgData name="Daniel Prieto Alhambra" userId="46de9d2e-8dcb-4dc2-ac3c-1211bd044275" providerId="ADAL" clId="{9DA8AEDC-E824-53CE-A2D4-0A1B64B2C554}" dt="2026-10-19T20:37:06.721" v="17" actId="2696"/>
        <pc:sldMkLst>
          <pc:docMk/>
          <pc:sldMk cId="3660353054" sldId="2142532512"/>
        </pc:sldMkLst>
      </pc:sldChg>
      <pc:sldChg chg="del">
        <pc:chgData name="Daniel Prieto Alhambra" userId="46de9d2e-8dcb-4dc2-ac3c-1211bd044275" providerId="ADAL" clId="{9DA8AEDC-E824-53CE-A2D4-0A1B64B2C554}" dt="2026-10-19T20:37:06.730" v="19" actId="2696"/>
        <pc:sldMkLst>
          <pc:docMk/>
          <pc:sldMk cId="2486668332" sldId="2142532513"/>
        </pc:sldMkLst>
      </pc:sldChg>
      <pc:sldChg chg="del">
        <pc:chgData name="Daniel Prieto Alhambra" userId="46de9d2e-8dcb-4dc2-ac3c-1211bd044275" providerId="ADAL" clId="{9DA8AEDC-E824-53CE-A2D4-0A1B64B2C554}" dt="2026-10-19T20:37:11.767" v="21" actId="2696"/>
        <pc:sldMkLst>
          <pc:docMk/>
          <pc:sldMk cId="3533198040" sldId="2142532515"/>
        </pc:sldMkLst>
      </pc:sldChg>
      <pc:sldChg chg="del">
        <pc:chgData name="Daniel Prieto Alhambra" userId="46de9d2e-8dcb-4dc2-ac3c-1211bd044275" providerId="ADAL" clId="{9DA8AEDC-E824-53CE-A2D4-0A1B64B2C554}" dt="2026-10-19T20:37:06.702" v="15" actId="2696"/>
        <pc:sldMkLst>
          <pc:docMk/>
          <pc:sldMk cId="1793645317" sldId="2142532516"/>
        </pc:sldMkLst>
      </pc:sldChg>
      <pc:sldChg chg="modSp mod">
        <pc:chgData name="Daniel Prieto Alhambra" userId="46de9d2e-8dcb-4dc2-ac3c-1211bd044275" providerId="ADAL" clId="{9DA8AEDC-E824-53CE-A2D4-0A1B64B2C554}" dt="2026-10-19T20:36:27.113" v="8" actId="20577"/>
        <pc:sldMkLst>
          <pc:docMk/>
          <pc:sldMk cId="3661294427" sldId="2147470368"/>
        </pc:sldMkLst>
        <pc:spChg chg="mod">
          <ac:chgData name="Daniel Prieto Alhambra" userId="46de9d2e-8dcb-4dc2-ac3c-1211bd044275" providerId="ADAL" clId="{9DA8AEDC-E824-53CE-A2D4-0A1B64B2C554}" dt="2026-10-19T20:36:27.113" v="8" actId="20577"/>
          <ac:spMkLst>
            <pc:docMk/>
            <pc:sldMk cId="3661294427" sldId="2147470368"/>
            <ac:spMk id="3" creationId="{C3F94E67-6AE0-CA0A-339C-9D58DFCBECFF}"/>
          </ac:spMkLst>
        </pc:spChg>
      </pc:sldChg>
      <pc:sldChg chg="modSp del mod">
        <pc:chgData name="Daniel Prieto Alhambra" userId="46de9d2e-8dcb-4dc2-ac3c-1211bd044275" providerId="ADAL" clId="{9DA8AEDC-E824-53CE-A2D4-0A1B64B2C554}" dt="2026-10-19T20:37:23.035" v="26" actId="2696"/>
        <pc:sldMkLst>
          <pc:docMk/>
          <pc:sldMk cId="4243291948" sldId="2147470369"/>
        </pc:sldMkLst>
        <pc:spChg chg="mod">
          <ac:chgData name="Daniel Prieto Alhambra" userId="46de9d2e-8dcb-4dc2-ac3c-1211bd044275" providerId="ADAL" clId="{9DA8AEDC-E824-53CE-A2D4-0A1B64B2C554}" dt="2026-10-19T20:36:51.011" v="13" actId="20577"/>
          <ac:spMkLst>
            <pc:docMk/>
            <pc:sldMk cId="4243291948" sldId="2147470369"/>
            <ac:spMk id="3" creationId="{1E98D40B-D7EF-4410-159A-5E53E9A6B57B}"/>
          </ac:spMkLst>
        </pc:spChg>
      </pc:sldChg>
      <pc:sldChg chg="modSp mod">
        <pc:chgData name="Daniel Prieto Alhambra" userId="46de9d2e-8dcb-4dc2-ac3c-1211bd044275" providerId="ADAL" clId="{9DA8AEDC-E824-53CE-A2D4-0A1B64B2C554}" dt="2026-10-19T20:37:18.595" v="25" actId="20577"/>
        <pc:sldMkLst>
          <pc:docMk/>
          <pc:sldMk cId="187176144" sldId="2147470370"/>
        </pc:sldMkLst>
        <pc:spChg chg="mod">
          <ac:chgData name="Daniel Prieto Alhambra" userId="46de9d2e-8dcb-4dc2-ac3c-1211bd044275" providerId="ADAL" clId="{9DA8AEDC-E824-53CE-A2D4-0A1B64B2C554}" dt="2026-10-19T20:37:18.595" v="25" actId="20577"/>
          <ac:spMkLst>
            <pc:docMk/>
            <pc:sldMk cId="187176144" sldId="2147470370"/>
            <ac:spMk id="3" creationId="{551D90C9-66D8-A1FD-2C3C-DC23BC5EC530}"/>
          </ac:spMkLst>
        </pc:spChg>
      </pc:sldChg>
      <pc:sldChg chg="modSp mod">
        <pc:chgData name="Daniel Prieto Alhambra" userId="46de9d2e-8dcb-4dc2-ac3c-1211bd044275" providerId="ADAL" clId="{9DA8AEDC-E824-53CE-A2D4-0A1B64B2C554}" dt="2026-10-19T20:37:41.932" v="30" actId="113"/>
        <pc:sldMkLst>
          <pc:docMk/>
          <pc:sldMk cId="3863548004" sldId="2147470371"/>
        </pc:sldMkLst>
        <pc:spChg chg="mod">
          <ac:chgData name="Daniel Prieto Alhambra" userId="46de9d2e-8dcb-4dc2-ac3c-1211bd044275" providerId="ADAL" clId="{9DA8AEDC-E824-53CE-A2D4-0A1B64B2C554}" dt="2026-10-19T20:37:41.932" v="30" actId="113"/>
          <ac:spMkLst>
            <pc:docMk/>
            <pc:sldMk cId="3863548004" sldId="2147470371"/>
            <ac:spMk id="3" creationId="{D1EC8B2B-636D-46F4-F483-D7A6273B9900}"/>
          </ac:spMkLst>
        </pc:spChg>
      </pc:sldChg>
      <pc:sldMasterChg chg="del">
        <pc:chgData name="Daniel Prieto Alhambra" userId="46de9d2e-8dcb-4dc2-ac3c-1211bd044275" providerId="ADAL" clId="{9DA8AEDC-E824-53CE-A2D4-0A1B64B2C554}" dt="2026-10-19T20:37:06.728" v="18" actId="2696"/>
        <pc:sldMasterMkLst>
          <pc:docMk/>
          <pc:sldMasterMk cId="3044548284" sldId="214748367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38232-3640-3447-BD60-5779D5398078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6F7F4-D902-0340-9670-AEF2B21E5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6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71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6F7F4-D902-0340-9670-AEF2B21E5D1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387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6F7F4-D902-0340-9670-AEF2B21E5D1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07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6F7F4-D902-0340-9670-AEF2B21E5D1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380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6F7F4-D902-0340-9670-AEF2B21E5D1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974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6F7F4-D902-0340-9670-AEF2B21E5D1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209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6F7F4-D902-0340-9670-AEF2B21E5D1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538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6F7F4-D902-0340-9670-AEF2B21E5D1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397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EC5A6-0F10-1BAB-AE10-BBE1ACF2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073BE-0B92-4DB8-E0E5-5D455F653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8E217-E60B-9F76-B429-7D1746E30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B6E8C-F66F-FC9C-C2B4-307F909BD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6F7F4-D902-0340-9670-AEF2B21E5D1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344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3C472-95EE-110E-9479-C8D3ACE9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3B0AE-882A-B7E2-CA33-CA926E619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2DC93-2ABA-A6C6-2BAF-7C987534F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D5C57-04F6-D5BF-C890-D3438EC19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96F7F4-D902-0340-9670-AEF2B21E5D1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7888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98EC8-6454-9C9B-B649-F1178D31C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8E887-65A1-F2BC-262E-8D31A2011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D76B3-7893-CFAD-37D1-C01A466A9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4D45B-B493-C795-F1AD-55C50917B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96F7F4-D902-0340-9670-AEF2B21E5D1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7920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21970" lvl="2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GB"/>
              <a:t>- A </a:t>
            </a:r>
            <a:r>
              <a:rPr lang="en-GB" b="1">
                <a:solidFill>
                  <a:schemeClr val="tx2"/>
                </a:solidFill>
              </a:rPr>
              <a:t>Federated Network of Data Holders and expertise</a:t>
            </a:r>
            <a:r>
              <a:rPr lang="en-GB"/>
              <a:t>, exposing data using a common data model and working under a common governance, set of standards and service levels with regards to studies and analysis of data.</a:t>
            </a:r>
          </a:p>
          <a:p>
            <a:pPr marL="521970" lvl="2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 marL="521970" lvl="2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GB"/>
              <a:t>- A </a:t>
            </a:r>
            <a:r>
              <a:rPr lang="en-GB" b="1">
                <a:solidFill>
                  <a:schemeClr val="tx2"/>
                </a:solidFill>
              </a:rPr>
              <a:t>Coordination Centre </a:t>
            </a:r>
            <a:r>
              <a:rPr lang="en-GB"/>
              <a:t>that acts as the entry point into this federated network and manages the network on behalf of EMA and the EMRN. </a:t>
            </a:r>
          </a:p>
          <a:p>
            <a:pPr marL="521970" lvl="2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 marL="693420" lvl="2" indent="-171450">
              <a:lnSpc>
                <a:spcPct val="100000"/>
              </a:lnSpc>
              <a:buFontTx/>
              <a:buChar char="-"/>
            </a:pPr>
            <a:r>
              <a:rPr lang="en-GB" b="1">
                <a:solidFill>
                  <a:schemeClr val="tx2"/>
                </a:solidFill>
              </a:rPr>
              <a:t>EMA with strategic control and oversight of operations</a:t>
            </a:r>
            <a:r>
              <a:rPr lang="en-GB"/>
              <a:t>, e.g. interface with EMA committees, EMA own analysis, driving standards, specifications, guidelines, management of the coordination centre.</a:t>
            </a:r>
          </a:p>
          <a:p>
            <a:pPr marL="693420" lvl="2" indent="-171450">
              <a:lnSpc>
                <a:spcPct val="100000"/>
              </a:lnSpc>
              <a:buFontTx/>
              <a:buChar char="-"/>
            </a:pPr>
            <a:endParaRPr lang="en-GB"/>
          </a:p>
          <a:p>
            <a:pPr marL="693420" lvl="2" indent="-171450">
              <a:lnSpc>
                <a:spcPct val="100000"/>
              </a:lnSpc>
              <a:buFontTx/>
              <a:buChar char="-"/>
            </a:pPr>
            <a:r>
              <a:rPr lang="en-US" sz="1200" b="1"/>
              <a:t>Partners</a:t>
            </a:r>
            <a:r>
              <a:rPr lang="en-US" sz="1200"/>
              <a:t> who have access to data, or who may request analyses in a data source and provide results to the Coordination Centre. This includes </a:t>
            </a:r>
            <a:r>
              <a:rPr lang="en-US" sz="1200" b="1"/>
              <a:t>Data Permit Authorities</a:t>
            </a:r>
            <a:r>
              <a:rPr lang="en-US" sz="1200"/>
              <a:t> (DPAs), already existing or to be created as part for the European Health Data Space</a:t>
            </a:r>
          </a:p>
          <a:p>
            <a:pPr marL="693420" lvl="2" indent="-171450">
              <a:lnSpc>
                <a:spcPct val="100000"/>
              </a:lnSpc>
              <a:buFontTx/>
              <a:buChar char="-"/>
            </a:pP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76CEFD-B40B-43A3-AE48-BB92633B2157}" type="datetime4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October 2026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1AA26-52C0-48E5-AF9E-6206494C8AD5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486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gi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gif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9.gi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9.gi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4.png"/><Relationship Id="rId4" Type="http://schemas.openxmlformats.org/officeDocument/2006/relationships/image" Target="../media/image9.gi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9.gi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9.gi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5.svg"/><Relationship Id="rId4" Type="http://schemas.openxmlformats.org/officeDocument/2006/relationships/image" Target="../media/image9.gif"/><Relationship Id="rId9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3.png"/><Relationship Id="rId7" Type="http://schemas.openxmlformats.org/officeDocument/2006/relationships/image" Target="../media/image4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5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5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6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  <a:lvl2pPr>
              <a:defRPr sz="2400">
                <a:solidFill>
                  <a:schemeClr val="tx1"/>
                </a:solidFill>
                <a:latin typeface="+mn-lt"/>
              </a:defRPr>
            </a:lvl2pPr>
            <a:lvl3pPr>
              <a:defRPr sz="1800">
                <a:solidFill>
                  <a:schemeClr val="tx1"/>
                </a:solidFill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577EBF-4D65-F1D1-B26A-9D52ECE61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473" y="5891175"/>
            <a:ext cx="926055" cy="9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9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8488" y="4392386"/>
            <a:ext cx="10972801" cy="1535124"/>
          </a:xfrm>
        </p:spPr>
        <p:txBody>
          <a:bodyPr/>
          <a:lstStyle>
            <a:lvl1pPr marL="0" indent="0">
              <a:buNone/>
              <a:defRPr sz="240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488" y="1401546"/>
            <a:ext cx="10972801" cy="2990840"/>
          </a:xfrm>
        </p:spPr>
        <p:txBody>
          <a:bodyPr anchor="b"/>
          <a:lstStyle>
            <a:lvl1pPr>
              <a:defRPr sz="6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839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921" y="1415017"/>
            <a:ext cx="5352000" cy="45124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78285" y="1415017"/>
            <a:ext cx="5352000" cy="45124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FD8B6-D0DE-3729-09C4-7C5B8C3C3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473" y="5891175"/>
            <a:ext cx="926055" cy="9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340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8890" y="199442"/>
            <a:ext cx="6974111" cy="7867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6032" y="1411751"/>
            <a:ext cx="535365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6032" y="2235663"/>
            <a:ext cx="5353653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00059" y="1411751"/>
            <a:ext cx="535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00059" y="2235663"/>
            <a:ext cx="535200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8F1C0D-BFB6-D2CB-1A67-6F613EAE46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473" y="5891175"/>
            <a:ext cx="926055" cy="9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42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221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52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037" y="1401546"/>
            <a:ext cx="4058249" cy="1374311"/>
          </a:xfrm>
        </p:spPr>
        <p:txBody>
          <a:bodyPr anchor="b"/>
          <a:lstStyle>
            <a:lvl1pPr>
              <a:defRPr sz="32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68" y="1401545"/>
            <a:ext cx="6402921" cy="45259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6037" y="2775855"/>
            <a:ext cx="4058249" cy="315165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3039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039" y="1401544"/>
            <a:ext cx="4058248" cy="1374310"/>
          </a:xfrm>
        </p:spPr>
        <p:txBody>
          <a:bodyPr anchor="b"/>
          <a:lstStyle>
            <a:lvl1pPr>
              <a:defRPr sz="32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48368" y="1401544"/>
            <a:ext cx="6402921" cy="45259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6039" y="2775854"/>
            <a:ext cx="4058248" cy="31516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4071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1688" y="1553947"/>
            <a:ext cx="10972801" cy="45259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28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26933" y="1401546"/>
            <a:ext cx="2628900" cy="4525963"/>
          </a:xfrm>
        </p:spPr>
        <p:txBody>
          <a:bodyPr vert="eaVert"/>
          <a:lstStyle>
            <a:lvl1pPr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3944" y="1401546"/>
            <a:ext cx="8149789" cy="45259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462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86B2765-BC96-4660-8B05-FCC3E86F98AA}"/>
              </a:ext>
            </a:extLst>
          </p:cNvPr>
          <p:cNvGrpSpPr/>
          <p:nvPr userDrawn="1"/>
        </p:nvGrpSpPr>
        <p:grpSpPr>
          <a:xfrm flipH="1">
            <a:off x="0" y="0"/>
            <a:ext cx="4370522" cy="6858000"/>
            <a:chOff x="7897008" y="-1"/>
            <a:chExt cx="4294992" cy="6858001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96182C29-7571-4E93-9EB1-0E078777834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3028" r="50000" b="19912"/>
            <a:stretch/>
          </p:blipFill>
          <p:spPr>
            <a:xfrm>
              <a:off x="7897009" y="-1"/>
              <a:ext cx="4294991" cy="6858001"/>
            </a:xfrm>
            <a:prstGeom prst="rect">
              <a:avLst/>
            </a:prstGeom>
          </p:spPr>
        </p:pic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988D9C52-D870-4582-92BF-1B415B7ACC3F}"/>
                </a:ext>
              </a:extLst>
            </p:cNvPr>
            <p:cNvSpPr/>
            <p:nvPr userDrawn="1"/>
          </p:nvSpPr>
          <p:spPr>
            <a:xfrm>
              <a:off x="7897008" y="0"/>
              <a:ext cx="4294991" cy="68580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b="1"/>
            </a:p>
          </p:txBody>
        </p:sp>
      </p:grpSp>
      <p:pic>
        <p:nvPicPr>
          <p:cNvPr id="5" name="Afbeelding 4" descr="Afbeelding met object&#10;&#10;Beschrijving is gegenereerd met hoge betrouwbaarheid">
            <a:extLst>
              <a:ext uri="{FF2B5EF4-FFF2-40B4-BE49-F238E27FC236}">
                <a16:creationId xmlns:a16="http://schemas.microsoft.com/office/drawing/2014/main" id="{813E6A8F-15F5-4D67-9ABF-BFAD226C69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234" y="1209112"/>
            <a:ext cx="6529815" cy="1713675"/>
          </a:xfrm>
          <a:prstGeom prst="rect">
            <a:avLst/>
          </a:prstGeom>
        </p:spPr>
      </p:pic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18B9E465-19E2-4FA6-B7F9-FE3BE27A11D0}"/>
              </a:ext>
            </a:extLst>
          </p:cNvPr>
          <p:cNvCxnSpPr>
            <a:cxnSpLocks/>
          </p:cNvCxnSpPr>
          <p:nvPr userDrawn="1"/>
        </p:nvCxnSpPr>
        <p:spPr>
          <a:xfrm>
            <a:off x="6064143" y="4164594"/>
            <a:ext cx="448146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C9A31869-8CA8-4D79-8796-16CE8826B3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78550" y="3036313"/>
            <a:ext cx="7052650" cy="99275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31400" indent="0" algn="ctr">
              <a:buNone/>
              <a:defRPr lang="en-GB" sz="2800" b="1" kern="1200" dirty="0">
                <a:solidFill>
                  <a:srgbClr val="EFA528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noProof="0"/>
              <a:t>Click to add title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E6005B2-411D-4DB4-AC85-B5A5AF11E8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8551" y="4308908"/>
            <a:ext cx="7052649" cy="357427"/>
          </a:xfrm>
          <a:prstGeom prst="rect">
            <a:avLst/>
          </a:prstGeom>
        </p:spPr>
        <p:txBody>
          <a:bodyPr anchor="t"/>
          <a:lstStyle>
            <a:lvl1pPr marL="13140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add Author Names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8881F42-455B-4933-A258-FB965091DB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8551" y="4779861"/>
            <a:ext cx="7052649" cy="930831"/>
          </a:xfrm>
          <a:prstGeom prst="rect">
            <a:avLst/>
          </a:prstGeom>
        </p:spPr>
        <p:txBody>
          <a:bodyPr anchor="t"/>
          <a:lstStyle>
            <a:lvl1pPr marL="131400" indent="0" algn="ctr">
              <a:spcBef>
                <a:spcPts val="0"/>
              </a:spcBef>
              <a:buNone/>
              <a:defRPr sz="1600"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 noProof="0"/>
              <a:t>Click to add Author affiliations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A9731654-2BA1-4432-9E57-F0A5C78F5917}"/>
              </a:ext>
            </a:extLst>
          </p:cNvPr>
          <p:cNvGrpSpPr/>
          <p:nvPr userDrawn="1"/>
        </p:nvGrpSpPr>
        <p:grpSpPr>
          <a:xfrm>
            <a:off x="7407291" y="6216453"/>
            <a:ext cx="1782600" cy="346129"/>
            <a:chOff x="2906201" y="6216453"/>
            <a:chExt cx="1782600" cy="346129"/>
          </a:xfrm>
        </p:grpSpPr>
        <p:pic>
          <p:nvPicPr>
            <p:cNvPr id="21" name="Afbeelding 20">
              <a:extLst>
                <a:ext uri="{FF2B5EF4-FFF2-40B4-BE49-F238E27FC236}">
                  <a16:creationId xmlns:a16="http://schemas.microsoft.com/office/drawing/2014/main" id="{5AFC0712-073B-4E0A-97B8-0C0FB32060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06201" y="6251409"/>
              <a:ext cx="461383" cy="276219"/>
            </a:xfrm>
            <a:prstGeom prst="rect">
              <a:avLst/>
            </a:prstGeom>
          </p:spPr>
        </p:pic>
        <p:pic>
          <p:nvPicPr>
            <p:cNvPr id="22" name="Afbeelding 21">
              <a:extLst>
                <a:ext uri="{FF2B5EF4-FFF2-40B4-BE49-F238E27FC236}">
                  <a16:creationId xmlns:a16="http://schemas.microsoft.com/office/drawing/2014/main" id="{4B7EDB33-D52A-4F75-BBA0-13D34A376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9891" y="6251409"/>
              <a:ext cx="468910" cy="276219"/>
            </a:xfrm>
            <a:prstGeom prst="rect">
              <a:avLst/>
            </a:prstGeom>
          </p:spPr>
        </p:pic>
        <p:pic>
          <p:nvPicPr>
            <p:cNvPr id="23" name="Afbeelding 22">
              <a:extLst>
                <a:ext uri="{FF2B5EF4-FFF2-40B4-BE49-F238E27FC236}">
                  <a16:creationId xmlns:a16="http://schemas.microsoft.com/office/drawing/2014/main" id="{14582B02-E8B5-4331-A443-014591D54AB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615" b="19339"/>
            <a:stretch/>
          </p:blipFill>
          <p:spPr>
            <a:xfrm>
              <a:off x="3514807" y="6216453"/>
              <a:ext cx="557860" cy="3461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7780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86B2765-BC96-4660-8B05-FCC3E86F98AA}"/>
              </a:ext>
            </a:extLst>
          </p:cNvPr>
          <p:cNvGrpSpPr/>
          <p:nvPr userDrawn="1"/>
        </p:nvGrpSpPr>
        <p:grpSpPr>
          <a:xfrm flipH="1">
            <a:off x="0" y="1"/>
            <a:ext cx="4370522" cy="6858000"/>
            <a:chOff x="7897008" y="-1"/>
            <a:chExt cx="4294992" cy="6858001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96182C29-7571-4E93-9EB1-0E078777834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3028" r="50000" b="19912"/>
            <a:stretch/>
          </p:blipFill>
          <p:spPr>
            <a:xfrm>
              <a:off x="7897009" y="-1"/>
              <a:ext cx="4294991" cy="6858001"/>
            </a:xfrm>
            <a:prstGeom prst="rect">
              <a:avLst/>
            </a:prstGeom>
          </p:spPr>
        </p:pic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988D9C52-D870-4582-92BF-1B415B7ACC3F}"/>
                </a:ext>
              </a:extLst>
            </p:cNvPr>
            <p:cNvSpPr/>
            <p:nvPr userDrawn="1"/>
          </p:nvSpPr>
          <p:spPr>
            <a:xfrm>
              <a:off x="7897008" y="0"/>
              <a:ext cx="4294991" cy="68580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b="1"/>
            </a:p>
          </p:txBody>
        </p:sp>
      </p:grpSp>
      <p:grpSp>
        <p:nvGrpSpPr>
          <p:cNvPr id="18" name="Groep 17">
            <a:extLst>
              <a:ext uri="{FF2B5EF4-FFF2-40B4-BE49-F238E27FC236}">
                <a16:creationId xmlns:a16="http://schemas.microsoft.com/office/drawing/2014/main" id="{A9731654-2BA1-4432-9E57-F0A5C78F5917}"/>
              </a:ext>
            </a:extLst>
          </p:cNvPr>
          <p:cNvGrpSpPr/>
          <p:nvPr userDrawn="1"/>
        </p:nvGrpSpPr>
        <p:grpSpPr>
          <a:xfrm>
            <a:off x="7407291" y="6216453"/>
            <a:ext cx="1782600" cy="346129"/>
            <a:chOff x="2906201" y="6216453"/>
            <a:chExt cx="1782600" cy="346129"/>
          </a:xfrm>
        </p:grpSpPr>
        <p:pic>
          <p:nvPicPr>
            <p:cNvPr id="21" name="Afbeelding 20">
              <a:extLst>
                <a:ext uri="{FF2B5EF4-FFF2-40B4-BE49-F238E27FC236}">
                  <a16:creationId xmlns:a16="http://schemas.microsoft.com/office/drawing/2014/main" id="{5AFC0712-073B-4E0A-97B8-0C0FB32060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06201" y="6251409"/>
              <a:ext cx="461383" cy="276219"/>
            </a:xfrm>
            <a:prstGeom prst="rect">
              <a:avLst/>
            </a:prstGeom>
          </p:spPr>
        </p:pic>
        <p:pic>
          <p:nvPicPr>
            <p:cNvPr id="22" name="Afbeelding 21">
              <a:extLst>
                <a:ext uri="{FF2B5EF4-FFF2-40B4-BE49-F238E27FC236}">
                  <a16:creationId xmlns:a16="http://schemas.microsoft.com/office/drawing/2014/main" id="{4B7EDB33-D52A-4F75-BBA0-13D34A376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9891" y="6251409"/>
              <a:ext cx="468910" cy="276219"/>
            </a:xfrm>
            <a:prstGeom prst="rect">
              <a:avLst/>
            </a:prstGeom>
          </p:spPr>
        </p:pic>
        <p:pic>
          <p:nvPicPr>
            <p:cNvPr id="23" name="Afbeelding 22">
              <a:extLst>
                <a:ext uri="{FF2B5EF4-FFF2-40B4-BE49-F238E27FC236}">
                  <a16:creationId xmlns:a16="http://schemas.microsoft.com/office/drawing/2014/main" id="{14582B02-E8B5-4331-A443-014591D54AB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615" b="19339"/>
            <a:stretch/>
          </p:blipFill>
          <p:spPr>
            <a:xfrm>
              <a:off x="3514807" y="6216453"/>
              <a:ext cx="557860" cy="346129"/>
            </a:xfrm>
            <a:prstGeom prst="rect">
              <a:avLst/>
            </a:prstGeom>
          </p:spPr>
        </p:pic>
      </p:grpSp>
      <p:pic>
        <p:nvPicPr>
          <p:cNvPr id="14" name="Afbeelding 4" descr="Afbeelding met object&#10;&#10;Beschrijving is gegenereerd met hoge betrouwbaarheid">
            <a:extLst>
              <a:ext uri="{FF2B5EF4-FFF2-40B4-BE49-F238E27FC236}">
                <a16:creationId xmlns:a16="http://schemas.microsoft.com/office/drawing/2014/main" id="{AB234437-68AF-004A-BDBB-5F055F231D6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234" y="1209112"/>
            <a:ext cx="6529815" cy="171367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3A3A2F32-5D71-F248-A02A-83CFCEFA2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8620" y="3048406"/>
            <a:ext cx="6306429" cy="1618282"/>
          </a:xfrm>
        </p:spPr>
        <p:txBody>
          <a:bodyPr/>
          <a:lstStyle>
            <a:lvl1pPr algn="ctr">
              <a:defRPr>
                <a:solidFill>
                  <a:srgbClr val="EFA528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98D428AF-5F70-7743-ACD2-40B0B4374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8620" y="4819088"/>
            <a:ext cx="6306429" cy="1271746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54888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ep 2">
            <a:extLst>
              <a:ext uri="{FF2B5EF4-FFF2-40B4-BE49-F238E27FC236}">
                <a16:creationId xmlns:a16="http://schemas.microsoft.com/office/drawing/2014/main" id="{DDE84CCC-EC47-47B4-B343-C0178342DADE}"/>
              </a:ext>
            </a:extLst>
          </p:cNvPr>
          <p:cNvGrpSpPr/>
          <p:nvPr userDrawn="1"/>
        </p:nvGrpSpPr>
        <p:grpSpPr>
          <a:xfrm>
            <a:off x="103340" y="6578937"/>
            <a:ext cx="1182425" cy="220995"/>
            <a:chOff x="103340" y="6578937"/>
            <a:chExt cx="1182425" cy="220995"/>
          </a:xfrm>
        </p:grpSpPr>
        <p:grpSp>
          <p:nvGrpSpPr>
            <p:cNvPr id="12" name="Groep 11">
              <a:extLst>
                <a:ext uri="{FF2B5EF4-FFF2-40B4-BE49-F238E27FC236}">
                  <a16:creationId xmlns:a16="http://schemas.microsoft.com/office/drawing/2014/main" id="{A99A2495-8F68-4AB9-B9E9-37261505F1BF}"/>
                </a:ext>
              </a:extLst>
            </p:cNvPr>
            <p:cNvGrpSpPr/>
            <p:nvPr userDrawn="1"/>
          </p:nvGrpSpPr>
          <p:grpSpPr>
            <a:xfrm>
              <a:off x="103340" y="6597826"/>
              <a:ext cx="1182425" cy="183220"/>
              <a:chOff x="8426207" y="1337023"/>
              <a:chExt cx="2323293" cy="360000"/>
            </a:xfrm>
          </p:grpSpPr>
          <p:pic>
            <p:nvPicPr>
              <p:cNvPr id="13" name="Afbeelding 12">
                <a:extLst>
                  <a:ext uri="{FF2B5EF4-FFF2-40B4-BE49-F238E27FC236}">
                    <a16:creationId xmlns:a16="http://schemas.microsoft.com/office/drawing/2014/main" id="{F7512792-8657-4D9D-88DF-C8CF862CD8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26207" y="1337023"/>
                <a:ext cx="601328" cy="360000"/>
              </a:xfrm>
              <a:prstGeom prst="rect">
                <a:avLst/>
              </a:prstGeom>
            </p:spPr>
          </p:pic>
          <p:pic>
            <p:nvPicPr>
              <p:cNvPr id="15" name="Afbeelding 14">
                <a:extLst>
                  <a:ext uri="{FF2B5EF4-FFF2-40B4-BE49-F238E27FC236}">
                    <a16:creationId xmlns:a16="http://schemas.microsoft.com/office/drawing/2014/main" id="{BEC5797E-6C70-414D-91BE-B0EDF4E560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38362" y="1337023"/>
                <a:ext cx="611138" cy="360000"/>
              </a:xfrm>
              <a:prstGeom prst="rect">
                <a:avLst/>
              </a:prstGeom>
            </p:spPr>
          </p:pic>
        </p:grpSp>
        <p:pic>
          <p:nvPicPr>
            <p:cNvPr id="16" name="Afbeelding 15">
              <a:extLst>
                <a:ext uri="{FF2B5EF4-FFF2-40B4-BE49-F238E27FC236}">
                  <a16:creationId xmlns:a16="http://schemas.microsoft.com/office/drawing/2014/main" id="{39C84B01-8F88-4B7A-8F58-5B62FDB1A7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615" b="19339"/>
            <a:stretch/>
          </p:blipFill>
          <p:spPr>
            <a:xfrm>
              <a:off x="512294" y="6578937"/>
              <a:ext cx="356179" cy="220995"/>
            </a:xfrm>
            <a:prstGeom prst="rect">
              <a:avLst/>
            </a:prstGeom>
          </p:spPr>
        </p:pic>
      </p:grpSp>
      <p:sp>
        <p:nvSpPr>
          <p:cNvPr id="10" name="TextBox 3">
            <a:extLst>
              <a:ext uri="{FF2B5EF4-FFF2-40B4-BE49-F238E27FC236}">
                <a16:creationId xmlns:a16="http://schemas.microsoft.com/office/drawing/2014/main" id="{0A632DF3-7AA7-4404-A000-28703387A41E}"/>
              </a:ext>
            </a:extLst>
          </p:cNvPr>
          <p:cNvSpPr txBox="1"/>
          <p:nvPr userDrawn="1"/>
        </p:nvSpPr>
        <p:spPr>
          <a:xfrm>
            <a:off x="11660905" y="6535545"/>
            <a:ext cx="490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0D62B9C-1313-6240-B3A9-12C8D3C5854C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11" name="Rechthoek 9">
            <a:extLst>
              <a:ext uri="{FF2B5EF4-FFF2-40B4-BE49-F238E27FC236}">
                <a16:creationId xmlns:a16="http://schemas.microsoft.com/office/drawing/2014/main" id="{4AE7FB7C-E163-47A0-A7B8-373634EACE66}"/>
              </a:ext>
            </a:extLst>
          </p:cNvPr>
          <p:cNvSpPr/>
          <p:nvPr userDrawn="1"/>
        </p:nvSpPr>
        <p:spPr>
          <a:xfrm>
            <a:off x="0" y="1"/>
            <a:ext cx="12191999" cy="65913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2400"/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8019360F-A79D-4356-B46F-EC3161D89B78}"/>
              </a:ext>
            </a:extLst>
          </p:cNvPr>
          <p:cNvSpPr/>
          <p:nvPr userDrawn="1"/>
        </p:nvSpPr>
        <p:spPr>
          <a:xfrm>
            <a:off x="98369" y="76954"/>
            <a:ext cx="509144" cy="5067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4ACE417-EC0B-4CB4-8D26-F0F3544C25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773" t="-304" r="191" b="-1528"/>
          <a:stretch/>
        </p:blipFill>
        <p:spPr>
          <a:xfrm>
            <a:off x="81986" y="76954"/>
            <a:ext cx="619076" cy="63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3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ep 2">
            <a:extLst>
              <a:ext uri="{FF2B5EF4-FFF2-40B4-BE49-F238E27FC236}">
                <a16:creationId xmlns:a16="http://schemas.microsoft.com/office/drawing/2014/main" id="{DDE84CCC-EC47-47B4-B343-C0178342DADE}"/>
              </a:ext>
            </a:extLst>
          </p:cNvPr>
          <p:cNvGrpSpPr/>
          <p:nvPr userDrawn="1"/>
        </p:nvGrpSpPr>
        <p:grpSpPr>
          <a:xfrm>
            <a:off x="103340" y="6578937"/>
            <a:ext cx="1182425" cy="220995"/>
            <a:chOff x="103340" y="6578937"/>
            <a:chExt cx="1182425" cy="220995"/>
          </a:xfrm>
        </p:grpSpPr>
        <p:grpSp>
          <p:nvGrpSpPr>
            <p:cNvPr id="12" name="Groep 11">
              <a:extLst>
                <a:ext uri="{FF2B5EF4-FFF2-40B4-BE49-F238E27FC236}">
                  <a16:creationId xmlns:a16="http://schemas.microsoft.com/office/drawing/2014/main" id="{A99A2495-8F68-4AB9-B9E9-37261505F1BF}"/>
                </a:ext>
              </a:extLst>
            </p:cNvPr>
            <p:cNvGrpSpPr/>
            <p:nvPr userDrawn="1"/>
          </p:nvGrpSpPr>
          <p:grpSpPr>
            <a:xfrm>
              <a:off x="103340" y="6597826"/>
              <a:ext cx="1182425" cy="183220"/>
              <a:chOff x="8426207" y="1337023"/>
              <a:chExt cx="2323293" cy="360000"/>
            </a:xfrm>
          </p:grpSpPr>
          <p:pic>
            <p:nvPicPr>
              <p:cNvPr id="13" name="Afbeelding 12">
                <a:extLst>
                  <a:ext uri="{FF2B5EF4-FFF2-40B4-BE49-F238E27FC236}">
                    <a16:creationId xmlns:a16="http://schemas.microsoft.com/office/drawing/2014/main" id="{F7512792-8657-4D9D-88DF-C8CF862CD8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26207" y="1337023"/>
                <a:ext cx="601328" cy="360000"/>
              </a:xfrm>
              <a:prstGeom prst="rect">
                <a:avLst/>
              </a:prstGeom>
            </p:spPr>
          </p:pic>
          <p:pic>
            <p:nvPicPr>
              <p:cNvPr id="15" name="Afbeelding 14">
                <a:extLst>
                  <a:ext uri="{FF2B5EF4-FFF2-40B4-BE49-F238E27FC236}">
                    <a16:creationId xmlns:a16="http://schemas.microsoft.com/office/drawing/2014/main" id="{BEC5797E-6C70-414D-91BE-B0EDF4E560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38362" y="1337023"/>
                <a:ext cx="611138" cy="360000"/>
              </a:xfrm>
              <a:prstGeom prst="rect">
                <a:avLst/>
              </a:prstGeom>
            </p:spPr>
          </p:pic>
        </p:grpSp>
        <p:pic>
          <p:nvPicPr>
            <p:cNvPr id="16" name="Afbeelding 15">
              <a:extLst>
                <a:ext uri="{FF2B5EF4-FFF2-40B4-BE49-F238E27FC236}">
                  <a16:creationId xmlns:a16="http://schemas.microsoft.com/office/drawing/2014/main" id="{39C84B01-8F88-4B7A-8F58-5B62FDB1A7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615" b="19339"/>
            <a:stretch/>
          </p:blipFill>
          <p:spPr>
            <a:xfrm>
              <a:off x="512294" y="6578937"/>
              <a:ext cx="356179" cy="220995"/>
            </a:xfrm>
            <a:prstGeom prst="rect">
              <a:avLst/>
            </a:prstGeom>
          </p:spPr>
        </p:pic>
      </p:grpSp>
      <p:sp>
        <p:nvSpPr>
          <p:cNvPr id="11" name="TextBox 3">
            <a:extLst>
              <a:ext uri="{FF2B5EF4-FFF2-40B4-BE49-F238E27FC236}">
                <a16:creationId xmlns:a16="http://schemas.microsoft.com/office/drawing/2014/main" id="{CF82147A-F310-4F08-A322-4712DFB05CAC}"/>
              </a:ext>
            </a:extLst>
          </p:cNvPr>
          <p:cNvSpPr txBox="1"/>
          <p:nvPr userDrawn="1"/>
        </p:nvSpPr>
        <p:spPr>
          <a:xfrm>
            <a:off x="11660905" y="6535545"/>
            <a:ext cx="490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0D62B9C-1313-6240-B3A9-12C8D3C5854C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18" name="Rechthoek 9">
            <a:extLst>
              <a:ext uri="{FF2B5EF4-FFF2-40B4-BE49-F238E27FC236}">
                <a16:creationId xmlns:a16="http://schemas.microsoft.com/office/drawing/2014/main" id="{FDCB7EAC-6124-4EAA-8359-CBA1FC66C05F}"/>
              </a:ext>
            </a:extLst>
          </p:cNvPr>
          <p:cNvSpPr/>
          <p:nvPr userDrawn="1"/>
        </p:nvSpPr>
        <p:spPr>
          <a:xfrm>
            <a:off x="0" y="1"/>
            <a:ext cx="12191999" cy="65913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2400"/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3F60A0B3-33D5-4C1D-916A-291659662A56}"/>
              </a:ext>
            </a:extLst>
          </p:cNvPr>
          <p:cNvSpPr/>
          <p:nvPr userDrawn="1"/>
        </p:nvSpPr>
        <p:spPr>
          <a:xfrm>
            <a:off x="98369" y="76954"/>
            <a:ext cx="509144" cy="5067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04CED64B-379A-440B-8CEC-EA945584F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048" y="0"/>
            <a:ext cx="11408952" cy="659130"/>
          </a:xfrm>
          <a:prstGeom prst="rect">
            <a:avLst/>
          </a:prstGeom>
        </p:spPr>
        <p:txBody>
          <a:bodyPr anchor="ctr"/>
          <a:lstStyle>
            <a:lvl1pPr>
              <a:defRPr sz="3600" b="1" cap="sm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1E980F08-4AEA-477F-852F-33E1F7E8C7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773" t="-304" r="191" b="-1528"/>
          <a:stretch/>
        </p:blipFill>
        <p:spPr>
          <a:xfrm>
            <a:off x="81986" y="76954"/>
            <a:ext cx="619076" cy="63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61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hoek 9">
            <a:extLst>
              <a:ext uri="{FF2B5EF4-FFF2-40B4-BE49-F238E27FC236}">
                <a16:creationId xmlns:a16="http://schemas.microsoft.com/office/drawing/2014/main" id="{F95C1061-64D9-4E4A-BEB2-349B77D196FC}"/>
              </a:ext>
            </a:extLst>
          </p:cNvPr>
          <p:cNvSpPr/>
          <p:nvPr userDrawn="1"/>
        </p:nvSpPr>
        <p:spPr>
          <a:xfrm>
            <a:off x="0" y="1"/>
            <a:ext cx="12191999" cy="65913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2400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17B80726-3DF2-482C-991A-97D6D9E8430F}"/>
              </a:ext>
            </a:extLst>
          </p:cNvPr>
          <p:cNvSpPr/>
          <p:nvPr userDrawn="1"/>
        </p:nvSpPr>
        <p:spPr>
          <a:xfrm>
            <a:off x="98369" y="76954"/>
            <a:ext cx="509144" cy="5067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7BD0D8-3CA7-4C8D-8A26-1752BFB06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048" y="0"/>
            <a:ext cx="11408952" cy="659130"/>
          </a:xfrm>
          <a:prstGeom prst="rect">
            <a:avLst/>
          </a:prstGeom>
        </p:spPr>
        <p:txBody>
          <a:bodyPr anchor="ctr"/>
          <a:lstStyle>
            <a:lvl1pPr>
              <a:defRPr sz="3600" b="1" cap="sm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grpSp>
        <p:nvGrpSpPr>
          <p:cNvPr id="3" name="Groep 2">
            <a:extLst>
              <a:ext uri="{FF2B5EF4-FFF2-40B4-BE49-F238E27FC236}">
                <a16:creationId xmlns:a16="http://schemas.microsoft.com/office/drawing/2014/main" id="{DDE84CCC-EC47-47B4-B343-C0178342DADE}"/>
              </a:ext>
            </a:extLst>
          </p:cNvPr>
          <p:cNvGrpSpPr/>
          <p:nvPr userDrawn="1"/>
        </p:nvGrpSpPr>
        <p:grpSpPr>
          <a:xfrm>
            <a:off x="103340" y="6578937"/>
            <a:ext cx="1182425" cy="220995"/>
            <a:chOff x="103340" y="6578937"/>
            <a:chExt cx="1182425" cy="220995"/>
          </a:xfrm>
        </p:grpSpPr>
        <p:grpSp>
          <p:nvGrpSpPr>
            <p:cNvPr id="12" name="Groep 11">
              <a:extLst>
                <a:ext uri="{FF2B5EF4-FFF2-40B4-BE49-F238E27FC236}">
                  <a16:creationId xmlns:a16="http://schemas.microsoft.com/office/drawing/2014/main" id="{A99A2495-8F68-4AB9-B9E9-37261505F1BF}"/>
                </a:ext>
              </a:extLst>
            </p:cNvPr>
            <p:cNvGrpSpPr/>
            <p:nvPr userDrawn="1"/>
          </p:nvGrpSpPr>
          <p:grpSpPr>
            <a:xfrm>
              <a:off x="103340" y="6597826"/>
              <a:ext cx="1182425" cy="183220"/>
              <a:chOff x="8426207" y="1337023"/>
              <a:chExt cx="2323293" cy="360000"/>
            </a:xfrm>
          </p:grpSpPr>
          <p:pic>
            <p:nvPicPr>
              <p:cNvPr id="13" name="Afbeelding 12">
                <a:extLst>
                  <a:ext uri="{FF2B5EF4-FFF2-40B4-BE49-F238E27FC236}">
                    <a16:creationId xmlns:a16="http://schemas.microsoft.com/office/drawing/2014/main" id="{F7512792-8657-4D9D-88DF-C8CF862CD8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26207" y="1337023"/>
                <a:ext cx="601328" cy="360000"/>
              </a:xfrm>
              <a:prstGeom prst="rect">
                <a:avLst/>
              </a:prstGeom>
            </p:spPr>
          </p:pic>
          <p:pic>
            <p:nvPicPr>
              <p:cNvPr id="15" name="Afbeelding 14">
                <a:extLst>
                  <a:ext uri="{FF2B5EF4-FFF2-40B4-BE49-F238E27FC236}">
                    <a16:creationId xmlns:a16="http://schemas.microsoft.com/office/drawing/2014/main" id="{BEC5797E-6C70-414D-91BE-B0EDF4E560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38362" y="1337023"/>
                <a:ext cx="611138" cy="360000"/>
              </a:xfrm>
              <a:prstGeom prst="rect">
                <a:avLst/>
              </a:prstGeom>
            </p:spPr>
          </p:pic>
        </p:grpSp>
        <p:pic>
          <p:nvPicPr>
            <p:cNvPr id="16" name="Afbeelding 15">
              <a:extLst>
                <a:ext uri="{FF2B5EF4-FFF2-40B4-BE49-F238E27FC236}">
                  <a16:creationId xmlns:a16="http://schemas.microsoft.com/office/drawing/2014/main" id="{39C84B01-8F88-4B7A-8F58-5B62FDB1A7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615" b="19339"/>
            <a:stretch/>
          </p:blipFill>
          <p:spPr>
            <a:xfrm>
              <a:off x="512294" y="6578937"/>
              <a:ext cx="356179" cy="220995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6D8D11-F353-1644-9F6F-2F0BE03ECA94}"/>
              </a:ext>
            </a:extLst>
          </p:cNvPr>
          <p:cNvSpPr txBox="1"/>
          <p:nvPr userDrawn="1"/>
        </p:nvSpPr>
        <p:spPr>
          <a:xfrm>
            <a:off x="11660905" y="6535545"/>
            <a:ext cx="490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0D62B9C-1313-6240-B3A9-12C8D3C5854C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1968962-4102-1841-BBEE-88E05FE72C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4801" y="1137272"/>
            <a:ext cx="11180936" cy="49069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93D2251-DA7C-4B35-BF44-219C7C8CCD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773" t="-304" r="191" b="-1528"/>
          <a:stretch/>
        </p:blipFill>
        <p:spPr>
          <a:xfrm>
            <a:off x="81986" y="76954"/>
            <a:ext cx="619076" cy="63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837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ep 2">
            <a:extLst>
              <a:ext uri="{FF2B5EF4-FFF2-40B4-BE49-F238E27FC236}">
                <a16:creationId xmlns:a16="http://schemas.microsoft.com/office/drawing/2014/main" id="{DDE84CCC-EC47-47B4-B343-C0178342DADE}"/>
              </a:ext>
            </a:extLst>
          </p:cNvPr>
          <p:cNvGrpSpPr/>
          <p:nvPr userDrawn="1"/>
        </p:nvGrpSpPr>
        <p:grpSpPr>
          <a:xfrm>
            <a:off x="103340" y="6578937"/>
            <a:ext cx="1182425" cy="220995"/>
            <a:chOff x="103340" y="6578937"/>
            <a:chExt cx="1182425" cy="220995"/>
          </a:xfrm>
        </p:grpSpPr>
        <p:grpSp>
          <p:nvGrpSpPr>
            <p:cNvPr id="12" name="Groep 11">
              <a:extLst>
                <a:ext uri="{FF2B5EF4-FFF2-40B4-BE49-F238E27FC236}">
                  <a16:creationId xmlns:a16="http://schemas.microsoft.com/office/drawing/2014/main" id="{A99A2495-8F68-4AB9-B9E9-37261505F1BF}"/>
                </a:ext>
              </a:extLst>
            </p:cNvPr>
            <p:cNvGrpSpPr/>
            <p:nvPr userDrawn="1"/>
          </p:nvGrpSpPr>
          <p:grpSpPr>
            <a:xfrm>
              <a:off x="103340" y="6597826"/>
              <a:ext cx="1182425" cy="183220"/>
              <a:chOff x="8426207" y="1337023"/>
              <a:chExt cx="2323293" cy="360000"/>
            </a:xfrm>
          </p:grpSpPr>
          <p:pic>
            <p:nvPicPr>
              <p:cNvPr id="13" name="Afbeelding 12">
                <a:extLst>
                  <a:ext uri="{FF2B5EF4-FFF2-40B4-BE49-F238E27FC236}">
                    <a16:creationId xmlns:a16="http://schemas.microsoft.com/office/drawing/2014/main" id="{F7512792-8657-4D9D-88DF-C8CF862CD8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26207" y="1337023"/>
                <a:ext cx="601328" cy="360000"/>
              </a:xfrm>
              <a:prstGeom prst="rect">
                <a:avLst/>
              </a:prstGeom>
            </p:spPr>
          </p:pic>
          <p:pic>
            <p:nvPicPr>
              <p:cNvPr id="15" name="Afbeelding 14">
                <a:extLst>
                  <a:ext uri="{FF2B5EF4-FFF2-40B4-BE49-F238E27FC236}">
                    <a16:creationId xmlns:a16="http://schemas.microsoft.com/office/drawing/2014/main" id="{BEC5797E-6C70-414D-91BE-B0EDF4E560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38362" y="1337023"/>
                <a:ext cx="611138" cy="360000"/>
              </a:xfrm>
              <a:prstGeom prst="rect">
                <a:avLst/>
              </a:prstGeom>
            </p:spPr>
          </p:pic>
        </p:grpSp>
        <p:pic>
          <p:nvPicPr>
            <p:cNvPr id="16" name="Afbeelding 15">
              <a:extLst>
                <a:ext uri="{FF2B5EF4-FFF2-40B4-BE49-F238E27FC236}">
                  <a16:creationId xmlns:a16="http://schemas.microsoft.com/office/drawing/2014/main" id="{39C84B01-8F88-4B7A-8F58-5B62FDB1A7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615" b="19339"/>
            <a:stretch/>
          </p:blipFill>
          <p:spPr>
            <a:xfrm>
              <a:off x="512294" y="6578937"/>
              <a:ext cx="356179" cy="220995"/>
            </a:xfrm>
            <a:prstGeom prst="rect">
              <a:avLst/>
            </a:prstGeom>
          </p:spPr>
        </p:pic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E44B679-5C31-5D44-83CA-8C998805E91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973532" y="1093190"/>
            <a:ext cx="5103315" cy="51168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ED0E79C-F69E-3E4F-A509-4E0B45A11291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24880" y="1093191"/>
            <a:ext cx="5038443" cy="51168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E27951EB-ACF7-429F-9EAD-CF194AA4ADBF}"/>
              </a:ext>
            </a:extLst>
          </p:cNvPr>
          <p:cNvSpPr txBox="1"/>
          <p:nvPr userDrawn="1"/>
        </p:nvSpPr>
        <p:spPr>
          <a:xfrm>
            <a:off x="11660905" y="6535545"/>
            <a:ext cx="490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0D62B9C-1313-6240-B3A9-12C8D3C5854C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20" name="Rechthoek 9">
            <a:extLst>
              <a:ext uri="{FF2B5EF4-FFF2-40B4-BE49-F238E27FC236}">
                <a16:creationId xmlns:a16="http://schemas.microsoft.com/office/drawing/2014/main" id="{778D9F52-007D-4038-86CF-48A5BC1144CD}"/>
              </a:ext>
            </a:extLst>
          </p:cNvPr>
          <p:cNvSpPr/>
          <p:nvPr userDrawn="1"/>
        </p:nvSpPr>
        <p:spPr>
          <a:xfrm>
            <a:off x="0" y="1"/>
            <a:ext cx="12191999" cy="65913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2400"/>
          </a:p>
        </p:txBody>
      </p:sp>
      <p:sp>
        <p:nvSpPr>
          <p:cNvPr id="21" name="Ovaal 20">
            <a:extLst>
              <a:ext uri="{FF2B5EF4-FFF2-40B4-BE49-F238E27FC236}">
                <a16:creationId xmlns:a16="http://schemas.microsoft.com/office/drawing/2014/main" id="{02EB3EEA-CC2D-429E-A0AA-31421082FDFA}"/>
              </a:ext>
            </a:extLst>
          </p:cNvPr>
          <p:cNvSpPr/>
          <p:nvPr userDrawn="1"/>
        </p:nvSpPr>
        <p:spPr>
          <a:xfrm>
            <a:off x="98369" y="76954"/>
            <a:ext cx="509144" cy="5067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3E16B8AC-2586-44A6-971E-5514201D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048" y="0"/>
            <a:ext cx="11408952" cy="659130"/>
          </a:xfrm>
          <a:prstGeom prst="rect">
            <a:avLst/>
          </a:prstGeom>
        </p:spPr>
        <p:txBody>
          <a:bodyPr anchor="ctr"/>
          <a:lstStyle>
            <a:lvl1pPr>
              <a:defRPr sz="3600" b="1" cap="sm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A5220020-D82C-49D6-A5E7-CD4E87C46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773" t="-304" r="191" b="-1528"/>
          <a:stretch/>
        </p:blipFill>
        <p:spPr>
          <a:xfrm>
            <a:off x="81986" y="76954"/>
            <a:ext cx="619076" cy="63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730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2B769C98-1A5D-514D-8B36-4BC77932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4880" y="1564111"/>
            <a:ext cx="5039140" cy="4752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357D307-A080-DC49-B4D3-D2BE99B4625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5944411" y="1564111"/>
            <a:ext cx="5039140" cy="4752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grpSp>
        <p:nvGrpSpPr>
          <p:cNvPr id="3" name="Groep 2">
            <a:extLst>
              <a:ext uri="{FF2B5EF4-FFF2-40B4-BE49-F238E27FC236}">
                <a16:creationId xmlns:a16="http://schemas.microsoft.com/office/drawing/2014/main" id="{DDE84CCC-EC47-47B4-B343-C0178342DADE}"/>
              </a:ext>
            </a:extLst>
          </p:cNvPr>
          <p:cNvGrpSpPr/>
          <p:nvPr userDrawn="1"/>
        </p:nvGrpSpPr>
        <p:grpSpPr>
          <a:xfrm>
            <a:off x="103340" y="6578937"/>
            <a:ext cx="1182425" cy="220995"/>
            <a:chOff x="103340" y="6578937"/>
            <a:chExt cx="1182425" cy="220995"/>
          </a:xfrm>
        </p:grpSpPr>
        <p:grpSp>
          <p:nvGrpSpPr>
            <p:cNvPr id="12" name="Groep 11">
              <a:extLst>
                <a:ext uri="{FF2B5EF4-FFF2-40B4-BE49-F238E27FC236}">
                  <a16:creationId xmlns:a16="http://schemas.microsoft.com/office/drawing/2014/main" id="{A99A2495-8F68-4AB9-B9E9-37261505F1BF}"/>
                </a:ext>
              </a:extLst>
            </p:cNvPr>
            <p:cNvGrpSpPr/>
            <p:nvPr userDrawn="1"/>
          </p:nvGrpSpPr>
          <p:grpSpPr>
            <a:xfrm>
              <a:off x="103340" y="6597826"/>
              <a:ext cx="1182425" cy="183220"/>
              <a:chOff x="8426207" y="1337023"/>
              <a:chExt cx="2323293" cy="360000"/>
            </a:xfrm>
          </p:grpSpPr>
          <p:pic>
            <p:nvPicPr>
              <p:cNvPr id="13" name="Afbeelding 12">
                <a:extLst>
                  <a:ext uri="{FF2B5EF4-FFF2-40B4-BE49-F238E27FC236}">
                    <a16:creationId xmlns:a16="http://schemas.microsoft.com/office/drawing/2014/main" id="{F7512792-8657-4D9D-88DF-C8CF862CD8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26207" y="1337023"/>
                <a:ext cx="601328" cy="360000"/>
              </a:xfrm>
              <a:prstGeom prst="rect">
                <a:avLst/>
              </a:prstGeom>
            </p:spPr>
          </p:pic>
          <p:pic>
            <p:nvPicPr>
              <p:cNvPr id="15" name="Afbeelding 14">
                <a:extLst>
                  <a:ext uri="{FF2B5EF4-FFF2-40B4-BE49-F238E27FC236}">
                    <a16:creationId xmlns:a16="http://schemas.microsoft.com/office/drawing/2014/main" id="{BEC5797E-6C70-414D-91BE-B0EDF4E560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38362" y="1337023"/>
                <a:ext cx="611138" cy="360000"/>
              </a:xfrm>
              <a:prstGeom prst="rect">
                <a:avLst/>
              </a:prstGeom>
            </p:spPr>
          </p:pic>
        </p:grpSp>
        <p:pic>
          <p:nvPicPr>
            <p:cNvPr id="16" name="Afbeelding 15">
              <a:extLst>
                <a:ext uri="{FF2B5EF4-FFF2-40B4-BE49-F238E27FC236}">
                  <a16:creationId xmlns:a16="http://schemas.microsoft.com/office/drawing/2014/main" id="{39C84B01-8F88-4B7A-8F58-5B62FDB1A7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615" b="19339"/>
            <a:stretch/>
          </p:blipFill>
          <p:spPr>
            <a:xfrm>
              <a:off x="512294" y="6578937"/>
              <a:ext cx="356179" cy="220995"/>
            </a:xfrm>
            <a:prstGeom prst="rect">
              <a:avLst/>
            </a:prstGeom>
          </p:spPr>
        </p:pic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9B2D53F1-8BB0-F94B-B40B-1B1A209C2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880" y="924349"/>
            <a:ext cx="5039140" cy="668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07E9D5E-9A14-204F-BF5B-1FE1FE6E429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944411" y="924349"/>
            <a:ext cx="5039140" cy="668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9B398202-6EBD-48C9-B7CD-C9E17453DA36}"/>
              </a:ext>
            </a:extLst>
          </p:cNvPr>
          <p:cNvSpPr txBox="1"/>
          <p:nvPr userDrawn="1"/>
        </p:nvSpPr>
        <p:spPr>
          <a:xfrm>
            <a:off x="11660905" y="6535545"/>
            <a:ext cx="490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0D62B9C-1313-6240-B3A9-12C8D3C5854C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19" name="Rechthoek 9">
            <a:extLst>
              <a:ext uri="{FF2B5EF4-FFF2-40B4-BE49-F238E27FC236}">
                <a16:creationId xmlns:a16="http://schemas.microsoft.com/office/drawing/2014/main" id="{F59C42DF-0A99-4DD4-8374-27E84E7B3B2C}"/>
              </a:ext>
            </a:extLst>
          </p:cNvPr>
          <p:cNvSpPr/>
          <p:nvPr userDrawn="1"/>
        </p:nvSpPr>
        <p:spPr>
          <a:xfrm>
            <a:off x="0" y="1"/>
            <a:ext cx="12191999" cy="65913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2400"/>
          </a:p>
        </p:txBody>
      </p:sp>
      <p:sp>
        <p:nvSpPr>
          <p:cNvPr id="23" name="Ovaal 22">
            <a:extLst>
              <a:ext uri="{FF2B5EF4-FFF2-40B4-BE49-F238E27FC236}">
                <a16:creationId xmlns:a16="http://schemas.microsoft.com/office/drawing/2014/main" id="{AD67BD65-C246-4DF8-8665-EC293E822BE4}"/>
              </a:ext>
            </a:extLst>
          </p:cNvPr>
          <p:cNvSpPr/>
          <p:nvPr userDrawn="1"/>
        </p:nvSpPr>
        <p:spPr>
          <a:xfrm>
            <a:off x="98369" y="76954"/>
            <a:ext cx="509144" cy="5067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32BC77FC-20E4-4E37-8BB4-445DE2BC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048" y="0"/>
            <a:ext cx="11408952" cy="659130"/>
          </a:xfrm>
          <a:prstGeom prst="rect">
            <a:avLst/>
          </a:prstGeom>
        </p:spPr>
        <p:txBody>
          <a:bodyPr anchor="ctr"/>
          <a:lstStyle>
            <a:lvl1pPr>
              <a:defRPr sz="3600" b="1" cap="sm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128C8CBF-BB81-4D13-974E-7740DED0C2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773" t="-304" r="191" b="-1528"/>
          <a:stretch/>
        </p:blipFill>
        <p:spPr>
          <a:xfrm>
            <a:off x="81986" y="76954"/>
            <a:ext cx="619076" cy="63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812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Rechte verbindingslijn 17">
            <a:extLst>
              <a:ext uri="{FF2B5EF4-FFF2-40B4-BE49-F238E27FC236}">
                <a16:creationId xmlns:a16="http://schemas.microsoft.com/office/drawing/2014/main" id="{CA79620A-AE98-3D46-B71E-AAEF720D0DFD}"/>
              </a:ext>
            </a:extLst>
          </p:cNvPr>
          <p:cNvCxnSpPr>
            <a:cxnSpLocks/>
          </p:cNvCxnSpPr>
          <p:nvPr userDrawn="1"/>
        </p:nvCxnSpPr>
        <p:spPr>
          <a:xfrm>
            <a:off x="7970072" y="802709"/>
            <a:ext cx="0" cy="5924016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Afbeelding 20">
            <a:extLst>
              <a:ext uri="{FF2B5EF4-FFF2-40B4-BE49-F238E27FC236}">
                <a16:creationId xmlns:a16="http://schemas.microsoft.com/office/drawing/2014/main" id="{B3390693-4EF0-0244-ACDF-8904C2BF0A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953" y="4307567"/>
            <a:ext cx="1275619" cy="394282"/>
          </a:xfrm>
          <a:prstGeom prst="rect">
            <a:avLst/>
          </a:prstGeom>
        </p:spPr>
      </p:pic>
      <p:pic>
        <p:nvPicPr>
          <p:cNvPr id="19" name="Afbeelding 21">
            <a:extLst>
              <a:ext uri="{FF2B5EF4-FFF2-40B4-BE49-F238E27FC236}">
                <a16:creationId xmlns:a16="http://schemas.microsoft.com/office/drawing/2014/main" id="{E444DB78-2325-CF48-B6D0-7EB8D4D8E0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362" y="4252741"/>
            <a:ext cx="705508" cy="503934"/>
          </a:xfrm>
          <a:prstGeom prst="rect">
            <a:avLst/>
          </a:prstGeom>
        </p:spPr>
      </p:pic>
      <p:cxnSp>
        <p:nvCxnSpPr>
          <p:cNvPr id="20" name="Rechte verbindingslijn 23">
            <a:extLst>
              <a:ext uri="{FF2B5EF4-FFF2-40B4-BE49-F238E27FC236}">
                <a16:creationId xmlns:a16="http://schemas.microsoft.com/office/drawing/2014/main" id="{4C958518-3E7F-2F48-9651-20973FCF3122}"/>
              </a:ext>
            </a:extLst>
          </p:cNvPr>
          <p:cNvCxnSpPr>
            <a:cxnSpLocks/>
          </p:cNvCxnSpPr>
          <p:nvPr userDrawn="1"/>
        </p:nvCxnSpPr>
        <p:spPr>
          <a:xfrm flipH="1">
            <a:off x="8161978" y="3969061"/>
            <a:ext cx="3838116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24">
            <a:extLst>
              <a:ext uri="{FF2B5EF4-FFF2-40B4-BE49-F238E27FC236}">
                <a16:creationId xmlns:a16="http://schemas.microsoft.com/office/drawing/2014/main" id="{FAEF0898-0A24-DE4E-84B5-F7F47859289A}"/>
              </a:ext>
            </a:extLst>
          </p:cNvPr>
          <p:cNvCxnSpPr>
            <a:cxnSpLocks/>
          </p:cNvCxnSpPr>
          <p:nvPr userDrawn="1"/>
        </p:nvCxnSpPr>
        <p:spPr>
          <a:xfrm flipH="1">
            <a:off x="8161978" y="5063021"/>
            <a:ext cx="3838116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jdelijke aanduiding voor tekst 2">
            <a:extLst>
              <a:ext uri="{FF2B5EF4-FFF2-40B4-BE49-F238E27FC236}">
                <a16:creationId xmlns:a16="http://schemas.microsoft.com/office/drawing/2014/main" id="{6A9798BD-3E4B-344A-9355-E1A728F4CD75}"/>
              </a:ext>
            </a:extLst>
          </p:cNvPr>
          <p:cNvSpPr txBox="1">
            <a:spLocks/>
          </p:cNvSpPr>
          <p:nvPr userDrawn="1"/>
        </p:nvSpPr>
        <p:spPr>
          <a:xfrm>
            <a:off x="8134816" y="5138722"/>
            <a:ext cx="3906291" cy="963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nl-NL" sz="24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20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8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BE" sz="16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100" noProof="0"/>
              <a:t>This project has received funding from the Innovative Medicines Initiative 2 Joint Undertaking (JU) under grant agreement No 806968. The JU receives support from the European Union’s Horizon 2020 research and innovation programme and EFPIA. </a:t>
            </a:r>
          </a:p>
        </p:txBody>
      </p:sp>
      <p:pic>
        <p:nvPicPr>
          <p:cNvPr id="23" name="Afbeelding 28">
            <a:extLst>
              <a:ext uri="{FF2B5EF4-FFF2-40B4-BE49-F238E27FC236}">
                <a16:creationId xmlns:a16="http://schemas.microsoft.com/office/drawing/2014/main" id="{3A35C8B1-38F6-1248-A373-1B1CF16BB4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15" b="19339"/>
          <a:stretch/>
        </p:blipFill>
        <p:spPr>
          <a:xfrm>
            <a:off x="10669660" y="4275408"/>
            <a:ext cx="725091" cy="449889"/>
          </a:xfrm>
          <a:prstGeom prst="rect">
            <a:avLst/>
          </a:prstGeom>
        </p:spPr>
      </p:pic>
      <p:pic>
        <p:nvPicPr>
          <p:cNvPr id="24" name="Afbeelding 29">
            <a:extLst>
              <a:ext uri="{FF2B5EF4-FFF2-40B4-BE49-F238E27FC236}">
                <a16:creationId xmlns:a16="http://schemas.microsoft.com/office/drawing/2014/main" id="{53F1D838-76EE-6347-B1B5-95F70CEE327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10" y="1983076"/>
            <a:ext cx="540000" cy="540000"/>
          </a:xfrm>
          <a:prstGeom prst="rect">
            <a:avLst/>
          </a:prstGeom>
        </p:spPr>
      </p:pic>
      <p:sp>
        <p:nvSpPr>
          <p:cNvPr id="25" name="Tijdelijke aanduiding voor tekst 2">
            <a:extLst>
              <a:ext uri="{FF2B5EF4-FFF2-40B4-BE49-F238E27FC236}">
                <a16:creationId xmlns:a16="http://schemas.microsoft.com/office/drawing/2014/main" id="{4276C92D-A390-0446-AA90-D417D5177FB2}"/>
              </a:ext>
            </a:extLst>
          </p:cNvPr>
          <p:cNvSpPr txBox="1">
            <a:spLocks/>
          </p:cNvSpPr>
          <p:nvPr userDrawn="1"/>
        </p:nvSpPr>
        <p:spPr>
          <a:xfrm>
            <a:off x="9131642" y="1988039"/>
            <a:ext cx="2174341" cy="541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nl-NL" sz="24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20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8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BE" sz="16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noProof="0"/>
              <a:t>@IMI_EHDEN</a:t>
            </a:r>
          </a:p>
        </p:txBody>
      </p:sp>
      <p:pic>
        <p:nvPicPr>
          <p:cNvPr id="26" name="Afbeelding 31">
            <a:extLst>
              <a:ext uri="{FF2B5EF4-FFF2-40B4-BE49-F238E27FC236}">
                <a16:creationId xmlns:a16="http://schemas.microsoft.com/office/drawing/2014/main" id="{05349216-B594-F748-9EA6-71E1025A78F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10" y="2583101"/>
            <a:ext cx="540000" cy="540000"/>
          </a:xfrm>
          <a:prstGeom prst="rect">
            <a:avLst/>
          </a:prstGeom>
        </p:spPr>
      </p:pic>
      <p:sp>
        <p:nvSpPr>
          <p:cNvPr id="27" name="Tijdelijke aanduiding voor tekst 2">
            <a:extLst>
              <a:ext uri="{FF2B5EF4-FFF2-40B4-BE49-F238E27FC236}">
                <a16:creationId xmlns:a16="http://schemas.microsoft.com/office/drawing/2014/main" id="{088BD8D4-0720-C549-8143-2D589210E315}"/>
              </a:ext>
            </a:extLst>
          </p:cNvPr>
          <p:cNvSpPr txBox="1">
            <a:spLocks/>
          </p:cNvSpPr>
          <p:nvPr userDrawn="1"/>
        </p:nvSpPr>
        <p:spPr>
          <a:xfrm>
            <a:off x="9131642" y="2582186"/>
            <a:ext cx="2174341" cy="541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nl-NL" sz="24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20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8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BE" sz="16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noProof="0"/>
              <a:t>IMI_EHDEN</a:t>
            </a:r>
          </a:p>
        </p:txBody>
      </p:sp>
      <p:sp>
        <p:nvSpPr>
          <p:cNvPr id="28" name="Tijdelijke aanduiding voor tekst 2">
            <a:extLst>
              <a:ext uri="{FF2B5EF4-FFF2-40B4-BE49-F238E27FC236}">
                <a16:creationId xmlns:a16="http://schemas.microsoft.com/office/drawing/2014/main" id="{791067B1-2101-3B4D-A626-C44696989C87}"/>
              </a:ext>
            </a:extLst>
          </p:cNvPr>
          <p:cNvSpPr txBox="1">
            <a:spLocks/>
          </p:cNvSpPr>
          <p:nvPr userDrawn="1"/>
        </p:nvSpPr>
        <p:spPr>
          <a:xfrm>
            <a:off x="9131642" y="1391159"/>
            <a:ext cx="2174341" cy="541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nl-NL" sz="24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20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8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BE" sz="16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noProof="0"/>
              <a:t>www.ehden.eu</a:t>
            </a:r>
          </a:p>
        </p:txBody>
      </p:sp>
      <p:pic>
        <p:nvPicPr>
          <p:cNvPr id="29" name="Afbeelding 34">
            <a:extLst>
              <a:ext uri="{FF2B5EF4-FFF2-40B4-BE49-F238E27FC236}">
                <a16:creationId xmlns:a16="http://schemas.microsoft.com/office/drawing/2014/main" id="{B2F99D0D-BAEA-6442-BFD0-DC950078D48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10" y="1393254"/>
            <a:ext cx="540000" cy="540000"/>
          </a:xfrm>
          <a:prstGeom prst="rect">
            <a:avLst/>
          </a:prstGeom>
        </p:spPr>
      </p:pic>
      <p:sp>
        <p:nvSpPr>
          <p:cNvPr id="30" name="Tijdelijke aanduiding voor tekst 2">
            <a:extLst>
              <a:ext uri="{FF2B5EF4-FFF2-40B4-BE49-F238E27FC236}">
                <a16:creationId xmlns:a16="http://schemas.microsoft.com/office/drawing/2014/main" id="{6D887A2C-A111-5E43-AB40-469F95D9F5BA}"/>
              </a:ext>
            </a:extLst>
          </p:cNvPr>
          <p:cNvSpPr txBox="1">
            <a:spLocks/>
          </p:cNvSpPr>
          <p:nvPr userDrawn="1"/>
        </p:nvSpPr>
        <p:spPr>
          <a:xfrm>
            <a:off x="9131642" y="3175697"/>
            <a:ext cx="2630736" cy="541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nl-NL" sz="24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20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8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BE" sz="16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noProof="0"/>
              <a:t>github.com/EHDEN</a:t>
            </a:r>
          </a:p>
        </p:txBody>
      </p:sp>
      <p:pic>
        <p:nvPicPr>
          <p:cNvPr id="31" name="Afbeelding 36">
            <a:extLst>
              <a:ext uri="{FF2B5EF4-FFF2-40B4-BE49-F238E27FC236}">
                <a16:creationId xmlns:a16="http://schemas.microsoft.com/office/drawing/2014/main" id="{F5FAD01C-12ED-714E-A0C7-68BB7975A01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10" y="3179769"/>
            <a:ext cx="540000" cy="540000"/>
          </a:xfrm>
          <a:prstGeom prst="rect">
            <a:avLst/>
          </a:prstGeom>
        </p:spPr>
      </p:pic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201A97E-4FB9-BD4B-830A-BA4D563B64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7998" y="1058592"/>
            <a:ext cx="7116034" cy="5217033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CA41D05D-CD1C-497E-A422-08BE6F47341B}"/>
              </a:ext>
            </a:extLst>
          </p:cNvPr>
          <p:cNvSpPr txBox="1"/>
          <p:nvPr userDrawn="1"/>
        </p:nvSpPr>
        <p:spPr>
          <a:xfrm>
            <a:off x="11660905" y="6535545"/>
            <a:ext cx="490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0D62B9C-1313-6240-B3A9-12C8D3C5854C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34" name="Rechthoek 9">
            <a:extLst>
              <a:ext uri="{FF2B5EF4-FFF2-40B4-BE49-F238E27FC236}">
                <a16:creationId xmlns:a16="http://schemas.microsoft.com/office/drawing/2014/main" id="{2ACEB45D-7D46-4ED1-BE80-2D60EF937AE3}"/>
              </a:ext>
            </a:extLst>
          </p:cNvPr>
          <p:cNvSpPr/>
          <p:nvPr userDrawn="1"/>
        </p:nvSpPr>
        <p:spPr>
          <a:xfrm>
            <a:off x="0" y="1"/>
            <a:ext cx="12191999" cy="65913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2400"/>
          </a:p>
        </p:txBody>
      </p:sp>
      <p:sp>
        <p:nvSpPr>
          <p:cNvPr id="35" name="Ovaal 34">
            <a:extLst>
              <a:ext uri="{FF2B5EF4-FFF2-40B4-BE49-F238E27FC236}">
                <a16:creationId xmlns:a16="http://schemas.microsoft.com/office/drawing/2014/main" id="{5CF90DFD-B285-47A9-8BAA-DBA7FE43CBD7}"/>
              </a:ext>
            </a:extLst>
          </p:cNvPr>
          <p:cNvSpPr/>
          <p:nvPr userDrawn="1"/>
        </p:nvSpPr>
        <p:spPr>
          <a:xfrm>
            <a:off x="98369" y="76954"/>
            <a:ext cx="509144" cy="5067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itel 1">
            <a:extLst>
              <a:ext uri="{FF2B5EF4-FFF2-40B4-BE49-F238E27FC236}">
                <a16:creationId xmlns:a16="http://schemas.microsoft.com/office/drawing/2014/main" id="{DCEC323E-7E28-4D2C-8D57-55609F2E1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048" y="0"/>
            <a:ext cx="11408952" cy="659130"/>
          </a:xfrm>
          <a:prstGeom prst="rect">
            <a:avLst/>
          </a:prstGeom>
        </p:spPr>
        <p:txBody>
          <a:bodyPr anchor="ctr"/>
          <a:lstStyle>
            <a:lvl1pPr>
              <a:defRPr sz="3600" b="1" cap="small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FF703BF6-08CF-4894-996E-1BFD789C1B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773" t="-304" r="191" b="-1528"/>
          <a:stretch/>
        </p:blipFill>
        <p:spPr>
          <a:xfrm>
            <a:off x="81986" y="76954"/>
            <a:ext cx="619076" cy="63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260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v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1E5F33C6-ABBE-4553-8B31-7AB29F86BD94}"/>
              </a:ext>
            </a:extLst>
          </p:cNvPr>
          <p:cNvSpPr/>
          <p:nvPr userDrawn="1"/>
        </p:nvSpPr>
        <p:spPr>
          <a:xfrm>
            <a:off x="0" y="0"/>
            <a:ext cx="12192000" cy="632389"/>
          </a:xfrm>
          <a:prstGeom prst="rect">
            <a:avLst/>
          </a:prstGeom>
          <a:solidFill>
            <a:srgbClr val="383C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24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F93ABB5-02CD-45B8-89E2-A2025D5F9C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859" b="12399"/>
          <a:stretch/>
        </p:blipFill>
        <p:spPr>
          <a:xfrm>
            <a:off x="11177143" y="5866647"/>
            <a:ext cx="1006474" cy="991354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B40700EE-D8A4-4085-9217-8DC0CE42E62D}"/>
              </a:ext>
            </a:extLst>
          </p:cNvPr>
          <p:cNvSpPr/>
          <p:nvPr userDrawn="1"/>
        </p:nvSpPr>
        <p:spPr>
          <a:xfrm>
            <a:off x="11177143" y="5866646"/>
            <a:ext cx="1006474" cy="99135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grpSp>
        <p:nvGrpSpPr>
          <p:cNvPr id="12" name="Groep 11">
            <a:extLst>
              <a:ext uri="{FF2B5EF4-FFF2-40B4-BE49-F238E27FC236}">
                <a16:creationId xmlns:a16="http://schemas.microsoft.com/office/drawing/2014/main" id="{A99A2495-8F68-4AB9-B9E9-37261505F1BF}"/>
              </a:ext>
            </a:extLst>
          </p:cNvPr>
          <p:cNvGrpSpPr/>
          <p:nvPr userDrawn="1"/>
        </p:nvGrpSpPr>
        <p:grpSpPr>
          <a:xfrm>
            <a:off x="103340" y="6545611"/>
            <a:ext cx="1182425" cy="235435"/>
            <a:chOff x="8426207" y="1234430"/>
            <a:chExt cx="2323293" cy="462595"/>
          </a:xfrm>
        </p:grpSpPr>
        <p:pic>
          <p:nvPicPr>
            <p:cNvPr id="13" name="Afbeelding 12">
              <a:extLst>
                <a:ext uri="{FF2B5EF4-FFF2-40B4-BE49-F238E27FC236}">
                  <a16:creationId xmlns:a16="http://schemas.microsoft.com/office/drawing/2014/main" id="{F7512792-8657-4D9D-88DF-C8CF862CD8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371"/>
            <a:stretch/>
          </p:blipFill>
          <p:spPr>
            <a:xfrm>
              <a:off x="8426207" y="1337023"/>
              <a:ext cx="601328" cy="360000"/>
            </a:xfrm>
            <a:prstGeom prst="rect">
              <a:avLst/>
            </a:prstGeom>
          </p:spPr>
        </p:pic>
        <p:pic>
          <p:nvPicPr>
            <p:cNvPr id="14" name="Afbeelding 13">
              <a:extLst>
                <a:ext uri="{FF2B5EF4-FFF2-40B4-BE49-F238E27FC236}">
                  <a16:creationId xmlns:a16="http://schemas.microsoft.com/office/drawing/2014/main" id="{38CE231D-97B7-46D6-A9FF-EFCD0886F7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7054"/>
            <a:stretch/>
          </p:blipFill>
          <p:spPr>
            <a:xfrm>
              <a:off x="9131896" y="1234430"/>
              <a:ext cx="895535" cy="462595"/>
            </a:xfrm>
            <a:prstGeom prst="rect">
              <a:avLst/>
            </a:prstGeom>
          </p:spPr>
        </p:pic>
        <p:pic>
          <p:nvPicPr>
            <p:cNvPr id="15" name="Afbeelding 14">
              <a:extLst>
                <a:ext uri="{FF2B5EF4-FFF2-40B4-BE49-F238E27FC236}">
                  <a16:creationId xmlns:a16="http://schemas.microsoft.com/office/drawing/2014/main" id="{BEC5797E-6C70-414D-91BE-B0EDF4E56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8362" y="1337023"/>
              <a:ext cx="611138" cy="360000"/>
            </a:xfrm>
            <a:prstGeom prst="rect">
              <a:avLst/>
            </a:prstGeom>
          </p:spPr>
        </p:pic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87BD0D8-3CA7-4C8D-8A26-1752BFB06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70" y="42451"/>
            <a:ext cx="11901595" cy="466510"/>
          </a:xfrm>
          <a:prstGeom prst="rect">
            <a:avLst/>
          </a:prstGeom>
        </p:spPr>
        <p:txBody>
          <a:bodyPr/>
          <a:lstStyle>
            <a:lvl1pPr>
              <a:defRPr sz="3600" b="1" cap="small" baseline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your</a:t>
            </a:r>
            <a:r>
              <a:rPr lang="nl-NL"/>
              <a:t> </a:t>
            </a:r>
            <a:r>
              <a:rPr lang="nl-NL" err="1"/>
              <a:t>title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30A8BB4-B96E-4E7B-83D7-48C0CA6F10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233" y="1115410"/>
            <a:ext cx="10927533" cy="4997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nl-NL" dirty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lang="nl-NL" dirty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lang="nl-NL" dirty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lang="nl-NL" dirty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lang="nl-BE" dirty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marL="360000" lvl="0">
              <a:buClr>
                <a:srgbClr val="40387C"/>
              </a:buClr>
              <a:buSzPct val="80000"/>
              <a:buFont typeface="Century Gothic" panose="020B0502020202020204" pitchFamily="34" charset="0"/>
              <a:buChar char="■"/>
            </a:pPr>
            <a:r>
              <a:rPr lang="nl-NL"/>
              <a:t>Tekststijl van het model bewerken</a:t>
            </a:r>
          </a:p>
          <a:p>
            <a:pPr marL="720000" lvl="1">
              <a:buClr>
                <a:srgbClr val="EEA41F"/>
              </a:buClr>
              <a:buSzPct val="80000"/>
              <a:buFont typeface="Century Gothic" panose="020B0502020202020204" pitchFamily="34" charset="0"/>
              <a:buChar char="■"/>
            </a:pPr>
            <a:r>
              <a:rPr lang="nl-NL"/>
              <a:t>Tweede niveau</a:t>
            </a:r>
          </a:p>
          <a:p>
            <a:pPr marL="1080000" lvl="2">
              <a:buClr>
                <a:srgbClr val="92327C"/>
              </a:buClr>
              <a:buSzPct val="80000"/>
              <a:buFont typeface="Century Gothic" panose="020B0502020202020204" pitchFamily="34" charset="0"/>
              <a:buChar char="■"/>
            </a:pPr>
            <a:r>
              <a:rPr lang="nl-NL"/>
              <a:t>Derde niveau</a:t>
            </a:r>
          </a:p>
          <a:p>
            <a:pPr marL="1440000" lvl="3">
              <a:buClr>
                <a:srgbClr val="56B1CA"/>
              </a:buClr>
              <a:buSzPct val="80000"/>
              <a:buFont typeface="Century Gothic" panose="020B0502020202020204" pitchFamily="34" charset="0"/>
              <a:buChar char="■"/>
            </a:pPr>
            <a:r>
              <a:rPr lang="nl-NL"/>
              <a:t>Vierde niveau</a:t>
            </a:r>
          </a:p>
          <a:p>
            <a:pPr marL="1800000" lvl="4">
              <a:buClr>
                <a:srgbClr val="E91D25"/>
              </a:buClr>
              <a:buSzPct val="80000"/>
              <a:buFont typeface="Century Gothic" panose="020B0502020202020204" pitchFamily="34" charset="0"/>
              <a:buChar char="■"/>
            </a:pPr>
            <a:r>
              <a:rPr lang="nl-NL"/>
              <a:t>Vijfde niveau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384718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, RIGHT 2/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1"/>
          <p:cNvSpPr>
            <a:spLocks noGrp="1"/>
          </p:cNvSpPr>
          <p:nvPr>
            <p:ph sz="quarter" idx="26" hasCustomPrompt="1"/>
          </p:nvPr>
        </p:nvSpPr>
        <p:spPr>
          <a:xfrm>
            <a:off x="4338918" y="1684692"/>
            <a:ext cx="7247715" cy="4197897"/>
          </a:xfrm>
        </p:spPr>
        <p:txBody>
          <a:bodyPr/>
          <a:lstStyle>
            <a:lvl1pPr marL="234147" marR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500">
                <a:solidFill>
                  <a:schemeClr val="tx1"/>
                </a:solidFill>
              </a:defRPr>
            </a:lvl1pPr>
            <a:lvl2pPr marL="534437" marR="0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731491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097236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487905" marR="0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34147" marR="0" lvl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333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534437" marR="0" lvl="1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731491" marR="0" lvl="2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097236" marR="0" lvl="3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487905" marR="0" lvl="4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01928" y="1712916"/>
            <a:ext cx="3512873" cy="4169673"/>
          </a:xfrm>
        </p:spPr>
        <p:txBody>
          <a:bodyPr/>
          <a:lstStyle>
            <a:lvl1pPr marL="234147" marR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534437" marR="0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731491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097236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487905" marR="0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34147" marR="0" lvl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333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534437" marR="0" lvl="1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731491" marR="0" lvl="2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097236" marR="0" lvl="3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487905" marR="0" lvl="4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605367" y="378458"/>
            <a:ext cx="10981267" cy="5770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05367" y="974216"/>
            <a:ext cx="10981267" cy="359009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333" dirty="0">
                <a:solidFill>
                  <a:schemeClr val="accent3"/>
                </a:solidFill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marL="0" lvl="0" indent="0" algn="l" rtl="0" eaLnBrk="0" fontAlgn="base" hangingPunct="0">
              <a:spcBef>
                <a:spcPts val="21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1FC9022-20E5-2E43-BCD7-3B00E6A74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0709" y="6297783"/>
            <a:ext cx="379678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01928" y="6279363"/>
            <a:ext cx="8382000" cy="275167"/>
          </a:xfrm>
        </p:spPr>
        <p:txBody>
          <a:bodyPr anchor="b"/>
          <a:lstStyle>
            <a:lvl1pPr marL="0" indent="0">
              <a:spcBef>
                <a:spcPts val="167"/>
              </a:spcBef>
              <a:buNone/>
              <a:defRPr sz="7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421311914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fbeelding 13" descr="Afbeelding met foto, wit, zwart, tekst&#10;&#10;Beschrijving is gegenereerd met zeer hoge betrouwbaarheid">
            <a:extLst>
              <a:ext uri="{FF2B5EF4-FFF2-40B4-BE49-F238E27FC236}">
                <a16:creationId xmlns:a16="http://schemas.microsoft.com/office/drawing/2014/main" id="{4E8F3048-96BC-45F9-A4BB-FB28870660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6120" b="30313"/>
          <a:stretch/>
        </p:blipFill>
        <p:spPr>
          <a:xfrm>
            <a:off x="0" y="0"/>
            <a:ext cx="12183616" cy="6858000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988D9C52-D870-4582-92BF-1B415B7ACC3F}"/>
              </a:ext>
            </a:extLst>
          </p:cNvPr>
          <p:cNvSpPr/>
          <p:nvPr userDrawn="1"/>
        </p:nvSpPr>
        <p:spPr>
          <a:xfrm>
            <a:off x="242" y="-2"/>
            <a:ext cx="12192000" cy="685800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3000" b="1"/>
          </a:p>
        </p:txBody>
      </p:sp>
      <p:pic>
        <p:nvPicPr>
          <p:cNvPr id="5" name="Afbeelding 4" descr="Afbeelding met object&#10;&#10;Beschrijving is gegenereerd met hoge betrouwbaarheid">
            <a:extLst>
              <a:ext uri="{FF2B5EF4-FFF2-40B4-BE49-F238E27FC236}">
                <a16:creationId xmlns:a16="http://schemas.microsoft.com/office/drawing/2014/main" id="{813E6A8F-15F5-4D67-9ABF-BFAD226C69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0100" y="931454"/>
            <a:ext cx="5574803" cy="1463043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FFCE0CCC-3289-40A5-961D-93C4C29B9ABF}"/>
              </a:ext>
            </a:extLst>
          </p:cNvPr>
          <p:cNvGrpSpPr/>
          <p:nvPr userDrawn="1"/>
        </p:nvGrpSpPr>
        <p:grpSpPr>
          <a:xfrm>
            <a:off x="2906201" y="6172692"/>
            <a:ext cx="1782600" cy="354937"/>
            <a:chOff x="8426207" y="1234430"/>
            <a:chExt cx="2323293" cy="462595"/>
          </a:xfrm>
        </p:grpSpPr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5E8BA66C-1BA2-437C-BAD6-29FD8C75C7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8371"/>
            <a:stretch/>
          </p:blipFill>
          <p:spPr>
            <a:xfrm>
              <a:off x="8426207" y="1337023"/>
              <a:ext cx="601328" cy="360000"/>
            </a:xfrm>
            <a:prstGeom prst="rect">
              <a:avLst/>
            </a:prstGeom>
          </p:spPr>
        </p:pic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5889B687-EE5C-4325-8094-3157FAADD2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57054"/>
            <a:stretch/>
          </p:blipFill>
          <p:spPr>
            <a:xfrm>
              <a:off x="9131896" y="1234430"/>
              <a:ext cx="895535" cy="462595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EC3F2682-22A2-4631-8680-10AB5176A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38362" y="1337023"/>
              <a:ext cx="611138" cy="360000"/>
            </a:xfrm>
            <a:prstGeom prst="rect">
              <a:avLst/>
            </a:prstGeom>
          </p:spPr>
        </p:pic>
      </p:grp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18B9E465-19E2-4FA6-B7F9-FE3BE27A11D0}"/>
              </a:ext>
            </a:extLst>
          </p:cNvPr>
          <p:cNvCxnSpPr>
            <a:cxnSpLocks/>
          </p:cNvCxnSpPr>
          <p:nvPr userDrawn="1"/>
        </p:nvCxnSpPr>
        <p:spPr>
          <a:xfrm>
            <a:off x="1556769" y="4164594"/>
            <a:ext cx="448146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C9A31869-8CA8-4D79-8796-16CE8826B3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176" y="3463504"/>
            <a:ext cx="7052650" cy="565568"/>
          </a:xfrm>
          <a:prstGeom prst="rect">
            <a:avLst/>
          </a:prstGeom>
        </p:spPr>
        <p:txBody>
          <a:bodyPr>
            <a:normAutofit/>
          </a:bodyPr>
          <a:lstStyle>
            <a:lvl1pPr marL="131395" indent="0" algn="ctr">
              <a:buNone/>
              <a:defRPr lang="en-GB" sz="2800" b="1" kern="1200" dirty="0">
                <a:solidFill>
                  <a:srgbClr val="EA9E00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nl-NL"/>
              <a:t>“</a:t>
            </a:r>
            <a:r>
              <a:rPr lang="nl-NL" err="1"/>
              <a:t>Your</a:t>
            </a:r>
            <a:r>
              <a:rPr lang="nl-NL"/>
              <a:t>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goes</a:t>
            </a:r>
            <a:r>
              <a:rPr lang="nl-NL"/>
              <a:t> here”</a:t>
            </a:r>
            <a:endParaRPr lang="en-GB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E6005B2-411D-4DB4-AC85-B5A5AF11E8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1178" y="4308908"/>
            <a:ext cx="7052649" cy="357427"/>
          </a:xfrm>
          <a:prstGeom prst="rect">
            <a:avLst/>
          </a:prstGeom>
        </p:spPr>
        <p:txBody>
          <a:bodyPr/>
          <a:lstStyle>
            <a:lvl1pPr marL="131395" indent="0" algn="ctr">
              <a:buNone/>
              <a:defRPr sz="2000" b="1"/>
            </a:lvl1pPr>
          </a:lstStyle>
          <a:p>
            <a:pPr lvl="0"/>
            <a:r>
              <a:rPr lang="nl-NL"/>
              <a:t>Author Name</a:t>
            </a:r>
            <a:endParaRPr lang="en-GB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D8881F42-455B-4933-A258-FB965091DB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1178" y="4779862"/>
            <a:ext cx="7052649" cy="930831"/>
          </a:xfrm>
          <a:prstGeom prst="rect">
            <a:avLst/>
          </a:prstGeom>
        </p:spPr>
        <p:txBody>
          <a:bodyPr/>
          <a:lstStyle>
            <a:lvl1pPr marL="131395" indent="0" algn="ctr">
              <a:spcBef>
                <a:spcPts val="0"/>
              </a:spcBef>
              <a:buNone/>
              <a:defRPr sz="1600" b="1">
                <a:solidFill>
                  <a:srgbClr val="A6A6A6"/>
                </a:solidFill>
              </a:defRPr>
            </a:lvl1pPr>
          </a:lstStyle>
          <a:p>
            <a:pPr lvl="0"/>
            <a:r>
              <a:rPr lang="nl-NL"/>
              <a:t>Author </a:t>
            </a:r>
            <a:r>
              <a:rPr lang="nl-NL" err="1"/>
              <a:t>affiliations</a:t>
            </a:r>
            <a:endParaRPr lang="nl-NL"/>
          </a:p>
          <a:p>
            <a:pPr lvl="0"/>
            <a:r>
              <a:rPr lang="nl-NL"/>
              <a:t>EHDEN </a:t>
            </a:r>
            <a:r>
              <a:rPr lang="nl-NL" err="1"/>
              <a:t>role</a:t>
            </a:r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6182C29-7571-4E93-9EB1-0E07877783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3028" r="50000" b="19912"/>
          <a:stretch/>
        </p:blipFill>
        <p:spPr>
          <a:xfrm>
            <a:off x="7897010" y="-1"/>
            <a:ext cx="429499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372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H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11" descr="Afbeelding met foto, wit, zwart, tekst&#10;&#10;Beschrijving is gegenereerd met zeer hoge betrouwbaarheid">
            <a:extLst>
              <a:ext uri="{FF2B5EF4-FFF2-40B4-BE49-F238E27FC236}">
                <a16:creationId xmlns:a16="http://schemas.microsoft.com/office/drawing/2014/main" id="{AC350DF9-73E7-4D13-B51F-37167DA3EA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6120" b="59761"/>
          <a:stretch/>
        </p:blipFill>
        <p:spPr>
          <a:xfrm>
            <a:off x="0" y="0"/>
            <a:ext cx="12183616" cy="3959990"/>
          </a:xfrm>
          <a:prstGeom prst="rect">
            <a:avLst/>
          </a:prstGeom>
        </p:spPr>
      </p:pic>
      <p:sp>
        <p:nvSpPr>
          <p:cNvPr id="13" name="Rechthoek 12">
            <a:extLst>
              <a:ext uri="{FF2B5EF4-FFF2-40B4-BE49-F238E27FC236}">
                <a16:creationId xmlns:a16="http://schemas.microsoft.com/office/drawing/2014/main" id="{A469C402-DB51-4908-B11C-BA417CD1D24C}"/>
              </a:ext>
            </a:extLst>
          </p:cNvPr>
          <p:cNvSpPr/>
          <p:nvPr userDrawn="1"/>
        </p:nvSpPr>
        <p:spPr>
          <a:xfrm>
            <a:off x="0" y="0"/>
            <a:ext cx="12192000" cy="3959990"/>
          </a:xfrm>
          <a:prstGeom prst="rect">
            <a:avLst/>
          </a:prstGeom>
          <a:solidFill>
            <a:srgbClr val="383C4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3000"/>
          </a:p>
        </p:txBody>
      </p: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0621B359-DC87-44F4-A121-333C532A318F}"/>
              </a:ext>
            </a:extLst>
          </p:cNvPr>
          <p:cNvCxnSpPr/>
          <p:nvPr userDrawn="1"/>
        </p:nvCxnSpPr>
        <p:spPr>
          <a:xfrm>
            <a:off x="3797060" y="2257864"/>
            <a:ext cx="459788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D3CAC956-14DB-46B2-874D-EF10753B7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" y="1199071"/>
            <a:ext cx="12183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nl-NL" sz="4000" b="1" smtClean="0">
                <a:solidFill>
                  <a:srgbClr val="EEA41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28591" indent="0">
              <a:buNone/>
              <a:defRPr lang="nl-NL" sz="1800" smtClean="0"/>
            </a:lvl2pPr>
            <a:lvl3pPr>
              <a:defRPr lang="nl-NL" sz="1800" smtClean="0"/>
            </a:lvl3pPr>
            <a:lvl4pPr>
              <a:defRPr lang="nl-NL" smtClean="0"/>
            </a:lvl4pPr>
            <a:lvl5pPr>
              <a:defRPr lang="nl-BE"/>
            </a:lvl5pPr>
          </a:lstStyle>
          <a:p>
            <a:pPr marL="0" lvl="0" algn="ctr"/>
            <a:r>
              <a:rPr lang="nl-NL" err="1"/>
              <a:t>Chapter</a:t>
            </a:r>
            <a:r>
              <a:rPr lang="nl-NL"/>
              <a:t> </a:t>
            </a:r>
            <a:r>
              <a:rPr lang="nl-NL" err="1"/>
              <a:t>Title</a:t>
            </a:r>
            <a:endParaRPr lang="nl-NL"/>
          </a:p>
        </p:txBody>
      </p:sp>
      <p:sp>
        <p:nvSpPr>
          <p:cNvPr id="18" name="Tijdelijke aanduiding voor tekst 16">
            <a:extLst>
              <a:ext uri="{FF2B5EF4-FFF2-40B4-BE49-F238E27FC236}">
                <a16:creationId xmlns:a16="http://schemas.microsoft.com/office/drawing/2014/main" id="{D1BFDC4A-9578-43E7-BD3D-E367470BD0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446" y="2730491"/>
            <a:ext cx="12184063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nl-NL" sz="2800" dirty="0" smtClean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algn="ctr"/>
            <a:r>
              <a:rPr lang="nl-NL" err="1"/>
              <a:t>Subtitle</a:t>
            </a:r>
            <a:endParaRPr lang="nl-NL"/>
          </a:p>
        </p:txBody>
      </p:sp>
      <p:grpSp>
        <p:nvGrpSpPr>
          <p:cNvPr id="19" name="Groep 18">
            <a:extLst>
              <a:ext uri="{FF2B5EF4-FFF2-40B4-BE49-F238E27FC236}">
                <a16:creationId xmlns:a16="http://schemas.microsoft.com/office/drawing/2014/main" id="{BCD5B80D-B0C8-4E8E-8272-348C41DC4FD5}"/>
              </a:ext>
            </a:extLst>
          </p:cNvPr>
          <p:cNvGrpSpPr/>
          <p:nvPr userDrawn="1"/>
        </p:nvGrpSpPr>
        <p:grpSpPr>
          <a:xfrm>
            <a:off x="10940811" y="6569424"/>
            <a:ext cx="1182425" cy="235435"/>
            <a:chOff x="8426207" y="1234430"/>
            <a:chExt cx="2323293" cy="462595"/>
          </a:xfrm>
        </p:grpSpPr>
        <p:pic>
          <p:nvPicPr>
            <p:cNvPr id="20" name="Afbeelding 19">
              <a:extLst>
                <a:ext uri="{FF2B5EF4-FFF2-40B4-BE49-F238E27FC236}">
                  <a16:creationId xmlns:a16="http://schemas.microsoft.com/office/drawing/2014/main" id="{DA291B46-84B6-445D-8FBA-76106F425C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8371"/>
            <a:stretch/>
          </p:blipFill>
          <p:spPr>
            <a:xfrm>
              <a:off x="8426207" y="1337023"/>
              <a:ext cx="601328" cy="360000"/>
            </a:xfrm>
            <a:prstGeom prst="rect">
              <a:avLst/>
            </a:prstGeom>
          </p:spPr>
        </p:pic>
        <p:pic>
          <p:nvPicPr>
            <p:cNvPr id="21" name="Afbeelding 20">
              <a:extLst>
                <a:ext uri="{FF2B5EF4-FFF2-40B4-BE49-F238E27FC236}">
                  <a16:creationId xmlns:a16="http://schemas.microsoft.com/office/drawing/2014/main" id="{A88E870C-BC39-4246-AAAB-EAF3E64A18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57054"/>
            <a:stretch/>
          </p:blipFill>
          <p:spPr>
            <a:xfrm>
              <a:off x="9131896" y="1234430"/>
              <a:ext cx="895535" cy="462595"/>
            </a:xfrm>
            <a:prstGeom prst="rect">
              <a:avLst/>
            </a:prstGeom>
          </p:spPr>
        </p:pic>
        <p:pic>
          <p:nvPicPr>
            <p:cNvPr id="22" name="Afbeelding 21">
              <a:extLst>
                <a:ext uri="{FF2B5EF4-FFF2-40B4-BE49-F238E27FC236}">
                  <a16:creationId xmlns:a16="http://schemas.microsoft.com/office/drawing/2014/main" id="{D3BAAADB-8F96-43EF-95C8-18FF69CE1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38362" y="1337023"/>
              <a:ext cx="611138" cy="360000"/>
            </a:xfrm>
            <a:prstGeom prst="rect">
              <a:avLst/>
            </a:prstGeom>
          </p:spPr>
        </p:pic>
      </p:grpSp>
      <p:sp>
        <p:nvSpPr>
          <p:cNvPr id="23" name="Tijdelijke aanduiding voor tekst 2">
            <a:extLst>
              <a:ext uri="{FF2B5EF4-FFF2-40B4-BE49-F238E27FC236}">
                <a16:creationId xmlns:a16="http://schemas.microsoft.com/office/drawing/2014/main" id="{91DE3D32-AD80-422E-865E-FF05A0F2A4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3679" y="4398111"/>
            <a:ext cx="7135812" cy="2045824"/>
          </a:xfrm>
          <a:prstGeom prst="rect">
            <a:avLst/>
          </a:prstGeom>
        </p:spPr>
        <p:txBody>
          <a:bodyPr>
            <a:normAutofit/>
          </a:bodyPr>
          <a:lstStyle>
            <a:lvl1pPr marL="131395" indent="0" algn="ctr">
              <a:buNone/>
              <a:defRPr sz="2000" b="0">
                <a:solidFill>
                  <a:srgbClr val="56B1C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/>
              <a:t>Topic 1</a:t>
            </a:r>
          </a:p>
          <a:p>
            <a:pPr lvl="0"/>
            <a:r>
              <a:rPr lang="nl-BE"/>
              <a:t>Topic 2</a:t>
            </a:r>
          </a:p>
          <a:p>
            <a:pPr lvl="0"/>
            <a:r>
              <a:rPr lang="nl-BE"/>
              <a:t>Topic 3</a:t>
            </a:r>
          </a:p>
          <a:p>
            <a:pPr lvl="0"/>
            <a:r>
              <a:rPr lang="nl-B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447733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V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11" descr="Afbeelding met foto, wit, zwart, tekst&#10;&#10;Beschrijving is gegenereerd met zeer hoge betrouwbaarheid">
            <a:extLst>
              <a:ext uri="{FF2B5EF4-FFF2-40B4-BE49-F238E27FC236}">
                <a16:creationId xmlns:a16="http://schemas.microsoft.com/office/drawing/2014/main" id="{AC350DF9-73E7-4D13-B51F-37167DA3EA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r="78343" b="30313"/>
          <a:stretch/>
        </p:blipFill>
        <p:spPr>
          <a:xfrm>
            <a:off x="0" y="-1"/>
            <a:ext cx="3571336" cy="6857941"/>
          </a:xfrm>
          <a:prstGeom prst="rect">
            <a:avLst/>
          </a:prstGeom>
        </p:spPr>
      </p:pic>
      <p:grpSp>
        <p:nvGrpSpPr>
          <p:cNvPr id="4" name="Groep 3">
            <a:extLst>
              <a:ext uri="{FF2B5EF4-FFF2-40B4-BE49-F238E27FC236}">
                <a16:creationId xmlns:a16="http://schemas.microsoft.com/office/drawing/2014/main" id="{FACECBB4-C8F1-429D-9F4B-AD3CB13BD2C2}"/>
              </a:ext>
            </a:extLst>
          </p:cNvPr>
          <p:cNvGrpSpPr/>
          <p:nvPr userDrawn="1"/>
        </p:nvGrpSpPr>
        <p:grpSpPr>
          <a:xfrm>
            <a:off x="10940811" y="6569424"/>
            <a:ext cx="1182425" cy="235435"/>
            <a:chOff x="8426207" y="1234430"/>
            <a:chExt cx="2323293" cy="462595"/>
          </a:xfrm>
        </p:grpSpPr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CFFC6803-4372-44AA-AB41-ABE4430F93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8371"/>
            <a:stretch/>
          </p:blipFill>
          <p:spPr>
            <a:xfrm>
              <a:off x="8426207" y="1337023"/>
              <a:ext cx="601328" cy="360000"/>
            </a:xfrm>
            <a:prstGeom prst="rect">
              <a:avLst/>
            </a:prstGeom>
          </p:spPr>
        </p:pic>
        <p:pic>
          <p:nvPicPr>
            <p:cNvPr id="6" name="Afbeelding 5">
              <a:extLst>
                <a:ext uri="{FF2B5EF4-FFF2-40B4-BE49-F238E27FC236}">
                  <a16:creationId xmlns:a16="http://schemas.microsoft.com/office/drawing/2014/main" id="{365A08A6-0B74-4E29-8AE2-3FE7E15245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57054"/>
            <a:stretch/>
          </p:blipFill>
          <p:spPr>
            <a:xfrm>
              <a:off x="9131896" y="1234430"/>
              <a:ext cx="895535" cy="462595"/>
            </a:xfrm>
            <a:prstGeom prst="rect">
              <a:avLst/>
            </a:prstGeom>
          </p:spPr>
        </p:pic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B917837F-E126-4FEE-AA00-F50006915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38362" y="1337023"/>
              <a:ext cx="611138" cy="360000"/>
            </a:xfrm>
            <a:prstGeom prst="rect">
              <a:avLst/>
            </a:prstGeom>
          </p:spPr>
        </p:pic>
      </p:grpSp>
      <p:sp>
        <p:nvSpPr>
          <p:cNvPr id="11" name="Rechthoek 10">
            <a:extLst>
              <a:ext uri="{FF2B5EF4-FFF2-40B4-BE49-F238E27FC236}">
                <a16:creationId xmlns:a16="http://schemas.microsoft.com/office/drawing/2014/main" id="{7B3FC55E-9D0E-4CA3-B147-8AE81CD09F5E}"/>
              </a:ext>
            </a:extLst>
          </p:cNvPr>
          <p:cNvSpPr/>
          <p:nvPr userDrawn="1"/>
        </p:nvSpPr>
        <p:spPr>
          <a:xfrm>
            <a:off x="0" y="-1"/>
            <a:ext cx="3571336" cy="6858001"/>
          </a:xfrm>
          <a:prstGeom prst="rect">
            <a:avLst/>
          </a:prstGeom>
          <a:solidFill>
            <a:srgbClr val="383C4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3000"/>
          </a:p>
        </p:txBody>
      </p:sp>
      <p:sp>
        <p:nvSpPr>
          <p:cNvPr id="15" name="Titel 3">
            <a:extLst>
              <a:ext uri="{FF2B5EF4-FFF2-40B4-BE49-F238E27FC236}">
                <a16:creationId xmlns:a16="http://schemas.microsoft.com/office/drawing/2014/main" id="{99EBEBB3-5D37-494E-BB8B-4D56E5E97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3928" y="1322655"/>
            <a:ext cx="7135483" cy="132556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rgbClr val="EEA41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err="1"/>
              <a:t>Chapter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E6A9880-966A-40B7-81F2-C7E8FAD3E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3238" y="3122763"/>
            <a:ext cx="7135812" cy="2412851"/>
          </a:xfrm>
          <a:prstGeom prst="rect">
            <a:avLst/>
          </a:prstGeom>
        </p:spPr>
        <p:txBody>
          <a:bodyPr>
            <a:normAutofit/>
          </a:bodyPr>
          <a:lstStyle>
            <a:lvl1pPr marL="131395" indent="0" algn="ctr">
              <a:buNone/>
              <a:defRPr sz="2000" b="0">
                <a:solidFill>
                  <a:srgbClr val="56B1C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/>
              <a:t>Topic 1</a:t>
            </a:r>
          </a:p>
          <a:p>
            <a:pPr lvl="0"/>
            <a:r>
              <a:rPr lang="nl-BE"/>
              <a:t>Topic 2</a:t>
            </a:r>
          </a:p>
          <a:p>
            <a:pPr lvl="0"/>
            <a:r>
              <a:rPr lang="nl-BE"/>
              <a:t>Topic 3</a:t>
            </a:r>
          </a:p>
          <a:p>
            <a:pPr lvl="0"/>
            <a:r>
              <a:rPr lang="nl-BE"/>
              <a:t>…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99EC82D2-1465-49FA-880E-8C336985045D}"/>
              </a:ext>
            </a:extLst>
          </p:cNvPr>
          <p:cNvCxnSpPr/>
          <p:nvPr userDrawn="1"/>
        </p:nvCxnSpPr>
        <p:spPr>
          <a:xfrm>
            <a:off x="5750421" y="2872599"/>
            <a:ext cx="4261449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1085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Afbeelding 16" descr="Afbeelding met foto, wit, zwart, tekst&#10;&#10;Beschrijving is gegenereerd met zeer hoge betrouwbaarheid">
            <a:extLst>
              <a:ext uri="{FF2B5EF4-FFF2-40B4-BE49-F238E27FC236}">
                <a16:creationId xmlns:a16="http://schemas.microsoft.com/office/drawing/2014/main" id="{6D9DC6C7-3037-4A6D-B4D3-3907EB2290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20" t="25579" r="19034" b="67822"/>
          <a:stretch/>
        </p:blipFill>
        <p:spPr>
          <a:xfrm>
            <a:off x="-1" y="-2660"/>
            <a:ext cx="12192001" cy="629729"/>
          </a:xfrm>
          <a:prstGeom prst="rect">
            <a:avLst/>
          </a:prstGeom>
        </p:spPr>
      </p:pic>
      <p:sp>
        <p:nvSpPr>
          <p:cNvPr id="19" name="Rechthoek 18">
            <a:extLst>
              <a:ext uri="{FF2B5EF4-FFF2-40B4-BE49-F238E27FC236}">
                <a16:creationId xmlns:a16="http://schemas.microsoft.com/office/drawing/2014/main" id="{DCCE6B29-7204-4687-8894-4A347CA83140}"/>
              </a:ext>
            </a:extLst>
          </p:cNvPr>
          <p:cNvSpPr/>
          <p:nvPr userDrawn="1"/>
        </p:nvSpPr>
        <p:spPr>
          <a:xfrm>
            <a:off x="1" y="-2661"/>
            <a:ext cx="12192001" cy="632390"/>
          </a:xfrm>
          <a:prstGeom prst="rect">
            <a:avLst/>
          </a:prstGeom>
          <a:solidFill>
            <a:srgbClr val="383C4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 sz="30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7BD0D8-3CA7-4C8D-8A26-1752BFB06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71" y="42451"/>
            <a:ext cx="11901595" cy="466510"/>
          </a:xfrm>
          <a:prstGeom prst="rect">
            <a:avLst/>
          </a:prstGeom>
        </p:spPr>
        <p:txBody>
          <a:bodyPr/>
          <a:lstStyle>
            <a:lvl1pPr>
              <a:defRPr sz="3600" b="1" cap="small" baseline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your</a:t>
            </a:r>
            <a:r>
              <a:rPr lang="nl-NL"/>
              <a:t> </a:t>
            </a:r>
            <a:r>
              <a:rPr lang="nl-NL" err="1"/>
              <a:t>title</a:t>
            </a:r>
            <a:endParaRPr lang="nl-BE"/>
          </a:p>
        </p:txBody>
      </p:sp>
      <p:sp>
        <p:nvSpPr>
          <p:cNvPr id="16" name="Tijdelijke aanduiding voor dianummer 5">
            <a:extLst>
              <a:ext uri="{FF2B5EF4-FFF2-40B4-BE49-F238E27FC236}">
                <a16:creationId xmlns:a16="http://schemas.microsoft.com/office/drawing/2014/main" id="{AB3FB249-97A8-44D3-8324-B122B19F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9921" y="284258"/>
            <a:ext cx="757687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CC159E5-E11E-4234-B430-04E778A81C64}" type="slidenum">
              <a:rPr lang="nl-BE" smtClean="0"/>
              <a:pPr/>
              <a:t>‹#›</a:t>
            </a:fld>
            <a:endParaRPr lang="nl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F93ABB5-02CD-45B8-89E2-A2025D5F9C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859" b="12399"/>
          <a:stretch/>
        </p:blipFill>
        <p:spPr>
          <a:xfrm>
            <a:off x="11177144" y="5866647"/>
            <a:ext cx="1006474" cy="991354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B40700EE-D8A4-4085-9217-8DC0CE42E62D}"/>
              </a:ext>
            </a:extLst>
          </p:cNvPr>
          <p:cNvSpPr/>
          <p:nvPr userDrawn="1"/>
        </p:nvSpPr>
        <p:spPr>
          <a:xfrm>
            <a:off x="11177144" y="5866646"/>
            <a:ext cx="1006474" cy="99135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3000"/>
          </a:p>
        </p:txBody>
      </p:sp>
      <p:grpSp>
        <p:nvGrpSpPr>
          <p:cNvPr id="12" name="Groep 11">
            <a:extLst>
              <a:ext uri="{FF2B5EF4-FFF2-40B4-BE49-F238E27FC236}">
                <a16:creationId xmlns:a16="http://schemas.microsoft.com/office/drawing/2014/main" id="{A99A2495-8F68-4AB9-B9E9-37261505F1BF}"/>
              </a:ext>
            </a:extLst>
          </p:cNvPr>
          <p:cNvGrpSpPr/>
          <p:nvPr userDrawn="1"/>
        </p:nvGrpSpPr>
        <p:grpSpPr>
          <a:xfrm>
            <a:off x="103341" y="6545612"/>
            <a:ext cx="1182425" cy="235435"/>
            <a:chOff x="8426207" y="1234430"/>
            <a:chExt cx="2323293" cy="462595"/>
          </a:xfrm>
        </p:grpSpPr>
        <p:pic>
          <p:nvPicPr>
            <p:cNvPr id="13" name="Afbeelding 12">
              <a:extLst>
                <a:ext uri="{FF2B5EF4-FFF2-40B4-BE49-F238E27FC236}">
                  <a16:creationId xmlns:a16="http://schemas.microsoft.com/office/drawing/2014/main" id="{F7512792-8657-4D9D-88DF-C8CF862CD8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8371"/>
            <a:stretch/>
          </p:blipFill>
          <p:spPr>
            <a:xfrm>
              <a:off x="8426207" y="1337023"/>
              <a:ext cx="601328" cy="360000"/>
            </a:xfrm>
            <a:prstGeom prst="rect">
              <a:avLst/>
            </a:prstGeom>
          </p:spPr>
        </p:pic>
        <p:pic>
          <p:nvPicPr>
            <p:cNvPr id="14" name="Afbeelding 13">
              <a:extLst>
                <a:ext uri="{FF2B5EF4-FFF2-40B4-BE49-F238E27FC236}">
                  <a16:creationId xmlns:a16="http://schemas.microsoft.com/office/drawing/2014/main" id="{38CE231D-97B7-46D6-A9FF-EFCD0886F7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57054"/>
            <a:stretch/>
          </p:blipFill>
          <p:spPr>
            <a:xfrm>
              <a:off x="9131896" y="1234430"/>
              <a:ext cx="895535" cy="462595"/>
            </a:xfrm>
            <a:prstGeom prst="rect">
              <a:avLst/>
            </a:prstGeom>
          </p:spPr>
        </p:pic>
        <p:pic>
          <p:nvPicPr>
            <p:cNvPr id="15" name="Afbeelding 14">
              <a:extLst>
                <a:ext uri="{FF2B5EF4-FFF2-40B4-BE49-F238E27FC236}">
                  <a16:creationId xmlns:a16="http://schemas.microsoft.com/office/drawing/2014/main" id="{BEC5797E-6C70-414D-91BE-B0EDF4E56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38362" y="1337023"/>
              <a:ext cx="611138" cy="360000"/>
            </a:xfrm>
            <a:prstGeom prst="rect">
              <a:avLst/>
            </a:prstGeom>
          </p:spPr>
        </p:pic>
      </p:grp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30A8BB4-B96E-4E7B-83D7-48C0CA6F10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234" y="1115411"/>
            <a:ext cx="10927533" cy="4997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nl-NL" sz="2400" dirty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lang="nl-NL" sz="2000" dirty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lang="nl-NL" sz="1800" dirty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lang="nl-NL" sz="1600" dirty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lang="nl-BE" sz="1600" dirty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marL="359986" lvl="0">
              <a:buClr>
                <a:srgbClr val="40387C"/>
              </a:buClr>
              <a:buSzPct val="80000"/>
              <a:buFont typeface="Century Gothic" panose="020B0502020202020204" pitchFamily="34" charset="0"/>
              <a:buChar char="■"/>
            </a:pPr>
            <a:r>
              <a:rPr lang="nl-NL"/>
              <a:t>Tekststijl van het model bewerken</a:t>
            </a:r>
          </a:p>
          <a:p>
            <a:pPr marL="719971" lvl="1">
              <a:buClr>
                <a:srgbClr val="EEA41F"/>
              </a:buClr>
              <a:buSzPct val="80000"/>
              <a:buFont typeface="Century Gothic" panose="020B0502020202020204" pitchFamily="34" charset="0"/>
              <a:buChar char="■"/>
            </a:pPr>
            <a:r>
              <a:rPr lang="nl-NL"/>
              <a:t>Tweede niveau</a:t>
            </a:r>
          </a:p>
          <a:p>
            <a:pPr marL="1079957" lvl="2">
              <a:buClr>
                <a:srgbClr val="92327C"/>
              </a:buClr>
              <a:buSzPct val="80000"/>
              <a:buFont typeface="Century Gothic" panose="020B0502020202020204" pitchFamily="34" charset="0"/>
              <a:buChar char="■"/>
            </a:pPr>
            <a:r>
              <a:rPr lang="nl-NL"/>
              <a:t>Derde niveau</a:t>
            </a:r>
          </a:p>
          <a:p>
            <a:pPr marL="1439942" lvl="3">
              <a:buClr>
                <a:srgbClr val="56B1CA"/>
              </a:buClr>
              <a:buSzPct val="80000"/>
              <a:buFont typeface="Century Gothic" panose="020B0502020202020204" pitchFamily="34" charset="0"/>
              <a:buChar char="■"/>
            </a:pPr>
            <a:r>
              <a:rPr lang="nl-NL"/>
              <a:t>Vierde niveau</a:t>
            </a:r>
          </a:p>
          <a:p>
            <a:pPr marL="1799928" lvl="4">
              <a:buClr>
                <a:srgbClr val="E91D25"/>
              </a:buClr>
              <a:buSzPct val="80000"/>
              <a:buFont typeface="Century Gothic" panose="020B0502020202020204" pitchFamily="34" charset="0"/>
              <a:buChar char="■"/>
            </a:pPr>
            <a:r>
              <a:rPr lang="nl-NL"/>
              <a:t>Vijfde niveau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523338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5"/>
          <p:cNvSpPr>
            <a:spLocks noChangeArrowheads="1"/>
          </p:cNvSpPr>
          <p:nvPr userDrawn="1"/>
        </p:nvSpPr>
        <p:spPr bwMode="auto">
          <a:xfrm>
            <a:off x="0" y="301"/>
            <a:ext cx="12192000" cy="23856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GB" sz="2400"/>
          </a:p>
        </p:txBody>
      </p:sp>
      <p:sp>
        <p:nvSpPr>
          <p:cNvPr id="374788" name="Line 4"/>
          <p:cNvSpPr>
            <a:spLocks noChangeShapeType="1"/>
          </p:cNvSpPr>
          <p:nvPr/>
        </p:nvSpPr>
        <p:spPr bwMode="auto">
          <a:xfrm>
            <a:off x="478367" y="4584000"/>
            <a:ext cx="7198784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374791" name="Line 7"/>
          <p:cNvSpPr>
            <a:spLocks noChangeShapeType="1"/>
          </p:cNvSpPr>
          <p:nvPr/>
        </p:nvSpPr>
        <p:spPr bwMode="auto">
          <a:xfrm>
            <a:off x="0" y="2386013"/>
            <a:ext cx="12192000" cy="0"/>
          </a:xfrm>
          <a:prstGeom prst="line">
            <a:avLst/>
          </a:prstGeom>
          <a:noFill/>
          <a:ln w="317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en-GB" sz="2400"/>
          </a:p>
        </p:txBody>
      </p:sp>
      <p:sp>
        <p:nvSpPr>
          <p:cNvPr id="374800" name="Line 16"/>
          <p:cNvSpPr>
            <a:spLocks noChangeShapeType="1"/>
          </p:cNvSpPr>
          <p:nvPr/>
        </p:nvSpPr>
        <p:spPr bwMode="auto">
          <a:xfrm>
            <a:off x="0" y="6732589"/>
            <a:ext cx="12192000" cy="1587"/>
          </a:xfrm>
          <a:prstGeom prst="line">
            <a:avLst/>
          </a:prstGeom>
          <a:noFill/>
          <a:ln w="317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5" name="Rectangle 15"/>
          <p:cNvSpPr>
            <a:spLocks noChangeArrowheads="1"/>
          </p:cNvSpPr>
          <p:nvPr userDrawn="1"/>
        </p:nvSpPr>
        <p:spPr bwMode="auto">
          <a:xfrm>
            <a:off x="0" y="6734400"/>
            <a:ext cx="12192000" cy="1248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GB" sz="240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5349215"/>
            <a:ext cx="7198784" cy="288032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467"/>
            </a:lvl1pPr>
          </a:lstStyle>
          <a:p>
            <a:r>
              <a:rPr lang="en-GB" altLang="en-US" kern="0"/>
              <a:t>Event title [optional]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12B63D-6FD9-AF46-870B-CAEC5D1AA08F}"/>
              </a:ext>
            </a:extLst>
          </p:cNvPr>
          <p:cNvSpPr txBox="1"/>
          <p:nvPr userDrawn="1"/>
        </p:nvSpPr>
        <p:spPr>
          <a:xfrm>
            <a:off x="3985102" y="722990"/>
            <a:ext cx="7463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5400" b="1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Coordination</a:t>
            </a:r>
            <a:r>
              <a:rPr lang="en-NL" sz="5400">
                <a:solidFill>
                  <a:schemeClr val="bg1"/>
                </a:solidFill>
              </a:rPr>
              <a:t> </a:t>
            </a:r>
            <a:r>
              <a:rPr lang="en-NL" sz="5400" b="1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Centre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006F15E-B4FC-FD4F-B887-74CD437B10C1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8366" y="3429000"/>
            <a:ext cx="7198783" cy="936000"/>
          </a:xfrm>
        </p:spPr>
        <p:txBody>
          <a:bodyPr anchor="b"/>
          <a:lstStyle>
            <a:lvl1pPr>
              <a:lnSpc>
                <a:spcPts val="2100"/>
              </a:lnSpc>
              <a:defRPr sz="1900"/>
            </a:lvl1pPr>
          </a:lstStyle>
          <a:p>
            <a:pPr lvl="0"/>
            <a:r>
              <a:rPr lang="en-GB" altLang="en-US" noProof="0"/>
              <a:t>Click to add title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4B5EC38A-F54A-5D4F-ADE3-1F0ED7FA4100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8366" y="4816087"/>
            <a:ext cx="7198782" cy="39390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marR="0" indent="0" algn="l" defTabSz="8072438" rtl="0" eaLnBrk="1" fontAlgn="base" latinLnBrk="0" hangingPunct="1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 sz="1050"/>
            </a:lvl1pPr>
          </a:lstStyle>
          <a:p>
            <a:pPr marL="0" marR="0" lvl="0" indent="0" algn="l" defTabSz="8072438" rtl="0" eaLnBrk="1" fontAlgn="base" latinLnBrk="0" hangingPunct="1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 altLang="en-US" noProof="0"/>
              <a:t>Click to add author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79F251-64C9-C844-B908-E77AF091FD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726" y="464577"/>
            <a:ext cx="3136939" cy="144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39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0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8368" y="2159001"/>
            <a:ext cx="5491200" cy="3959225"/>
          </a:xfrm>
        </p:spPr>
        <p:txBody>
          <a:bodyPr/>
          <a:lstStyle>
            <a:lvl1pPr marL="0" marR="0" indent="0" algn="l" defTabSz="10762982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marL="0" marR="0" lvl="0" indent="0" algn="l" defTabSz="10762982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10762982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10762982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10762982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10762982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en-US"/>
              <a:t>Introduction of the DARWIN EU® Coordination Centre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E1512B7-A4D3-45D6-AC99-9D6C4D21B5B0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368657E0-A561-4170-A411-BD648CDEE8B0}" type="datetime4">
              <a:rPr lang="en-US" altLang="en-US" smtClean="0"/>
              <a:t>October 19, 2026</a:t>
            </a:fld>
            <a:endParaRPr lang="en-GB" alt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6216000" y="2159001"/>
            <a:ext cx="5491200" cy="3959225"/>
          </a:xfrm>
        </p:spPr>
        <p:txBody>
          <a:bodyPr/>
          <a:lstStyle>
            <a:lvl1pPr marL="0" marR="0" indent="0" algn="l" defTabSz="10762982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marL="0" marR="0" lvl="0" indent="0" algn="l" defTabSz="10762982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marL="0" marR="0" lvl="1" indent="0" algn="l" defTabSz="10762982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/>
              <a:t>Second level</a:t>
            </a:r>
          </a:p>
          <a:p>
            <a:pPr marL="0" marR="0" lvl="2" indent="0" algn="l" defTabSz="10762982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/>
              <a:t>Third level</a:t>
            </a:r>
          </a:p>
          <a:p>
            <a:pPr marL="0" marR="0" lvl="3" indent="0" algn="l" defTabSz="10762982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/>
              <a:t>Fourth level</a:t>
            </a:r>
          </a:p>
          <a:p>
            <a:pPr marL="0" marR="0" lvl="4" indent="0" algn="l" defTabSz="10762982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4CC3B-301A-3442-BA3E-4FC6EC4393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6757" y="57945"/>
            <a:ext cx="1143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595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altLang="en-US"/>
              <a:t>Introduction of the DARWIN EU® Coordination Centre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468437-DC6C-443C-8387-7F3DABA73C17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81FF660-18EC-48B1-9C21-41271AED578D}" type="datetime4">
              <a:rPr lang="en-US" altLang="en-US" smtClean="0"/>
              <a:t>October 19, 2026</a:t>
            </a:fld>
            <a:endParaRPr lang="en-GB" altLang="en-US"/>
          </a:p>
        </p:txBody>
      </p:sp>
      <p:sp>
        <p:nvSpPr>
          <p:cNvPr id="6" name="Line 2"/>
          <p:cNvSpPr>
            <a:spLocks noChangeShapeType="1"/>
          </p:cNvSpPr>
          <p:nvPr userDrawn="1"/>
        </p:nvSpPr>
        <p:spPr bwMode="auto">
          <a:xfrm>
            <a:off x="478367" y="3778251"/>
            <a:ext cx="8160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2661380"/>
            <a:ext cx="8160000" cy="1007531"/>
          </a:xfrm>
        </p:spPr>
        <p:txBody>
          <a:bodyPr anchor="b" anchorCtr="0"/>
          <a:lstStyle>
            <a:lvl1pPr>
              <a:lnSpc>
                <a:spcPts val="3200"/>
              </a:lnSpc>
              <a:spcAft>
                <a:spcPts val="0"/>
              </a:spcAft>
              <a:defRPr sz="2800" b="0">
                <a:solidFill>
                  <a:srgbClr val="003399"/>
                </a:solidFill>
              </a:defRPr>
            </a:lvl1pPr>
          </a:lstStyle>
          <a:p>
            <a:pPr lvl="0"/>
            <a:r>
              <a:rPr lang="en-US"/>
              <a:t>Section title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480484" y="3909054"/>
            <a:ext cx="8159749" cy="2303364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Section subtitle or brief intro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C733E6-8EF0-DA46-A45D-47180BF0F0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6757" y="57945"/>
            <a:ext cx="1143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2000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E915A8-3115-FB4D-AB00-D5972D6FD9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6757" y="57945"/>
            <a:ext cx="1143000" cy="584200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AAC4C9B-5EDF-E04C-895F-E5EF45501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8398-E57F-48A9-B422-5464D4C103DB}" type="datetime4">
              <a:rPr lang="en-US" altLang="en-US" smtClean="0"/>
              <a:t>October 19, 2026</a:t>
            </a:fld>
            <a:endParaRPr lang="en-GB" alt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2D78615-58DB-774E-96A8-AEF5504E8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332" y="6424039"/>
            <a:ext cx="8638116" cy="292100"/>
          </a:xfrm>
        </p:spPr>
        <p:txBody>
          <a:bodyPr/>
          <a:lstStyle/>
          <a:p>
            <a:r>
              <a:rPr lang="en-GB" altLang="en-US"/>
              <a:t>Introduction of the DARWIN EU® Coordination Centre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97840BC-3B6B-8D4E-ABC6-E773A96B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8437-DC6C-443C-8387-7F3DABA73C17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A67949F-326B-3D45-9AD6-F692D580B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885382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 content_title_in_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816" y="1021081"/>
            <a:ext cx="11232000" cy="3959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E915A8-3115-FB4D-AB00-D5972D6FD9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6757" y="57945"/>
            <a:ext cx="1143000" cy="584200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AAC4C9B-5EDF-E04C-895F-E5EF45501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6517D-AE58-47D8-BA32-D455A9FC3778}" type="datetime4">
              <a:rPr lang="en-US" altLang="en-US" smtClean="0"/>
              <a:t>October 19, 2026</a:t>
            </a:fld>
            <a:endParaRPr lang="en-GB" alt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2D78615-58DB-774E-96A8-AEF5504E8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332" y="6424039"/>
            <a:ext cx="8638116" cy="292100"/>
          </a:xfrm>
        </p:spPr>
        <p:txBody>
          <a:bodyPr/>
          <a:lstStyle/>
          <a:p>
            <a:r>
              <a:rPr lang="en-GB" altLang="en-US"/>
              <a:t>Introduction of the DARWIN EU® Coordination Centre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97840BC-3B6B-8D4E-ABC6-E773A96B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68437-DC6C-443C-8387-7F3DABA73C17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A67949F-326B-3D45-9AD6-F692D580B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268" y="141861"/>
            <a:ext cx="11232000" cy="9509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0081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8368" y="2159001"/>
            <a:ext cx="5491200" cy="395922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2" y="2159001"/>
            <a:ext cx="5490633" cy="395922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en-US"/>
              <a:t>Introduction of the DARWIN EU® Coordination Centre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E1512B7-A4D3-45D6-AC99-9D6C4D21B5B0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87A8B23C-AFE4-4D9C-8771-EA7A572ED215}" type="datetime4">
              <a:rPr lang="en-US" altLang="en-US" smtClean="0"/>
              <a:t>October 19, 2026</a:t>
            </a:fld>
            <a:endParaRPr lang="en-GB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F9591E-A173-C449-8B9B-825F2FF8D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6757" y="57945"/>
            <a:ext cx="1143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7552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en-US"/>
              <a:t>Introduction of the DARWIN EU® Coordination Centre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4A0FAAC-E39B-4479-B08E-E201E90F7F69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5367CBDD-590A-4647-A22B-48C6992875C9}" type="datetime4">
              <a:rPr lang="en-US" altLang="en-US" smtClean="0"/>
              <a:t>October 19, 2026</a:t>
            </a:fld>
            <a:endParaRPr lang="en-GB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7570CA-035C-5E4D-A191-274C04241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6757" y="57945"/>
            <a:ext cx="1143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462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_in_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816" y="160337"/>
            <a:ext cx="11232000" cy="9509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en-US"/>
              <a:t>Introduction of the DARWIN EU® Coordination Centre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4A0FAAC-E39B-4479-B08E-E201E90F7F69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96C65027-CF90-47AC-8649-9A664F32A5CA}" type="datetime4">
              <a:rPr lang="en-US" altLang="en-US" smtClean="0"/>
              <a:t>October 19, 2026</a:t>
            </a:fld>
            <a:endParaRPr lang="en-GB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7570CA-035C-5E4D-A191-274C04241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6757" y="57945"/>
            <a:ext cx="1143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961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672000"/>
            <a:ext cx="12192000" cy="6062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C7C25A-B884-5848-9386-2597D99ADC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6757" y="57945"/>
            <a:ext cx="1143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398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1FB793-33ED-0544-8FE9-0B2A557F78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6757" y="57945"/>
            <a:ext cx="1143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435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Tex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829734" y="6318251"/>
            <a:ext cx="7636933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Introduction of the DARWIN EU® Coordination Centre </a:t>
            </a:r>
            <a:endParaRPr lang="en-IN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09600" y="1088136"/>
            <a:ext cx="10972800" cy="499675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indent="-210312" algn="l" defTabSz="41029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  <a:lvl2pPr indent="-210312" algn="l" defTabSz="41029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2pPr>
            <a:lvl3pPr indent="-210312" algn="l" defTabSz="41029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3pPr>
            <a:lvl4pPr indent="-210312" algn="l" defTabSz="41029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4pPr>
            <a:lvl5pPr indent="-210312" algn="l" defTabSz="41029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def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5704929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E8B4C-8D45-8EC7-7768-A4AE23514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852"/>
            <a:ext cx="9878786" cy="88769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88548-5599-11E3-424F-2A3056DD2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4388"/>
            <a:ext cx="10515600" cy="4477178"/>
          </a:xfrm>
        </p:spPr>
        <p:txBody>
          <a:bodyPr/>
          <a:lstStyle>
            <a:lvl1pPr>
              <a:defRPr>
                <a:latin typeface="LM Roman 10" panose="00000500000000000000" pitchFamily="50" charset="0"/>
              </a:defRPr>
            </a:lvl1pPr>
            <a:lvl2pPr>
              <a:defRPr>
                <a:latin typeface="LM Roman 10" panose="00000500000000000000" pitchFamily="50" charset="0"/>
              </a:defRPr>
            </a:lvl2pPr>
            <a:lvl3pPr>
              <a:defRPr>
                <a:latin typeface="LM Roman 10" panose="00000500000000000000" pitchFamily="50" charset="0"/>
              </a:defRPr>
            </a:lvl3pPr>
            <a:lvl4pPr>
              <a:defRPr>
                <a:latin typeface="LM Roman 10" panose="00000500000000000000" pitchFamily="50" charset="0"/>
              </a:defRPr>
            </a:lvl4pPr>
            <a:lvl5pPr>
              <a:defRPr>
                <a:latin typeface="LM Roman 10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FF16F-C725-F779-035A-6273C8FF6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4E87-4C1B-4511-8B83-88B18C72C86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A8F6D-FC81-81A1-A259-EB8477CFC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8E36D-5D57-A2DA-F0C9-1DB429775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6E93-1846-4B17-A68F-4674358D495A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1EE97C-7425-0892-4849-746D3E221309}"/>
              </a:ext>
            </a:extLst>
          </p:cNvPr>
          <p:cNvCxnSpPr>
            <a:cxnSpLocks/>
          </p:cNvCxnSpPr>
          <p:nvPr userDrawn="1"/>
        </p:nvCxnSpPr>
        <p:spPr>
          <a:xfrm>
            <a:off x="0" y="1176792"/>
            <a:ext cx="12192000" cy="0"/>
          </a:xfrm>
          <a:prstGeom prst="line">
            <a:avLst/>
          </a:prstGeom>
          <a:ln w="28575">
            <a:solidFill>
              <a:srgbClr val="FF66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5A90D5F-12F6-C9A9-6D61-A5857DC47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7781" t="29500" r="7531" b="38000"/>
          <a:stretch/>
        </p:blipFill>
        <p:spPr>
          <a:xfrm>
            <a:off x="0" y="6009028"/>
            <a:ext cx="2979424" cy="84201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19914C-89C5-54B8-9FCC-9816917AC2F1}"/>
              </a:ext>
            </a:extLst>
          </p:cNvPr>
          <p:cNvCxnSpPr>
            <a:cxnSpLocks/>
          </p:cNvCxnSpPr>
          <p:nvPr userDrawn="1"/>
        </p:nvCxnSpPr>
        <p:spPr>
          <a:xfrm>
            <a:off x="0" y="5918777"/>
            <a:ext cx="12192000" cy="0"/>
          </a:xfrm>
          <a:prstGeom prst="line">
            <a:avLst/>
          </a:prstGeom>
          <a:ln w="28575">
            <a:solidFill>
              <a:srgbClr val="FF66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050" name="Picture 2" descr="Data Analysis and Real World Interrogation Network (DARWIN EU) | European  Medicines Agency">
            <a:extLst>
              <a:ext uri="{FF2B5EF4-FFF2-40B4-BE49-F238E27FC236}">
                <a16:creationId xmlns:a16="http://schemas.microsoft.com/office/drawing/2014/main" id="{588BAFC2-2D50-0E83-74E3-E30E9A6C5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102" y="6015989"/>
            <a:ext cx="2051796" cy="84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9974B753-1968-C00B-D31E-9A40CBF104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9601" y="45966"/>
            <a:ext cx="963421" cy="1109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8646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DD67C-B8D9-4C9F-AFE9-F7BE58F2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00F8AC-7CB6-4C9A-B675-D760B84A18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10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Presentation title (to edit, click Insert &gt; Header &amp; Footer)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77027-D146-4741-9B5D-0F23D75432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468437-DC6C-443C-8387-7F3DABA73C17}" type="slidenum">
              <a:rPr kumimoji="0" lang="en-GB" altLang="en-US" sz="110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10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E11E1-AC44-46B4-98C7-820E36CF185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10C40C-3E24-4C85-8B6D-E9FF35E6BCBE}" type="datetime4">
              <a:rPr kumimoji="0" lang="en-GB" altLang="en-US" sz="110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October 2026</a:t>
            </a:fld>
            <a:endParaRPr kumimoji="0" lang="en-GB" altLang="en-US" sz="110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9015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B1B8-BA7F-F8D1-129B-3F4B0416E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ED012-1C91-6E3E-0B07-F0B05BC37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03536-91D4-170F-ACE0-553B7E5A5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E2E3-D3ED-45A2-8703-D2C0E42595C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63042-FE57-1ED5-DDCE-F0AFB0D8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3C621-F683-4A3E-C439-C867B09F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37B-392B-4FD8-A30A-0EED767C1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8620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0BDB-8580-2181-73DF-EEBF14EC6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876F6-FA48-1EB6-D562-0717CFC22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C141A-7B86-AE90-80E5-F1C1CD98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E2E3-D3ED-45A2-8703-D2C0E42595C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85D20-0501-75E7-00BD-3F78AE39B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08BCD-03AF-906A-6AA4-80A746DF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37B-392B-4FD8-A30A-0EED767C1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6265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63B7B-E5C4-9B24-5F8F-55887CAFC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46823-8313-D817-9A3E-22CC037DB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E190F-AA9F-F7CF-C026-F62AF5D8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E2E3-D3ED-45A2-8703-D2C0E42595C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A1F39-9F39-0557-DE3C-1651C92F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8E9FC-307B-573A-0704-AD0082F13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37B-392B-4FD8-A30A-0EED767C1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0475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079BE-A68E-EC38-7FE6-013CB306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C2D84-4E45-0836-1E2F-C6C4D2D07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9FF5F-16F9-F8AD-CA93-461506D11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7E1B6-EA73-5611-3F65-272099206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E2E3-D3ED-45A2-8703-D2C0E42595C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65481-1432-7E50-7829-37CD14A89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0AB18-594A-3BBD-0927-BE82A17B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37B-392B-4FD8-A30A-0EED767C1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8555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5377-A000-9EEF-0808-DB5E9FA6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F5A59-9202-60A7-4860-38F7E0E46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36E09B-8055-0036-B174-7A20B3F1D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AFC42-07C1-5A23-CDA8-7B95EB456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002EC9-B99C-7D1A-8BE6-884F008F9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D079B3-C480-BDC4-297E-3AA6BEB70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E2E3-D3ED-45A2-8703-D2C0E42595C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6B3AE6-9738-EF8A-45CF-467CB3E5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E3B97B-6A88-B874-BC0F-F27FFF9C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37B-392B-4FD8-A30A-0EED767C1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628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0935-EE6C-845B-8C0A-4743CE4C8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264F7-893A-4AC4-97E4-3754C7268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E2E3-D3ED-45A2-8703-D2C0E42595C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7BD9F-9981-5C2C-6EF2-961962C8F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B0DDA-E2AE-0CF2-FD36-A8BE485C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37B-392B-4FD8-A30A-0EED767C1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0585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D62236-2C9B-415D-2F75-7D623376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E2E3-D3ED-45A2-8703-D2C0E42595C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0119F-F082-2067-5691-C36314DF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194E6-1240-C26E-3010-BFFC98F10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37B-392B-4FD8-A30A-0EED767C1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1530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65CCA-CA15-180C-A0B3-ED5779C5C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D4309-367F-DECC-E4DE-E133F07A6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FB94C-764A-CF84-72B2-E1A787C60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C8C82-F841-201B-41CF-FF5D25D5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E2E3-D3ED-45A2-8703-D2C0E42595C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CC75C-3D3D-8DF1-C226-AC32360C8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16666-D5DA-E7E1-CE21-AC4C0D3C3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37B-392B-4FD8-A30A-0EED767C1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2607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7AED-65D7-EADB-B6B9-30C43BAD8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7EE8B2-0E10-3D7D-9F67-D3B895268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795F4-356F-0FC0-DEC7-BDBF51E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CFAC2-6AFD-5141-C2A6-82F86C80D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E2E3-D3ED-45A2-8703-D2C0E42595C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CD433-1B74-C392-684E-363BBBD5C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9379A-3FBD-D993-9AD8-F5667492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37B-392B-4FD8-A30A-0EED767C1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061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7A90B-A6CE-DC41-3594-D61AD963D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AA43B-F707-A173-A113-96A152D14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E3DC7-B831-E8C3-09CF-8E380897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E2E3-D3ED-45A2-8703-D2C0E42595C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64132-3FEA-88AA-B9C2-4AAC1BD7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6A369-440D-59EA-B386-80D2A253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37B-392B-4FD8-A30A-0EED767C1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60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07EBB-D391-48B2-CF86-45B74377A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23924-C1F6-2BC7-834B-D560B1529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5D9A4-1067-B86D-7991-8185994E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E2E3-D3ED-45A2-8703-D2C0E42595C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CDC4F-F963-692D-A6B3-228D4D86B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83DA3-76AB-D8CC-C660-FD7DC11A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537B-392B-4FD8-A30A-0EED767C1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79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8488" y="1401547"/>
            <a:ext cx="1097280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</a:pPr>
            <a:r>
              <a:rPr lang="en-US"/>
              <a:t>Edit Master text styles</a:t>
            </a:r>
          </a:p>
          <a:p>
            <a:pPr marL="342900" lvl="1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</a:pPr>
            <a:r>
              <a:rPr lang="en-US"/>
              <a:t>Second level</a:t>
            </a:r>
          </a:p>
          <a:p>
            <a:pPr marL="342900" lvl="2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</a:pPr>
            <a:r>
              <a:rPr lang="en-US"/>
              <a:t>Third level</a:t>
            </a:r>
          </a:p>
          <a:p>
            <a:pPr marL="342900" lvl="3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</a:pPr>
            <a:r>
              <a:rPr lang="en-US"/>
              <a:t>Fourth level</a:t>
            </a:r>
          </a:p>
          <a:p>
            <a:pPr marL="342900" lvl="4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8488" y="135749"/>
            <a:ext cx="6974112" cy="7867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922484"/>
            <a:ext cx="12192000" cy="0"/>
          </a:xfrm>
          <a:prstGeom prst="line">
            <a:avLst/>
          </a:prstGeom>
          <a:ln w="19050" cmpd="sng">
            <a:solidFill>
              <a:srgbClr val="FF6600"/>
            </a:solidFill>
          </a:ln>
          <a:effectLst>
            <a:outerShdw blurRad="40005" dist="20320" dir="5400000" algn="ctr" rotWithShape="0">
              <a:schemeClr val="tx1"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6275534"/>
            <a:ext cx="12192000" cy="0"/>
          </a:xfrm>
          <a:prstGeom prst="line">
            <a:avLst/>
          </a:prstGeom>
          <a:ln w="19050" cmpd="sng">
            <a:solidFill>
              <a:srgbClr val="FF6600"/>
            </a:solidFill>
          </a:ln>
          <a:effectLst>
            <a:outerShdw blurRad="40005" dist="20320" dir="5400000" algn="ctr" rotWithShape="0">
              <a:schemeClr val="tx1">
                <a:alpha val="38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BOTNAR.png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3504" y="6438584"/>
            <a:ext cx="1206501" cy="288538"/>
          </a:xfrm>
          <a:prstGeom prst="rect">
            <a:avLst/>
          </a:prstGeom>
        </p:spPr>
      </p:pic>
      <p:pic>
        <p:nvPicPr>
          <p:cNvPr id="11" name="Picture 10" descr="NDORMS.png">
            <a:extLst>
              <a:ext uri="{FF2B5EF4-FFF2-40B4-BE49-F238E27FC236}">
                <a16:creationId xmlns:a16="http://schemas.microsoft.com/office/drawing/2014/main" id="{00A7AEE3-88CC-4FA7-BCC3-B80007BC0C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2315"/>
          <a:stretch/>
        </p:blipFill>
        <p:spPr>
          <a:xfrm>
            <a:off x="8915084" y="51277"/>
            <a:ext cx="3149916" cy="78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50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lang="en-GB" sz="3000" b="0" i="0" kern="1200" dirty="0">
          <a:solidFill>
            <a:schemeClr val="bg1">
              <a:lumMod val="50000"/>
            </a:schemeClr>
          </a:solidFill>
          <a:latin typeface="Arial"/>
          <a:ea typeface="+mj-ea"/>
          <a:cs typeface="Arial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lang="en-US" sz="3200" kern="1200" dirty="0" smtClean="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lang="en-US" sz="2800" kern="1200" dirty="0" smtClean="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lang="en-US" sz="2400" kern="1200" dirty="0" smtClean="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lang="en-GB" sz="2000" kern="1200" dirty="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100584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err="1"/>
              <a:t>Klik</a:t>
            </a:r>
            <a:r>
              <a:rPr lang="en-GB" noProof="0"/>
              <a:t> om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19201"/>
            <a:ext cx="10972800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Tekststijl van het model bewerken</a:t>
            </a:r>
          </a:p>
          <a:p>
            <a:pPr lvl="1"/>
            <a:r>
              <a:rPr lang="en-GB" noProof="0"/>
              <a:t>Tweede niveau</a:t>
            </a:r>
          </a:p>
          <a:p>
            <a:pPr lvl="2"/>
            <a:r>
              <a:rPr lang="en-GB" noProof="0"/>
              <a:t>Derde niveau</a:t>
            </a:r>
          </a:p>
          <a:p>
            <a:pPr lvl="3"/>
            <a:r>
              <a:rPr lang="en-GB" noProof="0"/>
              <a:t>Vierde niveau</a:t>
            </a:r>
          </a:p>
          <a:p>
            <a:pPr lvl="4"/>
            <a:r>
              <a:rPr lang="en-GB" noProof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16451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D69CB3E2-0E77-407C-AEE3-3EA2255EC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59986" lvl="0">
              <a:buClr>
                <a:srgbClr val="40387C"/>
              </a:buClr>
              <a:buFont typeface="Century Gothic" panose="020B0502020202020204" pitchFamily="34" charset="0"/>
              <a:buChar char="■"/>
            </a:pPr>
            <a:r>
              <a:rPr lang="nl-NL"/>
              <a:t>Tekststijl van het model bewerken</a:t>
            </a:r>
          </a:p>
          <a:p>
            <a:pPr marL="719971" lvl="1">
              <a:buClr>
                <a:srgbClr val="EEA41F"/>
              </a:buClr>
              <a:buFont typeface="Century Gothic" panose="020B0502020202020204" pitchFamily="34" charset="0"/>
              <a:buChar char="■"/>
            </a:pPr>
            <a:r>
              <a:rPr lang="nl-NL"/>
              <a:t>Tweede niveau</a:t>
            </a:r>
          </a:p>
          <a:p>
            <a:pPr marL="1079957" lvl="2">
              <a:buClr>
                <a:srgbClr val="92327C"/>
              </a:buClr>
              <a:buFont typeface="Century Gothic" panose="020B0502020202020204" pitchFamily="34" charset="0"/>
              <a:buChar char="■"/>
            </a:pPr>
            <a:r>
              <a:rPr lang="nl-NL"/>
              <a:t>Derde niveau</a:t>
            </a:r>
          </a:p>
          <a:p>
            <a:pPr marL="1439942" lvl="3">
              <a:buClr>
                <a:srgbClr val="56B1CA"/>
              </a:buClr>
              <a:buFont typeface="Century Gothic" panose="020B0502020202020204" pitchFamily="34" charset="0"/>
              <a:buChar char="■"/>
            </a:pPr>
            <a:r>
              <a:rPr lang="nl-NL"/>
              <a:t>Vierde niveau</a:t>
            </a:r>
          </a:p>
          <a:p>
            <a:pPr marL="1799928" lvl="4">
              <a:buClr>
                <a:srgbClr val="E91D25"/>
              </a:buClr>
              <a:buFont typeface="Century Gothic" panose="020B0502020202020204" pitchFamily="34" charset="0"/>
              <a:buChar char="■"/>
            </a:pPr>
            <a:r>
              <a:rPr lang="nl-NL"/>
              <a:t>Vijfde niveau</a:t>
            </a:r>
          </a:p>
          <a:p>
            <a:pPr marL="1799928" lvl="4">
              <a:buClr>
                <a:srgbClr val="E91D25"/>
              </a:buClr>
              <a:buFont typeface="Century Gothic" panose="020B0502020202020204" pitchFamily="34" charset="0"/>
              <a:buChar char="■"/>
            </a:pP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03023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</p:sldLayoutIdLst>
  <p:hf hdr="0" ftr="0" dt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1" indent="-228591" algn="l" defTabSz="91436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77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8368" y="1025526"/>
            <a:ext cx="112320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add title</a:t>
            </a:r>
          </a:p>
        </p:txBody>
      </p:sp>
      <p:sp>
        <p:nvSpPr>
          <p:cNvPr id="37376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58853" y="6405563"/>
            <a:ext cx="8638116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ts val="1600"/>
              </a:lnSpc>
              <a:defRPr sz="1107">
                <a:solidFill>
                  <a:schemeClr val="tx1"/>
                </a:solidFill>
              </a:defRPr>
            </a:lvl1pPr>
          </a:lstStyle>
          <a:p>
            <a:r>
              <a:rPr lang="en-GB" altLang="en-US"/>
              <a:t>Introduction of the DARWIN EU® Coordination Centre </a:t>
            </a:r>
          </a:p>
        </p:txBody>
      </p:sp>
      <p:sp>
        <p:nvSpPr>
          <p:cNvPr id="37376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80486" y="6405563"/>
            <a:ext cx="410633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ts val="1600"/>
              </a:lnSpc>
              <a:defRPr sz="1107">
                <a:solidFill>
                  <a:schemeClr val="tx1"/>
                </a:solidFill>
              </a:defRPr>
            </a:lvl1pPr>
          </a:lstStyle>
          <a:p>
            <a:fld id="{DB468437-DC6C-443C-8387-7F3DABA73C17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373768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792000" y="6405563"/>
            <a:ext cx="1919816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ts val="1600"/>
              </a:lnSpc>
              <a:defRPr sz="1107">
                <a:solidFill>
                  <a:schemeClr val="tx1"/>
                </a:solidFill>
              </a:defRPr>
            </a:lvl1pPr>
          </a:lstStyle>
          <a:p>
            <a:fld id="{04AB5764-98C1-42BA-BFEF-50F6CCFE58EC}" type="datetime4">
              <a:rPr lang="en-US" altLang="en-US" smtClean="0"/>
              <a:t>October 19, 2026</a:t>
            </a:fld>
            <a:endParaRPr lang="en-GB" altLang="en-US"/>
          </a:p>
        </p:txBody>
      </p:sp>
      <p:sp>
        <p:nvSpPr>
          <p:cNvPr id="373775" name="Rectangle 15"/>
          <p:cNvSpPr>
            <a:spLocks noChangeArrowheads="1"/>
          </p:cNvSpPr>
          <p:nvPr/>
        </p:nvSpPr>
        <p:spPr bwMode="auto">
          <a:xfrm>
            <a:off x="0" y="1"/>
            <a:ext cx="12192000" cy="6731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GB" sz="2400"/>
          </a:p>
        </p:txBody>
      </p:sp>
      <p:sp>
        <p:nvSpPr>
          <p:cNvPr id="373777" name="Line 17"/>
          <p:cNvSpPr>
            <a:spLocks noChangeShapeType="1"/>
          </p:cNvSpPr>
          <p:nvPr/>
        </p:nvSpPr>
        <p:spPr bwMode="auto">
          <a:xfrm>
            <a:off x="0" y="676275"/>
            <a:ext cx="12192000" cy="1588"/>
          </a:xfrm>
          <a:prstGeom prst="line">
            <a:avLst/>
          </a:prstGeom>
          <a:noFill/>
          <a:ln w="317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400"/>
          </a:p>
        </p:txBody>
      </p:sp>
      <p:sp>
        <p:nvSpPr>
          <p:cNvPr id="373781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8368" y="2159001"/>
            <a:ext cx="11232000" cy="395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1E3F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Normal text – Verdana, 15pt regular, ls 21pt, ap 9pt, black.</a:t>
            </a:r>
          </a:p>
          <a:p>
            <a:pPr lvl="1"/>
            <a:r>
              <a:rPr lang="en-GB" altLang="en-US"/>
              <a:t>Title – Verdana, 21pt regular, ls 27pt, blue (0,51,153).</a:t>
            </a:r>
          </a:p>
          <a:p>
            <a:pPr lvl="1"/>
            <a:r>
              <a:rPr lang="en-GB" altLang="en-US"/>
              <a:t>Subtitle – Verdana, 18pt bold (apply manually), ls 27pt, blue (0,51,153).</a:t>
            </a:r>
          </a:p>
          <a:p>
            <a:pPr lvl="1"/>
            <a:r>
              <a:rPr lang="en-GB" altLang="en-US"/>
              <a:t>Bullets level 1 – Verdana, 13.5pt regular, ls 18pt, ap 6pt, black.</a:t>
            </a:r>
          </a:p>
          <a:p>
            <a:pPr lvl="2"/>
            <a:r>
              <a:rPr lang="en-GB" altLang="en-US"/>
              <a:t>Bullets level 2 – Verdana, 12pt regular, ls 18pt, ap 4.5pt, black.</a:t>
            </a:r>
          </a:p>
          <a:p>
            <a:pPr lvl="3"/>
            <a:r>
              <a:rPr lang="en-GB" altLang="en-US"/>
              <a:t>Bullets level 3 – Verdana, 10.5pt regular, ls 15pt, ap 4.5pt, black. NOT RECOMMENDED TO USE BEYOND LEVEL 3</a:t>
            </a:r>
          </a:p>
          <a:p>
            <a:pPr lvl="4"/>
            <a:r>
              <a:rPr lang="en-GB" altLang="en-US"/>
              <a:t>Bullets level 4 – Verdana, 10.5pt regular, ls 15pt, ap 4.5pt, black.</a:t>
            </a:r>
          </a:p>
          <a:p>
            <a:pPr lvl="4"/>
            <a:r>
              <a:rPr lang="en-GB" altLang="en-US"/>
              <a:t>Bullets level 5 – Verdana, 10.5pt regular, ls 15pt, ap 4.5pt, black.</a:t>
            </a:r>
          </a:p>
          <a:p>
            <a:pPr lvl="6"/>
            <a:r>
              <a:rPr lang="en-GB" altLang="en-US"/>
              <a:t>Bullets level 6 – Verdana, 10.5pt regular, ls 15pt, ap 4.5pt, black.</a:t>
            </a:r>
          </a:p>
          <a:p>
            <a:pPr lvl="7"/>
            <a:r>
              <a:rPr lang="en-GB" altLang="en-US"/>
              <a:t>Bullets level 7 – Verdana, 10.5pt regular, ls 15pt, ap 4.5pt, black.</a:t>
            </a:r>
          </a:p>
          <a:p>
            <a:pPr lvl="8"/>
            <a:r>
              <a:rPr lang="en-GB" altLang="en-US"/>
              <a:t>Bullets level 8 – Verdana, 10.5pt regular, ls 15pt, ap 4.5pt, black.</a:t>
            </a:r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0" y="6734400"/>
            <a:ext cx="12192000" cy="1248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GB" sz="2400"/>
          </a:p>
        </p:txBody>
      </p:sp>
      <p:sp>
        <p:nvSpPr>
          <p:cNvPr id="2" name="MSIPCMContentMarking" descr="{&quot;HashCode&quot;:-1620017495,&quot;Placement&quot;:&quot;Footer&quot;,&quot;Top&quot;:523.417664,&quot;Left&quot;:362.8055,&quot;SlideWidth&quot;:960,&quot;SlideHeight&quot;:540}">
            <a:extLst>
              <a:ext uri="{FF2B5EF4-FFF2-40B4-BE49-F238E27FC236}">
                <a16:creationId xmlns:a16="http://schemas.microsoft.com/office/drawing/2014/main" id="{A97859D1-89C1-40A3-AA2A-4BAA55F51F55}"/>
              </a:ext>
            </a:extLst>
          </p:cNvPr>
          <p:cNvSpPr txBox="1"/>
          <p:nvPr userDrawn="1"/>
        </p:nvSpPr>
        <p:spPr>
          <a:xfrm>
            <a:off x="4607630" y="6647404"/>
            <a:ext cx="2976740" cy="2105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700">
                <a:solidFill>
                  <a:srgbClr val="737373"/>
                </a:solidFill>
                <a:latin typeface="Verdana" panose="020B0604030504040204" pitchFamily="34" charset="0"/>
              </a:rPr>
              <a:t>Classified as confidential by the European Medicines Agency 
</a:t>
            </a:r>
            <a:endParaRPr lang="en-NL" sz="700">
              <a:solidFill>
                <a:srgbClr val="737373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09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</p:sldLayoutIdLst>
  <p:hf hdr="0" ftr="0" dt="0"/>
  <p:txStyles>
    <p:titleStyle>
      <a:lvl1pPr algn="l" rtl="0" eaLnBrk="1" fontAlgn="base" hangingPunct="1">
        <a:lnSpc>
          <a:spcPts val="36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ts val="4800"/>
        </a:lnSpc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Verdana" pitchFamily="34" charset="0"/>
          <a:cs typeface="Arial" charset="0"/>
        </a:defRPr>
      </a:lvl2pPr>
      <a:lvl3pPr algn="l" rtl="0" eaLnBrk="1" fontAlgn="base" hangingPunct="1">
        <a:lnSpc>
          <a:spcPts val="4800"/>
        </a:lnSpc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Verdana" pitchFamily="34" charset="0"/>
          <a:cs typeface="Arial" charset="0"/>
        </a:defRPr>
      </a:lvl3pPr>
      <a:lvl4pPr algn="l" rtl="0" eaLnBrk="1" fontAlgn="base" hangingPunct="1">
        <a:lnSpc>
          <a:spcPts val="4800"/>
        </a:lnSpc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Verdana" pitchFamily="34" charset="0"/>
          <a:cs typeface="Arial" charset="0"/>
        </a:defRPr>
      </a:lvl4pPr>
      <a:lvl5pPr algn="l" rtl="0" eaLnBrk="1" fontAlgn="base" hangingPunct="1">
        <a:lnSpc>
          <a:spcPts val="4800"/>
        </a:lnSpc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Verdana" pitchFamily="34" charset="0"/>
          <a:cs typeface="Arial" charset="0"/>
        </a:defRPr>
      </a:lvl5pPr>
      <a:lvl6pPr marL="609585" algn="l" rtl="0" eaLnBrk="1" fontAlgn="base" hangingPunct="1">
        <a:lnSpc>
          <a:spcPts val="4800"/>
        </a:lnSpc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Verdana" pitchFamily="34" charset="0"/>
          <a:cs typeface="Arial" charset="0"/>
        </a:defRPr>
      </a:lvl6pPr>
      <a:lvl7pPr marL="1219170" algn="l" rtl="0" eaLnBrk="1" fontAlgn="base" hangingPunct="1">
        <a:lnSpc>
          <a:spcPts val="4800"/>
        </a:lnSpc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Verdana" pitchFamily="34" charset="0"/>
          <a:cs typeface="Arial" charset="0"/>
        </a:defRPr>
      </a:lvl7pPr>
      <a:lvl8pPr marL="1828754" algn="l" rtl="0" eaLnBrk="1" fontAlgn="base" hangingPunct="1">
        <a:lnSpc>
          <a:spcPts val="4800"/>
        </a:lnSpc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Verdana" pitchFamily="34" charset="0"/>
          <a:cs typeface="Arial" charset="0"/>
        </a:defRPr>
      </a:lvl8pPr>
      <a:lvl9pPr marL="2438339" algn="l" rtl="0" eaLnBrk="1" fontAlgn="base" hangingPunct="1">
        <a:lnSpc>
          <a:spcPts val="4800"/>
        </a:lnSpc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algn="l" defTabSz="10762982" rtl="0" eaLnBrk="1" fontAlgn="base" hangingPunct="1">
        <a:lnSpc>
          <a:spcPts val="2800"/>
        </a:lnSpc>
        <a:spcBef>
          <a:spcPct val="0"/>
        </a:spcBef>
        <a:spcAft>
          <a:spcPts val="1200"/>
        </a:spcAft>
        <a:buClr>
          <a:srgbClr val="000000"/>
        </a:buClr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57708" indent="-355591" algn="l" defTabSz="10762982" rtl="0" eaLnBrk="1" fontAlgn="base" hangingPunct="1">
        <a:lnSpc>
          <a:spcPts val="2400"/>
        </a:lnSpc>
        <a:spcBef>
          <a:spcPct val="0"/>
        </a:spcBef>
        <a:spcAft>
          <a:spcPts val="800"/>
        </a:spcAft>
        <a:buClr>
          <a:schemeClr val="tx1"/>
        </a:buClr>
        <a:buChar char="•"/>
        <a:defRPr sz="1800">
          <a:solidFill>
            <a:schemeClr val="tx1"/>
          </a:solidFill>
          <a:latin typeface="+mn-lt"/>
          <a:cs typeface="+mn-cs"/>
        </a:defRPr>
      </a:lvl2pPr>
      <a:lvl3pPr marL="696367" indent="-309026" algn="l" defTabSz="10762982" rtl="0" eaLnBrk="1" fontAlgn="base" hangingPunct="1">
        <a:lnSpc>
          <a:spcPts val="2400"/>
        </a:lnSpc>
        <a:spcBef>
          <a:spcPct val="0"/>
        </a:spcBef>
        <a:spcAft>
          <a:spcPts val="600"/>
        </a:spcAft>
        <a:buClr>
          <a:schemeClr val="tx1"/>
        </a:buClr>
        <a:buFont typeface="Verdana" pitchFamily="34" charset="0"/>
        <a:buChar char="–"/>
        <a:defRPr sz="1600">
          <a:solidFill>
            <a:schemeClr val="tx1"/>
          </a:solidFill>
          <a:latin typeface="+mn-lt"/>
          <a:cs typeface="+mn-cs"/>
        </a:defRPr>
      </a:lvl3pPr>
      <a:lvl4pPr marL="1026558" indent="-292093" algn="l" defTabSz="10762982" rtl="0" eaLnBrk="1" fontAlgn="base" hangingPunct="1">
        <a:lnSpc>
          <a:spcPts val="2000"/>
        </a:lnSpc>
        <a:spcBef>
          <a:spcPct val="0"/>
        </a:spcBef>
        <a:spcAft>
          <a:spcPts val="600"/>
        </a:spcAft>
        <a:buClr>
          <a:schemeClr val="tx1"/>
        </a:buClr>
        <a:buFont typeface="Verdana" pitchFamily="34" charset="0"/>
        <a:buChar char="•"/>
        <a:defRPr sz="1400">
          <a:solidFill>
            <a:schemeClr val="tx1"/>
          </a:solidFill>
          <a:latin typeface="+mn-lt"/>
          <a:cs typeface="+mn-cs"/>
        </a:defRPr>
      </a:lvl4pPr>
      <a:lvl5pPr marL="1354633" marR="0" indent="-300559" algn="l" defTabSz="10762982" rtl="0" eaLnBrk="1" fontAlgn="base" latinLnBrk="0" hangingPunct="1">
        <a:lnSpc>
          <a:spcPts val="2000"/>
        </a:lnSpc>
        <a:spcBef>
          <a:spcPct val="0"/>
        </a:spcBef>
        <a:spcAft>
          <a:spcPts val="600"/>
        </a:spcAft>
        <a:buClr>
          <a:schemeClr val="tx1"/>
        </a:buClr>
        <a:buSzTx/>
        <a:buFont typeface="Verdana" pitchFamily="34" charset="0"/>
        <a:buChar char="–"/>
        <a:tabLst/>
        <a:defRPr sz="1400">
          <a:solidFill>
            <a:schemeClr val="tx1"/>
          </a:solidFill>
          <a:latin typeface="+mn-lt"/>
          <a:cs typeface="+mn-cs"/>
        </a:defRPr>
      </a:lvl5pPr>
      <a:lvl6pPr marL="1352517" indent="-302392" algn="l" defTabSz="10762982" rtl="0" eaLnBrk="1" fontAlgn="base" hangingPunct="1">
        <a:lnSpc>
          <a:spcPts val="2000"/>
        </a:lnSpc>
        <a:spcBef>
          <a:spcPct val="0"/>
        </a:spcBef>
        <a:spcAft>
          <a:spcPts val="600"/>
        </a:spcAft>
        <a:buClr>
          <a:schemeClr val="tx1"/>
        </a:buClr>
        <a:buFont typeface="Verdana" pitchFamily="34" charset="0"/>
        <a:buChar char="–"/>
        <a:defRPr lang="en-GB" altLang="en-US" sz="1400" smtClean="0">
          <a:solidFill>
            <a:schemeClr val="tx1"/>
          </a:solidFill>
          <a:latin typeface="+mn-lt"/>
          <a:cs typeface="+mn-cs"/>
        </a:defRPr>
      </a:lvl6pPr>
      <a:lvl7pPr marL="1353566" indent="-300559" algn="l" defTabSz="10762982" rtl="0" eaLnBrk="1" fontAlgn="base" hangingPunct="1">
        <a:lnSpc>
          <a:spcPts val="2000"/>
        </a:lnSpc>
        <a:spcBef>
          <a:spcPct val="0"/>
        </a:spcBef>
        <a:spcAft>
          <a:spcPts val="600"/>
        </a:spcAft>
        <a:buClr>
          <a:schemeClr val="tx1"/>
        </a:buClr>
        <a:buFont typeface="Verdana" pitchFamily="34" charset="0"/>
        <a:buChar char="–"/>
        <a:defRPr sz="1400">
          <a:solidFill>
            <a:schemeClr val="tx1"/>
          </a:solidFill>
          <a:latin typeface="+mn-lt"/>
          <a:cs typeface="+mn-cs"/>
        </a:defRPr>
      </a:lvl7pPr>
      <a:lvl8pPr marL="1353566" indent="-300559" algn="l" defTabSz="10762982" rtl="0" eaLnBrk="1" fontAlgn="base" hangingPunct="1">
        <a:lnSpc>
          <a:spcPts val="2000"/>
        </a:lnSpc>
        <a:spcBef>
          <a:spcPct val="0"/>
        </a:spcBef>
        <a:spcAft>
          <a:spcPts val="600"/>
        </a:spcAft>
        <a:buClr>
          <a:schemeClr val="tx1"/>
        </a:buClr>
        <a:buFont typeface="Verdana" pitchFamily="34" charset="0"/>
        <a:buChar char="–"/>
        <a:defRPr sz="1400">
          <a:solidFill>
            <a:schemeClr val="tx1"/>
          </a:solidFill>
          <a:latin typeface="+mn-lt"/>
          <a:cs typeface="+mn-cs"/>
        </a:defRPr>
      </a:lvl8pPr>
      <a:lvl9pPr marL="1353566" indent="-300559" algn="l" defTabSz="10762982" rtl="0" eaLnBrk="1" fontAlgn="base" hangingPunct="1">
        <a:lnSpc>
          <a:spcPts val="2000"/>
        </a:lnSpc>
        <a:spcBef>
          <a:spcPct val="0"/>
        </a:spcBef>
        <a:spcAft>
          <a:spcPts val="600"/>
        </a:spcAft>
        <a:buClr>
          <a:schemeClr val="tx1"/>
        </a:buClr>
        <a:buFont typeface="Verdana" pitchFamily="34" charset="0"/>
        <a:buChar char="–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2745B-2927-937B-B540-F3C1E6DA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A4017-B243-6E2C-7C6D-EC68940F6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8592D-57B4-322F-7162-C51C31D864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DE2E3-D3ED-45A2-8703-D2C0E42595C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4F202-D951-216C-71A3-DFD81C690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7A6AE-37CC-851A-65C3-A371D4496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4537B-392B-4FD8-A30A-0EED767C1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283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13" Type="http://schemas.openxmlformats.org/officeDocument/2006/relationships/image" Target="../media/image52.png"/><Relationship Id="rId18" Type="http://schemas.openxmlformats.org/officeDocument/2006/relationships/image" Target="../media/image5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sv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sv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png"/><Relationship Id="rId14" Type="http://schemas.openxmlformats.org/officeDocument/2006/relationships/image" Target="../media/image5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52.png"/><Relationship Id="rId18" Type="http://schemas.openxmlformats.org/officeDocument/2006/relationships/image" Target="../media/image51.svg"/><Relationship Id="rId3" Type="http://schemas.openxmlformats.org/officeDocument/2006/relationships/image" Target="../media/image42.png"/><Relationship Id="rId7" Type="http://schemas.openxmlformats.org/officeDocument/2006/relationships/image" Target="../media/image54.png"/><Relationship Id="rId12" Type="http://schemas.openxmlformats.org/officeDocument/2006/relationships/image" Target="../media/image49.sv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svg"/><Relationship Id="rId11" Type="http://schemas.openxmlformats.org/officeDocument/2006/relationships/image" Target="../media/image48.png"/><Relationship Id="rId5" Type="http://schemas.openxmlformats.org/officeDocument/2006/relationships/image" Target="../media/image56.png"/><Relationship Id="rId15" Type="http://schemas.openxmlformats.org/officeDocument/2006/relationships/image" Target="../media/image44.png"/><Relationship Id="rId10" Type="http://schemas.openxmlformats.org/officeDocument/2006/relationships/image" Target="../media/image47.svg"/><Relationship Id="rId19" Type="http://schemas.openxmlformats.org/officeDocument/2006/relationships/image" Target="../media/image58.png"/><Relationship Id="rId4" Type="http://schemas.openxmlformats.org/officeDocument/2006/relationships/image" Target="../media/image43.svg"/><Relationship Id="rId9" Type="http://schemas.openxmlformats.org/officeDocument/2006/relationships/image" Target="../media/image46.png"/><Relationship Id="rId14" Type="http://schemas.openxmlformats.org/officeDocument/2006/relationships/image" Target="../media/image5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2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43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52.png"/><Relationship Id="rId18" Type="http://schemas.openxmlformats.org/officeDocument/2006/relationships/image" Target="../media/image51.svg"/><Relationship Id="rId3" Type="http://schemas.openxmlformats.org/officeDocument/2006/relationships/image" Target="../media/image42.png"/><Relationship Id="rId7" Type="http://schemas.openxmlformats.org/officeDocument/2006/relationships/image" Target="../media/image54.png"/><Relationship Id="rId12" Type="http://schemas.openxmlformats.org/officeDocument/2006/relationships/image" Target="../media/image49.sv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svg"/><Relationship Id="rId11" Type="http://schemas.openxmlformats.org/officeDocument/2006/relationships/image" Target="../media/image48.png"/><Relationship Id="rId5" Type="http://schemas.openxmlformats.org/officeDocument/2006/relationships/image" Target="../media/image56.png"/><Relationship Id="rId15" Type="http://schemas.openxmlformats.org/officeDocument/2006/relationships/image" Target="../media/image44.png"/><Relationship Id="rId10" Type="http://schemas.openxmlformats.org/officeDocument/2006/relationships/image" Target="../media/image47.svg"/><Relationship Id="rId4" Type="http://schemas.openxmlformats.org/officeDocument/2006/relationships/image" Target="../media/image43.svg"/><Relationship Id="rId9" Type="http://schemas.openxmlformats.org/officeDocument/2006/relationships/image" Target="../media/image46.png"/><Relationship Id="rId14" Type="http://schemas.openxmlformats.org/officeDocument/2006/relationships/image" Target="../media/image53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67508" y="1271867"/>
            <a:ext cx="8856984" cy="3024336"/>
          </a:xfrm>
        </p:spPr>
        <p:txBody>
          <a:bodyPr/>
          <a:lstStyle/>
          <a:p>
            <a:r>
              <a:rPr lang="en-US" sz="3200" b="1" i="1" dirty="0">
                <a:solidFill>
                  <a:schemeClr val="accent5">
                    <a:lumMod val="75000"/>
                  </a:schemeClr>
                </a:solidFill>
              </a:rPr>
              <a:t>Phenotyping beyond (national) borders</a:t>
            </a:r>
            <a:br>
              <a:rPr lang="en-US" sz="3200" b="1" i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32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br>
              <a:rPr lang="en-US" sz="3200" b="1" i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800" b="1" i="1" dirty="0">
                <a:solidFill>
                  <a:srgbClr val="002060"/>
                </a:solidFill>
              </a:rPr>
              <a:t>Tools, processes, and examples of transportable phenotypes based on the OMOP CDM</a:t>
            </a:r>
            <a:br>
              <a:rPr lang="en-US" sz="2800" i="1" dirty="0">
                <a:solidFill>
                  <a:schemeClr val="accent5">
                    <a:lumMod val="75000"/>
                  </a:schemeClr>
                </a:solidFill>
              </a:rPr>
            </a:br>
            <a:endParaRPr lang="en-US" sz="32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AA14E4-9FC9-58A0-F480-5FE11E4C21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617" y="4296203"/>
            <a:ext cx="9144000" cy="1456980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Prof Dani Prieto-Alhambra</a:t>
            </a:r>
          </a:p>
          <a:p>
            <a:pPr algn="l"/>
            <a:r>
              <a:rPr lang="en-GB" dirty="0"/>
              <a:t>Section Lead, Health Data Sciences</a:t>
            </a:r>
          </a:p>
          <a:p>
            <a:pPr algn="l"/>
            <a:r>
              <a:rPr lang="en-GB" dirty="0" err="1"/>
              <a:t>Botnar</a:t>
            </a:r>
            <a:r>
              <a:rPr lang="en-GB" dirty="0"/>
              <a:t> Research Centre, NDORMS, U of Oxford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531802-87E6-C2D8-54F2-298556A5F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189" y="3878881"/>
            <a:ext cx="2059432" cy="215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4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55CF-3B44-5997-2C8B-FE11E0CF4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AE4C0-3EEA-EB92-1374-5D5CD57DE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88" y="2117035"/>
            <a:ext cx="10972801" cy="3810475"/>
          </a:xfrm>
        </p:spPr>
        <p:txBody>
          <a:bodyPr>
            <a:normAutofit/>
          </a:bodyPr>
          <a:lstStyle/>
          <a:p>
            <a:r>
              <a:rPr lang="en-US" sz="3200" dirty="0"/>
              <a:t>Phenotyping in RWD</a:t>
            </a:r>
          </a:p>
          <a:p>
            <a:r>
              <a:rPr lang="en-US" sz="3200" dirty="0"/>
              <a:t>Phenotyping </a:t>
            </a:r>
            <a:r>
              <a:rPr lang="en-US" sz="3200" dirty="0" err="1"/>
              <a:t>OMOPped</a:t>
            </a:r>
            <a:r>
              <a:rPr lang="en-US" sz="3200" dirty="0"/>
              <a:t> data</a:t>
            </a:r>
          </a:p>
          <a:p>
            <a:r>
              <a:rPr lang="en-US" sz="3200" dirty="0"/>
              <a:t>The DARWIN EU® Phenotyping SOP</a:t>
            </a:r>
          </a:p>
          <a:p>
            <a:pPr marL="0" indent="0">
              <a:buNone/>
            </a:pP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53385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35D8F-ECE1-C266-BBD3-712FB205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DB30-6356-073B-D656-E793F954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94E67-6AE0-CA0A-339C-9D58DFCBE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88" y="2117035"/>
            <a:ext cx="10972801" cy="3810475"/>
          </a:xfrm>
        </p:spPr>
        <p:txBody>
          <a:bodyPr>
            <a:normAutofit/>
          </a:bodyPr>
          <a:lstStyle/>
          <a:p>
            <a:r>
              <a:rPr lang="en-US" sz="3200" dirty="0"/>
              <a:t>Phenotyping in RWD</a:t>
            </a:r>
            <a:endParaRPr lang="en-US" sz="32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Phenotyping </a:t>
            </a:r>
            <a:r>
              <a:rPr lang="en-US" sz="3200" dirty="0" err="1">
                <a:solidFill>
                  <a:schemeClr val="bg1">
                    <a:lumMod val="65000"/>
                  </a:schemeClr>
                </a:solidFill>
              </a:rPr>
              <a:t>OMOPped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 data</a:t>
            </a:r>
          </a:p>
          <a:p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The DARWIN EU® Phenotyping SOP</a:t>
            </a:r>
          </a:p>
          <a:p>
            <a:pPr marL="0" indent="0">
              <a:buNone/>
            </a:pPr>
            <a:endParaRPr lang="en-US" sz="32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61294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91D6497-F8F2-41A3-8933-3606E7380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ea typeface="+mn-ea"/>
              </a:rPr>
              <a:t>Phenotyping in RWD: The Problem</a:t>
            </a:r>
            <a:endParaRPr lang="en-GB" kern="1200" dirty="0">
              <a:ea typeface="+mn-e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E8A6-16E0-4451-A025-0E8CEE037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88" y="1230659"/>
            <a:ext cx="11828718" cy="4696851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Finding patients that: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de-DE" sz="4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lang="de-DE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had certain </a:t>
            </a:r>
            <a:r>
              <a:rPr lang="de-DE" sz="4200" dirty="0">
                <a:solidFill>
                  <a:srgbClr val="7936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disease </a:t>
            </a:r>
          </a:p>
          <a:p>
            <a:pPr marL="1371600" lvl="3" indent="0">
              <a:lnSpc>
                <a:spcPct val="150000"/>
              </a:lnSpc>
              <a:buNone/>
            </a:pPr>
            <a:endParaRPr lang="de-DE" sz="4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3" indent="0">
              <a:lnSpc>
                <a:spcPct val="150000"/>
              </a:lnSpc>
              <a:buNone/>
            </a:pPr>
            <a:r>
              <a:rPr lang="de-DE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Use/d certain </a:t>
            </a:r>
            <a:r>
              <a:rPr lang="de-DE" sz="4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  <a:r>
              <a:rPr lang="de-DE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(drug or surgeries) </a:t>
            </a:r>
          </a:p>
          <a:p>
            <a:pPr marL="1371600" lvl="3" indent="0">
              <a:lnSpc>
                <a:spcPct val="150000"/>
              </a:lnSpc>
              <a:buNone/>
            </a:pPr>
            <a:endParaRPr lang="de-DE" sz="4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3" indent="0">
              <a:lnSpc>
                <a:spcPct val="150000"/>
              </a:lnSpc>
              <a:buNone/>
            </a:pPr>
            <a:r>
              <a:rPr lang="de-DE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de-DE" sz="4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certain</a:t>
            </a:r>
            <a:r>
              <a:rPr lang="de-DE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4200" dirty="0" err="1">
                <a:solidFill>
                  <a:srgbClr val="1DA9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characteristic</a:t>
            </a:r>
            <a:r>
              <a:rPr lang="de-DE" sz="4200" dirty="0">
                <a:solidFill>
                  <a:srgbClr val="1DA9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/s</a:t>
            </a:r>
          </a:p>
          <a:p>
            <a:pPr marL="0" indent="0">
              <a:buNone/>
            </a:pPr>
            <a:endParaRPr lang="de-DE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B132BA2-ACD1-1153-AB2A-9C49CC91394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21" y="3074587"/>
            <a:ext cx="1493607" cy="1493607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D8E0FF8-5416-768D-720F-77CFB1E82DE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8755" y="4568194"/>
            <a:ext cx="1593340" cy="159334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BEA0F20-6F1E-3226-1E29-19AE590FEE2C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3954" y="1794621"/>
            <a:ext cx="1242940" cy="124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300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91D6497-F8F2-41A3-8933-3606E7380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ea typeface="+mn-ea"/>
              </a:rPr>
              <a:t>1</a:t>
            </a:r>
            <a:r>
              <a:rPr lang="en-GB" baseline="30000" dirty="0">
                <a:ea typeface="+mn-ea"/>
              </a:rPr>
              <a:t>st</a:t>
            </a:r>
            <a:r>
              <a:rPr lang="en-GB" dirty="0">
                <a:ea typeface="+mn-ea"/>
              </a:rPr>
              <a:t> - Define</a:t>
            </a:r>
            <a:endParaRPr lang="en-GB" kern="1200" dirty="0">
              <a:ea typeface="+mn-e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E8A6-16E0-4451-A025-0E8CEE037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30659"/>
            <a:ext cx="8361802" cy="4696851"/>
          </a:xfrm>
        </p:spPr>
        <p:txBody>
          <a:bodyPr>
            <a:normAutofit/>
          </a:bodyPr>
          <a:lstStyle/>
          <a:p>
            <a:r>
              <a:rPr lang="de-DE" sz="4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lang="de-DE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de-DE" sz="4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de-DE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4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certain</a:t>
            </a:r>
            <a:r>
              <a:rPr lang="de-DE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42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disease</a:t>
            </a:r>
            <a:endParaRPr lang="de-DE" sz="4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4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4200" u="sng" dirty="0" err="1">
                <a:latin typeface="Arial" panose="020B0604020202020204" pitchFamily="34" charset="0"/>
                <a:cs typeface="Arial" panose="020B0604020202020204" pitchFamily="34" charset="0"/>
              </a:rPr>
              <a:t>Notice</a:t>
            </a:r>
            <a:r>
              <a:rPr lang="de-DE" sz="4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DE" sz="4200" dirty="0" err="1">
                <a:latin typeface="Arial" panose="020B0604020202020204" pitchFamily="34" charset="0"/>
                <a:cs typeface="Arial" panose="020B0604020202020204" pitchFamily="34" charset="0"/>
              </a:rPr>
              <a:t>phenotypes</a:t>
            </a:r>
            <a:r>
              <a:rPr lang="de-DE" sz="4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4200" dirty="0" err="1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4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4200" u="sng" dirty="0" err="1">
                <a:latin typeface="Arial" panose="020B0604020202020204" pitchFamily="34" charset="0"/>
                <a:cs typeface="Arial" panose="020B0604020202020204" pitchFamily="34" charset="0"/>
              </a:rPr>
              <a:t>cohorts</a:t>
            </a:r>
            <a:r>
              <a:rPr lang="de-DE" sz="4200" dirty="0">
                <a:latin typeface="Arial" panose="020B0604020202020204" pitchFamily="34" charset="0"/>
                <a:cs typeface="Arial" panose="020B0604020202020204" pitchFamily="34" charset="0"/>
              </a:rPr>
              <a:t> (time-</a:t>
            </a:r>
            <a:r>
              <a:rPr lang="de-DE" sz="4200" dirty="0" err="1">
                <a:latin typeface="Arial" panose="020B0604020202020204" pitchFamily="34" charset="0"/>
                <a:cs typeface="Arial" panose="020B0604020202020204" pitchFamily="34" charset="0"/>
              </a:rPr>
              <a:t>bound</a:t>
            </a:r>
            <a:r>
              <a:rPr lang="de-DE" sz="4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4200" dirty="0" err="1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de-DE" sz="4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de-DE" sz="4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4200" dirty="0">
                <a:latin typeface="Arial" panose="020B0604020202020204" pitchFamily="34" charset="0"/>
                <a:cs typeface="Arial" panose="020B0604020202020204" pitchFamily="34" charset="0"/>
              </a:rPr>
              <a:t>For example: </a:t>
            </a:r>
            <a:r>
              <a:rPr lang="de-DE" sz="4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lang="de-DE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de-DE" sz="4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3" indent="0">
              <a:buNone/>
            </a:pPr>
            <a:endParaRPr lang="de-DE" sz="4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de-DE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AB5178B-6E58-6F94-FC5C-B7CD4E233B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07843" y="4636445"/>
            <a:ext cx="1291065" cy="129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3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91D6497-F8F2-41A3-8933-3606E7380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ea typeface="+mn-ea"/>
              </a:rPr>
              <a:t>Diabetes in the clinic</a:t>
            </a:r>
            <a:endParaRPr lang="en-GB" kern="1200" dirty="0">
              <a:ea typeface="+mn-e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E8A6-16E0-4451-A025-0E8CEE037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88" y="930490"/>
            <a:ext cx="11828718" cy="89143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we do it in </a:t>
            </a:r>
            <a:r>
              <a:rPr lang="de-DE" sz="4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4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</a:t>
            </a:r>
            <a:r>
              <a:rPr lang="de-DE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marL="0" indent="0">
              <a:lnSpc>
                <a:spcPct val="150000"/>
              </a:lnSpc>
              <a:buNone/>
            </a:pPr>
            <a:endParaRPr lang="de-DE" sz="4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3" indent="0">
              <a:lnSpc>
                <a:spcPct val="150000"/>
              </a:lnSpc>
              <a:buNone/>
            </a:pPr>
            <a:endParaRPr lang="de-DE" sz="4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de-DE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AB5178B-6E58-6F94-FC5C-B7CD4E233B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4487" y="8931"/>
            <a:ext cx="921559" cy="92155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9EC2C21-78CE-2BD6-DD2E-84B0A0A73152}"/>
              </a:ext>
            </a:extLst>
          </p:cNvPr>
          <p:cNvSpPr txBox="1"/>
          <p:nvPr/>
        </p:nvSpPr>
        <p:spPr>
          <a:xfrm>
            <a:off x="185630" y="2433784"/>
            <a:ext cx="3918857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feeling very thirsty</a:t>
            </a:r>
          </a:p>
          <a:p>
            <a:pPr>
              <a:lnSpc>
                <a:spcPct val="150000"/>
              </a:lnSpc>
            </a:pPr>
            <a:r>
              <a:rPr lang="en-GB" dirty="0"/>
              <a:t>peeing more frequently than usual</a:t>
            </a:r>
          </a:p>
          <a:p>
            <a:pPr>
              <a:lnSpc>
                <a:spcPct val="150000"/>
              </a:lnSpc>
            </a:pPr>
            <a:r>
              <a:rPr lang="en-GB" dirty="0"/>
              <a:t>feeling very tired</a:t>
            </a:r>
          </a:p>
          <a:p>
            <a:pPr>
              <a:lnSpc>
                <a:spcPct val="150000"/>
              </a:lnSpc>
            </a:pPr>
            <a:r>
              <a:rPr lang="en-GB" dirty="0"/>
              <a:t>weight loss and loss of muscle bulk</a:t>
            </a:r>
          </a:p>
          <a:p>
            <a:pPr>
              <a:lnSpc>
                <a:spcPct val="150000"/>
              </a:lnSpc>
            </a:pPr>
            <a:r>
              <a:rPr lang="en-GB" dirty="0"/>
              <a:t>itching, or frequent episodes of thrush</a:t>
            </a:r>
          </a:p>
          <a:p>
            <a:pPr>
              <a:lnSpc>
                <a:spcPct val="150000"/>
              </a:lnSpc>
            </a:pPr>
            <a:r>
              <a:rPr lang="en-GB" dirty="0"/>
              <a:t>blurred vision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-</a:t>
            </a:r>
            <a:r>
              <a:rPr lang="en-GB" u="sng" dirty="0"/>
              <a:t>Screening e.g. NHS Health Check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B540EE-943F-34D5-C93A-84F6843642D8}"/>
              </a:ext>
            </a:extLst>
          </p:cNvPr>
          <p:cNvSpPr txBox="1"/>
          <p:nvPr/>
        </p:nvSpPr>
        <p:spPr>
          <a:xfrm>
            <a:off x="453763" y="2064453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Symptoms</a:t>
            </a:r>
            <a:endParaRPr lang="en-GB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0619E76-DC5B-EDFC-9DC0-16DF6244DF1B}"/>
              </a:ext>
            </a:extLst>
          </p:cNvPr>
          <p:cNvSpPr txBox="1"/>
          <p:nvPr/>
        </p:nvSpPr>
        <p:spPr>
          <a:xfrm>
            <a:off x="4139147" y="1801671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Tests</a:t>
            </a:r>
            <a:endParaRPr lang="en-GB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CB50258-1A4D-A86B-8A7B-00129E8A3E05}"/>
              </a:ext>
            </a:extLst>
          </p:cNvPr>
          <p:cNvSpPr txBox="1"/>
          <p:nvPr/>
        </p:nvSpPr>
        <p:spPr>
          <a:xfrm>
            <a:off x="4867853" y="1829143"/>
            <a:ext cx="381764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 random venous plasma glucose concentration ≥ 11.1 mmol/l or</a:t>
            </a:r>
          </a:p>
          <a:p>
            <a:endParaRPr lang="en-GB" dirty="0"/>
          </a:p>
          <a:p>
            <a:r>
              <a:rPr lang="en-GB" dirty="0"/>
              <a:t>a fasting plasma glucose concentration ≥ 7.0 mmol/l (whole blood ≥ 6.1 mmol/l) or</a:t>
            </a:r>
          </a:p>
          <a:p>
            <a:endParaRPr lang="en-GB" dirty="0"/>
          </a:p>
          <a:p>
            <a:r>
              <a:rPr lang="en-GB" dirty="0"/>
              <a:t>two hour plasma glucose concentration ≥ 11.1 mmol/l two hours after 75g anhydrous glucose in an oral glucose tolerance test (OGTT).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5BF95C0-32FD-B1F0-A86F-CBD6BE5D2FB4}"/>
              </a:ext>
            </a:extLst>
          </p:cNvPr>
          <p:cNvSpPr txBox="1"/>
          <p:nvPr/>
        </p:nvSpPr>
        <p:spPr>
          <a:xfrm>
            <a:off x="4867853" y="5116265"/>
            <a:ext cx="46542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With no symptoms diagnosis should not be based on a single glucose determination but requires confirmatory plasma venous determination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5EFFF89-0449-25C2-2DC8-DBB58BD6A11D}"/>
              </a:ext>
            </a:extLst>
          </p:cNvPr>
          <p:cNvSpPr txBox="1"/>
          <p:nvPr/>
        </p:nvSpPr>
        <p:spPr>
          <a:xfrm>
            <a:off x="8974742" y="1833620"/>
            <a:ext cx="30316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An HbA1c of 48mmol/mol (6.5%) is recommended as the cut off point for diagnosing diabetes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FAFA28B-80AE-289E-7C5A-E3A346C17493}"/>
              </a:ext>
            </a:extLst>
          </p:cNvPr>
          <p:cNvSpPr txBox="1"/>
          <p:nvPr/>
        </p:nvSpPr>
        <p:spPr>
          <a:xfrm>
            <a:off x="9947417" y="4362993"/>
            <a:ext cx="21597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413418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91D6497-F8F2-41A3-8933-3606E7380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ea typeface="+mn-ea"/>
              </a:rPr>
              <a:t>Diabetes in Real life</a:t>
            </a:r>
            <a:endParaRPr lang="en-GB" kern="1200" dirty="0">
              <a:ea typeface="+mn-e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E8A6-16E0-4451-A025-0E8CEE037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88" y="930490"/>
            <a:ext cx="11828718" cy="89143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happens then? </a:t>
            </a:r>
          </a:p>
          <a:p>
            <a:pPr marL="0" indent="0">
              <a:lnSpc>
                <a:spcPct val="150000"/>
              </a:lnSpc>
              <a:buNone/>
            </a:pPr>
            <a:endParaRPr lang="de-DE" sz="4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3" indent="0">
              <a:lnSpc>
                <a:spcPct val="150000"/>
              </a:lnSpc>
              <a:buNone/>
            </a:pPr>
            <a:endParaRPr lang="de-DE" sz="4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de-DE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AB5178B-6E58-6F94-FC5C-B7CD4E233B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4487" y="8931"/>
            <a:ext cx="921559" cy="92155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9EC2C21-78CE-2BD6-DD2E-84B0A0A73152}"/>
              </a:ext>
            </a:extLst>
          </p:cNvPr>
          <p:cNvSpPr txBox="1"/>
          <p:nvPr/>
        </p:nvSpPr>
        <p:spPr>
          <a:xfrm>
            <a:off x="220289" y="2511901"/>
            <a:ext cx="3918857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Diet and exercise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Insulin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Tablets: Metformin and others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Weight loss surgery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B540EE-943F-34D5-C93A-84F6843642D8}"/>
              </a:ext>
            </a:extLst>
          </p:cNvPr>
          <p:cNvSpPr txBox="1"/>
          <p:nvPr/>
        </p:nvSpPr>
        <p:spPr>
          <a:xfrm>
            <a:off x="453763" y="2064453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  <a:endParaRPr lang="en-GB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0619E76-DC5B-EDFC-9DC0-16DF6244DF1B}"/>
              </a:ext>
            </a:extLst>
          </p:cNvPr>
          <p:cNvSpPr txBox="1"/>
          <p:nvPr/>
        </p:nvSpPr>
        <p:spPr>
          <a:xfrm>
            <a:off x="4139146" y="1801671"/>
            <a:ext cx="3113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Complications</a:t>
            </a:r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Long </a:t>
            </a:r>
            <a:r>
              <a:rPr lang="de-DE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</a:t>
            </a:r>
            <a:endParaRPr lang="en-GB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D2EE7C3-7F74-BE57-6748-ECB4E237E04E}"/>
              </a:ext>
            </a:extLst>
          </p:cNvPr>
          <p:cNvSpPr txBox="1"/>
          <p:nvPr/>
        </p:nvSpPr>
        <p:spPr>
          <a:xfrm>
            <a:off x="3916018" y="2249119"/>
            <a:ext cx="4237956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Eye problems – retinopathy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Foot problems – Diabetic foot disease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Heart attack and stroke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Kidney problems - nephropathy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Nerve damage - neuropathy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Gum disease and other mouth problems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Related conditions, like cancer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Sexual and genitourinary problems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03554B7-D87F-0247-7949-2F32F5569E7A}"/>
              </a:ext>
            </a:extLst>
          </p:cNvPr>
          <p:cNvSpPr txBox="1"/>
          <p:nvPr/>
        </p:nvSpPr>
        <p:spPr>
          <a:xfrm>
            <a:off x="8752115" y="1863715"/>
            <a:ext cx="2874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Short-term problems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9C5508A-D333-868A-320B-3114A79BC75C}"/>
              </a:ext>
            </a:extLst>
          </p:cNvPr>
          <p:cNvSpPr txBox="1"/>
          <p:nvPr/>
        </p:nvSpPr>
        <p:spPr>
          <a:xfrm>
            <a:off x="8478079" y="2364383"/>
            <a:ext cx="3713922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Hypos –blood sugars are too 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Hypers– blood sugars are too high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Hyperosmolar Hyperglycaemia – emergency by severe dehydration and very high blood sugars.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Diabetic ketoacidosis</a:t>
            </a:r>
          </a:p>
        </p:txBody>
      </p:sp>
    </p:spTree>
    <p:extLst>
      <p:ext uri="{BB962C8B-B14F-4D97-AF65-F5344CB8AC3E}">
        <p14:creationId xmlns:p14="http://schemas.microsoft.com/office/powerpoint/2010/main" val="4211999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91D6497-F8F2-41A3-8933-3606E7380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ea typeface="+mn-ea"/>
              </a:rPr>
              <a:t>Diabetes in RWD</a:t>
            </a:r>
            <a:endParaRPr lang="en-GB" kern="1200" dirty="0">
              <a:ea typeface="+mn-ea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AB5178B-6E58-6F94-FC5C-B7CD4E233B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2176" y="86414"/>
            <a:ext cx="786735" cy="78673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5591335-BA3C-EC85-CF43-E484D82C61B6}"/>
              </a:ext>
            </a:extLst>
          </p:cNvPr>
          <p:cNvSpPr txBox="1"/>
          <p:nvPr/>
        </p:nvSpPr>
        <p:spPr>
          <a:xfrm>
            <a:off x="926768" y="1257498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Symptoms</a:t>
            </a:r>
            <a:endParaRPr lang="en-GB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5F30466-85B2-512B-643B-0848883ED7BA}"/>
              </a:ext>
            </a:extLst>
          </p:cNvPr>
          <p:cNvSpPr txBox="1"/>
          <p:nvPr/>
        </p:nvSpPr>
        <p:spPr>
          <a:xfrm>
            <a:off x="5684409" y="1257498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Tests</a:t>
            </a:r>
            <a:endParaRPr lang="en-GB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82CBE6F-7AE2-5820-200D-C307C45CBB9C}"/>
              </a:ext>
            </a:extLst>
          </p:cNvPr>
          <p:cNvSpPr txBox="1"/>
          <p:nvPr/>
        </p:nvSpPr>
        <p:spPr>
          <a:xfrm>
            <a:off x="1126147" y="4132709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  <a:endParaRPr lang="en-GB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27E8237-CB95-3B28-4101-BAB49CEB9DFB}"/>
              </a:ext>
            </a:extLst>
          </p:cNvPr>
          <p:cNvSpPr txBox="1"/>
          <p:nvPr/>
        </p:nvSpPr>
        <p:spPr>
          <a:xfrm>
            <a:off x="9534525" y="1257498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endParaRPr lang="en-GB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1759485-093D-CD9C-E159-9D115E3D6DD2}"/>
              </a:ext>
            </a:extLst>
          </p:cNvPr>
          <p:cNvSpPr txBox="1"/>
          <p:nvPr/>
        </p:nvSpPr>
        <p:spPr>
          <a:xfrm>
            <a:off x="5270514" y="4114291"/>
            <a:ext cx="6146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Long-term 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complications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B7CCF89-988B-E547-373B-02A200EB3870}"/>
              </a:ext>
            </a:extLst>
          </p:cNvPr>
          <p:cNvSpPr txBox="1"/>
          <p:nvPr/>
        </p:nvSpPr>
        <p:spPr>
          <a:xfrm>
            <a:off x="9273247" y="4120691"/>
            <a:ext cx="6146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Short-term 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complications</a:t>
            </a:r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DD2DFC13-F04A-4F10-DB16-595D1AF6954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4976" y="2002377"/>
            <a:ext cx="1362374" cy="1362374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70043013-E7A9-2C34-D52F-887E5F54B0D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2959" y="1995977"/>
            <a:ext cx="1375174" cy="1375174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0B0321AC-2E13-42AE-A978-E3F45A7895ED}"/>
              </a:ext>
            </a:extLst>
          </p:cNvPr>
          <p:cNvGrpSpPr/>
          <p:nvPr/>
        </p:nvGrpSpPr>
        <p:grpSpPr>
          <a:xfrm>
            <a:off x="729703" y="4670681"/>
            <a:ext cx="2007960" cy="1522932"/>
            <a:chOff x="7314706" y="4097612"/>
            <a:chExt cx="2686650" cy="2037683"/>
          </a:xfrm>
        </p:grpSpPr>
        <p:pic>
          <p:nvPicPr>
            <p:cNvPr id="25" name="Gráfico 24">
              <a:extLst>
                <a:ext uri="{FF2B5EF4-FFF2-40B4-BE49-F238E27FC236}">
                  <a16:creationId xmlns:a16="http://schemas.microsoft.com/office/drawing/2014/main" id="{F5499511-493C-0D73-B1FB-860AA6A3B097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05273" y="4239212"/>
              <a:ext cx="1896083" cy="1896083"/>
            </a:xfrm>
            <a:prstGeom prst="rect">
              <a:avLst/>
            </a:prstGeom>
          </p:spPr>
        </p:pic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BF6EE34B-F0FA-F3B4-458F-70E359E49793}"/>
                </a:ext>
              </a:extLst>
            </p:cNvPr>
            <p:cNvPicPr>
              <a:picLocks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20890252">
              <a:off x="7314706" y="4097612"/>
              <a:ext cx="1539891" cy="1539891"/>
            </a:xfrm>
            <a:prstGeom prst="rect">
              <a:avLst/>
            </a:prstGeom>
          </p:spPr>
        </p:pic>
      </p:grpSp>
      <p:pic>
        <p:nvPicPr>
          <p:cNvPr id="28" name="Gráfico 27">
            <a:extLst>
              <a:ext uri="{FF2B5EF4-FFF2-40B4-BE49-F238E27FC236}">
                <a16:creationId xmlns:a16="http://schemas.microsoft.com/office/drawing/2014/main" id="{0B403B69-42C1-9150-7CA3-1B662F87A670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56879" y="4833034"/>
            <a:ext cx="1198227" cy="1198227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3F4D1B13-0209-0A1C-53A8-FF7791D7F539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74322" y="4645923"/>
            <a:ext cx="1572448" cy="1572448"/>
          </a:xfrm>
          <a:prstGeom prst="rect">
            <a:avLst/>
          </a:prstGeom>
        </p:spPr>
      </p:pic>
      <p:grpSp>
        <p:nvGrpSpPr>
          <p:cNvPr id="31" name="Grupo 30">
            <a:extLst>
              <a:ext uri="{FF2B5EF4-FFF2-40B4-BE49-F238E27FC236}">
                <a16:creationId xmlns:a16="http://schemas.microsoft.com/office/drawing/2014/main" id="{83D37DF2-2EE5-0045-D7EF-5E82572DDDBE}"/>
              </a:ext>
            </a:extLst>
          </p:cNvPr>
          <p:cNvGrpSpPr/>
          <p:nvPr/>
        </p:nvGrpSpPr>
        <p:grpSpPr>
          <a:xfrm>
            <a:off x="4559427" y="2002377"/>
            <a:ext cx="2711454" cy="1362374"/>
            <a:chOff x="4129796" y="1931172"/>
            <a:chExt cx="2711454" cy="1362374"/>
          </a:xfrm>
        </p:grpSpPr>
        <p:pic>
          <p:nvPicPr>
            <p:cNvPr id="23" name="Gráfico 22">
              <a:extLst>
                <a:ext uri="{FF2B5EF4-FFF2-40B4-BE49-F238E27FC236}">
                  <a16:creationId xmlns:a16="http://schemas.microsoft.com/office/drawing/2014/main" id="{8EBCBA58-FA5C-52AA-E1AC-928BD82CF551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129796" y="1931172"/>
              <a:ext cx="1335406" cy="1335406"/>
            </a:xfrm>
            <a:prstGeom prst="rect">
              <a:avLst/>
            </a:prstGeom>
          </p:spPr>
        </p:pic>
        <p:pic>
          <p:nvPicPr>
            <p:cNvPr id="30" name="Gráfico 29">
              <a:extLst>
                <a:ext uri="{FF2B5EF4-FFF2-40B4-BE49-F238E27FC236}">
                  <a16:creationId xmlns:a16="http://schemas.microsoft.com/office/drawing/2014/main" id="{67726AA9-3DB1-7C37-5B25-861C66198C6B}"/>
                </a:ext>
              </a:extLst>
            </p:cNvPr>
            <p:cNvPicPr>
              <a:picLocks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478876" y="1931172"/>
              <a:ext cx="1362374" cy="13623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38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91D6497-F8F2-41A3-8933-3606E7380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ea typeface="+mn-ea"/>
              </a:rPr>
              <a:t>Diabetes in RWD</a:t>
            </a:r>
            <a:endParaRPr lang="en-GB" kern="1200" dirty="0">
              <a:ea typeface="+mn-ea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AB5178B-6E58-6F94-FC5C-B7CD4E233B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2176" y="86414"/>
            <a:ext cx="786735" cy="786735"/>
          </a:xfrm>
          <a:prstGeom prst="rect">
            <a:avLst/>
          </a:prstGeom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09CAE24F-7BBD-F5DB-E035-90400413E795}"/>
              </a:ext>
            </a:extLst>
          </p:cNvPr>
          <p:cNvGrpSpPr/>
          <p:nvPr/>
        </p:nvGrpSpPr>
        <p:grpSpPr>
          <a:xfrm>
            <a:off x="626788" y="1821925"/>
            <a:ext cx="10759669" cy="0"/>
            <a:chOff x="866274" y="1821925"/>
            <a:chExt cx="10759669" cy="0"/>
          </a:xfrm>
        </p:grpSpPr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E76C8F97-F918-78B6-B5B2-1D818BF7ACD4}"/>
                </a:ext>
              </a:extLst>
            </p:cNvPr>
            <p:cNvCxnSpPr>
              <a:cxnSpLocks/>
            </p:cNvCxnSpPr>
            <p:nvPr/>
          </p:nvCxnSpPr>
          <p:spPr>
            <a:xfrm>
              <a:off x="866274" y="1821925"/>
              <a:ext cx="10759669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3005CCA9-5EDF-0ED4-18CC-A74AE468B963}"/>
                </a:ext>
              </a:extLst>
            </p:cNvPr>
            <p:cNvCxnSpPr>
              <a:cxnSpLocks/>
            </p:cNvCxnSpPr>
            <p:nvPr/>
          </p:nvCxnSpPr>
          <p:spPr>
            <a:xfrm>
              <a:off x="3372176" y="1821925"/>
              <a:ext cx="8253767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8F19E1EE-E2A5-A6FB-E72C-E5BA4570F571}"/>
              </a:ext>
            </a:extLst>
          </p:cNvPr>
          <p:cNvGrpSpPr/>
          <p:nvPr/>
        </p:nvGrpSpPr>
        <p:grpSpPr>
          <a:xfrm>
            <a:off x="626788" y="2515173"/>
            <a:ext cx="10759669" cy="0"/>
            <a:chOff x="866274" y="1821925"/>
            <a:chExt cx="10759669" cy="0"/>
          </a:xfrm>
        </p:grpSpPr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D1DAEB8D-4411-6A3E-CD9E-B21C0C377BCE}"/>
                </a:ext>
              </a:extLst>
            </p:cNvPr>
            <p:cNvCxnSpPr>
              <a:cxnSpLocks/>
            </p:cNvCxnSpPr>
            <p:nvPr/>
          </p:nvCxnSpPr>
          <p:spPr>
            <a:xfrm>
              <a:off x="866274" y="1821925"/>
              <a:ext cx="10759669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353EA276-EE32-46E8-A162-9BA45F7C4CA3}"/>
                </a:ext>
              </a:extLst>
            </p:cNvPr>
            <p:cNvCxnSpPr>
              <a:cxnSpLocks/>
            </p:cNvCxnSpPr>
            <p:nvPr/>
          </p:nvCxnSpPr>
          <p:spPr>
            <a:xfrm>
              <a:off x="5223997" y="1821925"/>
              <a:ext cx="6401946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627B5A0-0725-05E2-725A-2A7251B13CD2}"/>
              </a:ext>
            </a:extLst>
          </p:cNvPr>
          <p:cNvCxnSpPr>
            <a:cxnSpLocks/>
          </p:cNvCxnSpPr>
          <p:nvPr/>
        </p:nvCxnSpPr>
        <p:spPr>
          <a:xfrm>
            <a:off x="1911302" y="3208421"/>
            <a:ext cx="947515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817DF7F-D2DB-298E-1153-52A71483EB75}"/>
              </a:ext>
            </a:extLst>
          </p:cNvPr>
          <p:cNvCxnSpPr>
            <a:cxnSpLocks/>
          </p:cNvCxnSpPr>
          <p:nvPr/>
        </p:nvCxnSpPr>
        <p:spPr>
          <a:xfrm>
            <a:off x="3132690" y="3208421"/>
            <a:ext cx="8253767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27B633A8-A43B-9FFC-37D7-D19013C08C75}"/>
              </a:ext>
            </a:extLst>
          </p:cNvPr>
          <p:cNvCxnSpPr>
            <a:cxnSpLocks/>
          </p:cNvCxnSpPr>
          <p:nvPr/>
        </p:nvCxnSpPr>
        <p:spPr>
          <a:xfrm>
            <a:off x="4241991" y="3901669"/>
            <a:ext cx="7144466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o 27">
            <a:extLst>
              <a:ext uri="{FF2B5EF4-FFF2-40B4-BE49-F238E27FC236}">
                <a16:creationId xmlns:a16="http://schemas.microsoft.com/office/drawing/2014/main" id="{28E9CAA8-6C65-C095-310A-95188C56C730}"/>
              </a:ext>
            </a:extLst>
          </p:cNvPr>
          <p:cNvGrpSpPr/>
          <p:nvPr/>
        </p:nvGrpSpPr>
        <p:grpSpPr>
          <a:xfrm>
            <a:off x="626788" y="4594917"/>
            <a:ext cx="10759669" cy="0"/>
            <a:chOff x="866274" y="1821925"/>
            <a:chExt cx="10759669" cy="0"/>
          </a:xfrm>
        </p:grpSpPr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0D3687FC-DC2C-AD97-6AE7-6C9877E31046}"/>
                </a:ext>
              </a:extLst>
            </p:cNvPr>
            <p:cNvCxnSpPr>
              <a:cxnSpLocks/>
            </p:cNvCxnSpPr>
            <p:nvPr/>
          </p:nvCxnSpPr>
          <p:spPr>
            <a:xfrm>
              <a:off x="866274" y="1821925"/>
              <a:ext cx="10759669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DF8656BE-0569-D024-2C3B-A6629A69B851}"/>
                </a:ext>
              </a:extLst>
            </p:cNvPr>
            <p:cNvCxnSpPr>
              <a:cxnSpLocks/>
            </p:cNvCxnSpPr>
            <p:nvPr/>
          </p:nvCxnSpPr>
          <p:spPr>
            <a:xfrm>
              <a:off x="3372176" y="1821925"/>
              <a:ext cx="8253767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4E56C71-B296-E49F-DC22-C9D2628BDF20}"/>
              </a:ext>
            </a:extLst>
          </p:cNvPr>
          <p:cNvCxnSpPr>
            <a:cxnSpLocks/>
          </p:cNvCxnSpPr>
          <p:nvPr/>
        </p:nvCxnSpPr>
        <p:spPr>
          <a:xfrm>
            <a:off x="3132690" y="5288165"/>
            <a:ext cx="8253767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6724EA75-5E89-81F2-8365-910D6B56B2DE}"/>
              </a:ext>
            </a:extLst>
          </p:cNvPr>
          <p:cNvCxnSpPr>
            <a:cxnSpLocks/>
          </p:cNvCxnSpPr>
          <p:nvPr/>
        </p:nvCxnSpPr>
        <p:spPr>
          <a:xfrm>
            <a:off x="5273269" y="5981414"/>
            <a:ext cx="6113188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áfico 37">
            <a:extLst>
              <a:ext uri="{FF2B5EF4-FFF2-40B4-BE49-F238E27FC236}">
                <a16:creationId xmlns:a16="http://schemas.microsoft.com/office/drawing/2014/main" id="{4F21AAF2-210E-632B-F933-7C77E170050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3093" y="1276538"/>
            <a:ext cx="339193" cy="339193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668DDCB9-4A72-7D22-09D6-D96AD961054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5726" y="1936512"/>
            <a:ext cx="457569" cy="457569"/>
          </a:xfrm>
          <a:prstGeom prst="rect">
            <a:avLst/>
          </a:prstGeom>
        </p:spPr>
      </p:pic>
      <p:pic>
        <p:nvPicPr>
          <p:cNvPr id="42" name="Gráfico 41">
            <a:extLst>
              <a:ext uri="{FF2B5EF4-FFF2-40B4-BE49-F238E27FC236}">
                <a16:creationId xmlns:a16="http://schemas.microsoft.com/office/drawing/2014/main" id="{A320603C-4826-19B0-D2E8-74BAD45FFA59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5172" y="1898426"/>
            <a:ext cx="533739" cy="533739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38F9CE69-05A5-AA6F-B521-6AFB5B5991E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110" y="1936512"/>
            <a:ext cx="517948" cy="517948"/>
          </a:xfrm>
          <a:prstGeom prst="rect">
            <a:avLst/>
          </a:prstGeom>
        </p:spPr>
      </p:pic>
      <p:grpSp>
        <p:nvGrpSpPr>
          <p:cNvPr id="44" name="Grupo 43">
            <a:extLst>
              <a:ext uri="{FF2B5EF4-FFF2-40B4-BE49-F238E27FC236}">
                <a16:creationId xmlns:a16="http://schemas.microsoft.com/office/drawing/2014/main" id="{FD74C7D5-E503-4A4A-33C4-AF52243455EC}"/>
              </a:ext>
            </a:extLst>
          </p:cNvPr>
          <p:cNvGrpSpPr/>
          <p:nvPr/>
        </p:nvGrpSpPr>
        <p:grpSpPr>
          <a:xfrm>
            <a:off x="2805448" y="2658030"/>
            <a:ext cx="654481" cy="496389"/>
            <a:chOff x="7314706" y="4097612"/>
            <a:chExt cx="2686650" cy="2037683"/>
          </a:xfrm>
        </p:grpSpPr>
        <p:pic>
          <p:nvPicPr>
            <p:cNvPr id="45" name="Gráfico 44">
              <a:extLst>
                <a:ext uri="{FF2B5EF4-FFF2-40B4-BE49-F238E27FC236}">
                  <a16:creationId xmlns:a16="http://schemas.microsoft.com/office/drawing/2014/main" id="{EAD2F4BA-F51F-DA66-7BCC-AFE9913F44EA}"/>
                </a:ext>
              </a:extLst>
            </p:cNvPr>
            <p:cNvPicPr>
              <a:picLocks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105273" y="4239212"/>
              <a:ext cx="1896083" cy="1896083"/>
            </a:xfrm>
            <a:prstGeom prst="rect">
              <a:avLst/>
            </a:prstGeom>
          </p:spPr>
        </p:pic>
        <p:pic>
          <p:nvPicPr>
            <p:cNvPr id="46" name="Gráfico 45">
              <a:extLst>
                <a:ext uri="{FF2B5EF4-FFF2-40B4-BE49-F238E27FC236}">
                  <a16:creationId xmlns:a16="http://schemas.microsoft.com/office/drawing/2014/main" id="{23847F48-DB47-A267-9E5F-FE7E10101809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20890252">
              <a:off x="7314706" y="4097612"/>
              <a:ext cx="1539891" cy="1539891"/>
            </a:xfrm>
            <a:prstGeom prst="rect">
              <a:avLst/>
            </a:prstGeom>
          </p:spPr>
        </p:pic>
      </p:grpSp>
      <p:pic>
        <p:nvPicPr>
          <p:cNvPr id="49" name="Gráfico 48">
            <a:extLst>
              <a:ext uri="{FF2B5EF4-FFF2-40B4-BE49-F238E27FC236}">
                <a16:creationId xmlns:a16="http://schemas.microsoft.com/office/drawing/2014/main" id="{A9AA4804-6AF5-3C97-603D-E9F60A15D1FA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20384" y="3333439"/>
            <a:ext cx="443213" cy="443213"/>
          </a:xfrm>
          <a:prstGeom prst="rect">
            <a:avLst/>
          </a:prstGeom>
        </p:spPr>
      </p:pic>
      <p:pic>
        <p:nvPicPr>
          <p:cNvPr id="50" name="Gráfico 49">
            <a:extLst>
              <a:ext uri="{FF2B5EF4-FFF2-40B4-BE49-F238E27FC236}">
                <a16:creationId xmlns:a16="http://schemas.microsoft.com/office/drawing/2014/main" id="{AD67ADAF-30A3-D71B-BD1A-785D33EA7CAF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1381073" y="3954837"/>
            <a:ext cx="461896" cy="461896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33642BDB-836E-F365-36D5-876F32BDB20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3425805" y="3994280"/>
            <a:ext cx="466236" cy="466236"/>
          </a:xfrm>
          <a:prstGeom prst="rect">
            <a:avLst/>
          </a:prstGeom>
        </p:spPr>
      </p:pic>
      <p:pic>
        <p:nvPicPr>
          <p:cNvPr id="54" name="Gráfico 53">
            <a:extLst>
              <a:ext uri="{FF2B5EF4-FFF2-40B4-BE49-F238E27FC236}">
                <a16:creationId xmlns:a16="http://schemas.microsoft.com/office/drawing/2014/main" id="{624C1E19-2F22-3B6D-99D9-3E050197128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2905601" y="4004049"/>
            <a:ext cx="461896" cy="461896"/>
          </a:xfrm>
          <a:prstGeom prst="rect">
            <a:avLst/>
          </a:prstGeom>
        </p:spPr>
      </p:pic>
      <p:grpSp>
        <p:nvGrpSpPr>
          <p:cNvPr id="55" name="Grupo 54">
            <a:extLst>
              <a:ext uri="{FF2B5EF4-FFF2-40B4-BE49-F238E27FC236}">
                <a16:creationId xmlns:a16="http://schemas.microsoft.com/office/drawing/2014/main" id="{2E222E7F-D6D9-867E-0468-ED94B6F0CE57}"/>
              </a:ext>
            </a:extLst>
          </p:cNvPr>
          <p:cNvGrpSpPr/>
          <p:nvPr/>
        </p:nvGrpSpPr>
        <p:grpSpPr>
          <a:xfrm>
            <a:off x="4122766" y="4027909"/>
            <a:ext cx="614725" cy="466236"/>
            <a:chOff x="7314706" y="4097612"/>
            <a:chExt cx="2686650" cy="2037683"/>
          </a:xfrm>
        </p:grpSpPr>
        <p:pic>
          <p:nvPicPr>
            <p:cNvPr id="56" name="Gráfico 55">
              <a:extLst>
                <a:ext uri="{FF2B5EF4-FFF2-40B4-BE49-F238E27FC236}">
                  <a16:creationId xmlns:a16="http://schemas.microsoft.com/office/drawing/2014/main" id="{41549252-45D0-04AD-D2CE-51520CAACD47}"/>
                </a:ext>
              </a:extLst>
            </p:cNvPr>
            <p:cNvPicPr>
              <a:picLocks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105273" y="4239212"/>
              <a:ext cx="1896083" cy="1896083"/>
            </a:xfrm>
            <a:prstGeom prst="rect">
              <a:avLst/>
            </a:prstGeom>
          </p:spPr>
        </p:pic>
        <p:pic>
          <p:nvPicPr>
            <p:cNvPr id="57" name="Gráfico 56">
              <a:extLst>
                <a:ext uri="{FF2B5EF4-FFF2-40B4-BE49-F238E27FC236}">
                  <a16:creationId xmlns:a16="http://schemas.microsoft.com/office/drawing/2014/main" id="{A3A8F56D-E6AC-5056-8D39-5130F10DA734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20890252">
              <a:off x="7314706" y="4097612"/>
              <a:ext cx="1539891" cy="1539891"/>
            </a:xfrm>
            <a:prstGeom prst="rect">
              <a:avLst/>
            </a:prstGeom>
          </p:spPr>
        </p:pic>
      </p:grpSp>
      <p:pic>
        <p:nvPicPr>
          <p:cNvPr id="58" name="Gráfico 57">
            <a:extLst>
              <a:ext uri="{FF2B5EF4-FFF2-40B4-BE49-F238E27FC236}">
                <a16:creationId xmlns:a16="http://schemas.microsoft.com/office/drawing/2014/main" id="{49775CA1-10E0-A7B3-8A5C-180BAAACB1FD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80897" y="4088585"/>
            <a:ext cx="405560" cy="405560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D8B6CDFD-5D87-626A-45F5-5C3AB12BA636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884322" y="4693174"/>
            <a:ext cx="496734" cy="496734"/>
          </a:xfrm>
          <a:prstGeom prst="rect">
            <a:avLst/>
          </a:prstGeom>
        </p:spPr>
      </p:pic>
      <p:pic>
        <p:nvPicPr>
          <p:cNvPr id="60" name="Gráfico 59">
            <a:extLst>
              <a:ext uri="{FF2B5EF4-FFF2-40B4-BE49-F238E27FC236}">
                <a16:creationId xmlns:a16="http://schemas.microsoft.com/office/drawing/2014/main" id="{29EC52D3-E47C-58C2-A870-62D1EA479EC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463597" y="4693174"/>
            <a:ext cx="466236" cy="466236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50F3ACF5-84D3-9EB4-85F9-A6AFDBE8FC1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661093" y="4685583"/>
            <a:ext cx="461896" cy="461896"/>
          </a:xfrm>
          <a:prstGeom prst="rect">
            <a:avLst/>
          </a:prstGeom>
        </p:spPr>
      </p:pic>
      <p:grpSp>
        <p:nvGrpSpPr>
          <p:cNvPr id="63" name="Grupo 62">
            <a:extLst>
              <a:ext uri="{FF2B5EF4-FFF2-40B4-BE49-F238E27FC236}">
                <a16:creationId xmlns:a16="http://schemas.microsoft.com/office/drawing/2014/main" id="{6F612528-6ABF-DB08-9A0E-D7D7EC65FEEF}"/>
              </a:ext>
            </a:extLst>
          </p:cNvPr>
          <p:cNvGrpSpPr/>
          <p:nvPr/>
        </p:nvGrpSpPr>
        <p:grpSpPr>
          <a:xfrm>
            <a:off x="4920561" y="5413183"/>
            <a:ext cx="654481" cy="496389"/>
            <a:chOff x="7314706" y="4097612"/>
            <a:chExt cx="2686650" cy="2037683"/>
          </a:xfrm>
        </p:grpSpPr>
        <p:pic>
          <p:nvPicPr>
            <p:cNvPr id="64" name="Gráfico 63">
              <a:extLst>
                <a:ext uri="{FF2B5EF4-FFF2-40B4-BE49-F238E27FC236}">
                  <a16:creationId xmlns:a16="http://schemas.microsoft.com/office/drawing/2014/main" id="{9E77DC81-BC26-7ED2-B4BE-5A54DC01FF4A}"/>
                </a:ext>
              </a:extLst>
            </p:cNvPr>
            <p:cNvPicPr>
              <a:picLocks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105273" y="4239212"/>
              <a:ext cx="1896083" cy="1896083"/>
            </a:xfrm>
            <a:prstGeom prst="rect">
              <a:avLst/>
            </a:prstGeom>
          </p:spPr>
        </p:pic>
        <p:pic>
          <p:nvPicPr>
            <p:cNvPr id="65" name="Gráfico 64">
              <a:extLst>
                <a:ext uri="{FF2B5EF4-FFF2-40B4-BE49-F238E27FC236}">
                  <a16:creationId xmlns:a16="http://schemas.microsoft.com/office/drawing/2014/main" id="{2D3E59BA-DD15-3559-B004-C368E2E9B847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20890252">
              <a:off x="7314706" y="4097612"/>
              <a:ext cx="1539891" cy="1539891"/>
            </a:xfrm>
            <a:prstGeom prst="rect">
              <a:avLst/>
            </a:prstGeom>
          </p:spPr>
        </p:pic>
      </p:grpSp>
      <p:pic>
        <p:nvPicPr>
          <p:cNvPr id="67" name="Imagen 66">
            <a:extLst>
              <a:ext uri="{FF2B5EF4-FFF2-40B4-BE49-F238E27FC236}">
                <a16:creationId xmlns:a16="http://schemas.microsoft.com/office/drawing/2014/main" id="{661565E3-DC62-8D1E-5A8D-1F13893D7473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r="39527"/>
          <a:stretch/>
        </p:blipFill>
        <p:spPr>
          <a:xfrm>
            <a:off x="8454227" y="1017722"/>
            <a:ext cx="3733508" cy="29485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19807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91D6497-F8F2-41A3-8933-3606E7380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ea typeface="+mn-ea"/>
              </a:rPr>
              <a:t>Diabetes in </a:t>
            </a:r>
            <a:r>
              <a:rPr lang="en-GB" dirty="0">
                <a:solidFill>
                  <a:srgbClr val="FF0000"/>
                </a:solidFill>
                <a:ea typeface="+mn-ea"/>
              </a:rPr>
              <a:t>Multiple Datasets</a:t>
            </a:r>
            <a:endParaRPr lang="en-GB" kern="1200" dirty="0">
              <a:solidFill>
                <a:srgbClr val="FF0000"/>
              </a:solidFill>
              <a:ea typeface="+mn-ea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AB5178B-6E58-6F94-FC5C-B7CD4E233B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2632" y="76790"/>
            <a:ext cx="786735" cy="78673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5591335-BA3C-EC85-CF43-E484D82C61B6}"/>
              </a:ext>
            </a:extLst>
          </p:cNvPr>
          <p:cNvSpPr txBox="1"/>
          <p:nvPr/>
        </p:nvSpPr>
        <p:spPr>
          <a:xfrm>
            <a:off x="926768" y="1257498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Symptoms</a:t>
            </a:r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5F30466-85B2-512B-643B-0848883ED7BA}"/>
              </a:ext>
            </a:extLst>
          </p:cNvPr>
          <p:cNvSpPr txBox="1"/>
          <p:nvPr/>
        </p:nvSpPr>
        <p:spPr>
          <a:xfrm>
            <a:off x="5684409" y="1257498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Tests</a:t>
            </a:r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82CBE6F-7AE2-5820-200D-C307C45CBB9C}"/>
              </a:ext>
            </a:extLst>
          </p:cNvPr>
          <p:cNvSpPr txBox="1"/>
          <p:nvPr/>
        </p:nvSpPr>
        <p:spPr>
          <a:xfrm>
            <a:off x="1126147" y="4132709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27E8237-CB95-3B28-4101-BAB49CEB9DFB}"/>
              </a:ext>
            </a:extLst>
          </p:cNvPr>
          <p:cNvSpPr txBox="1"/>
          <p:nvPr/>
        </p:nvSpPr>
        <p:spPr>
          <a:xfrm>
            <a:off x="9534525" y="1257498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1759485-093D-CD9C-E159-9D115E3D6DD2}"/>
              </a:ext>
            </a:extLst>
          </p:cNvPr>
          <p:cNvSpPr txBox="1"/>
          <p:nvPr/>
        </p:nvSpPr>
        <p:spPr>
          <a:xfrm>
            <a:off x="5284264" y="3968680"/>
            <a:ext cx="6146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Long-term </a:t>
            </a:r>
          </a:p>
          <a:p>
            <a:r>
              <a:rPr lang="en-GB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complications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B7CCF89-988B-E547-373B-02A200EB3870}"/>
              </a:ext>
            </a:extLst>
          </p:cNvPr>
          <p:cNvSpPr txBox="1"/>
          <p:nvPr/>
        </p:nvSpPr>
        <p:spPr>
          <a:xfrm>
            <a:off x="9307623" y="3968679"/>
            <a:ext cx="6146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Short-term </a:t>
            </a:r>
          </a:p>
          <a:p>
            <a:r>
              <a:rPr lang="en-GB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complications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C1F27FB-7076-B375-8C63-2E25B6994E17}"/>
              </a:ext>
            </a:extLst>
          </p:cNvPr>
          <p:cNvSpPr txBox="1"/>
          <p:nvPr/>
        </p:nvSpPr>
        <p:spPr>
          <a:xfrm>
            <a:off x="1236940" y="1866548"/>
            <a:ext cx="34672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eSH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Read (e.g. CPRD GOLD)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SNOMED (e.g. CPRD AURUM)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F74C62C-1712-2B21-CBE2-3D7A0115398D}"/>
              </a:ext>
            </a:extLst>
          </p:cNvPr>
          <p:cNvSpPr txBox="1"/>
          <p:nvPr/>
        </p:nvSpPr>
        <p:spPr>
          <a:xfrm>
            <a:off x="5545986" y="1820381"/>
            <a:ext cx="14987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Cpt4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Edi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MeSH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SNOMED</a:t>
            </a:r>
          </a:p>
          <a:p>
            <a:endParaRPr lang="en-GB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AE99F66-3AE7-9735-5DC3-14CEC359CD6E}"/>
              </a:ext>
            </a:extLst>
          </p:cNvPr>
          <p:cNvSpPr txBox="1"/>
          <p:nvPr/>
        </p:nvSpPr>
        <p:spPr>
          <a:xfrm>
            <a:off x="9709532" y="1779724"/>
            <a:ext cx="14987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eSH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</a:p>
          <a:p>
            <a:r>
              <a:rPr lang="en-GB" b="1" dirty="0"/>
              <a:t>SNOMED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4611BA6-F1DE-453A-BDA3-D08802FF9351}"/>
              </a:ext>
            </a:extLst>
          </p:cNvPr>
          <p:cNvSpPr txBox="1"/>
          <p:nvPr/>
        </p:nvSpPr>
        <p:spPr>
          <a:xfrm>
            <a:off x="5468687" y="4746398"/>
            <a:ext cx="14987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eSH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</a:p>
          <a:p>
            <a:r>
              <a:rPr lang="en-GB" b="1" dirty="0"/>
              <a:t>SNOMED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A99AD73-5410-E82B-DCE2-6FD24F719D87}"/>
              </a:ext>
            </a:extLst>
          </p:cNvPr>
          <p:cNvSpPr txBox="1"/>
          <p:nvPr/>
        </p:nvSpPr>
        <p:spPr>
          <a:xfrm>
            <a:off x="9698501" y="4753510"/>
            <a:ext cx="14987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eSH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</a:p>
          <a:p>
            <a:r>
              <a:rPr lang="en-GB" b="1" dirty="0"/>
              <a:t>SNOMED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4DFC73A-3403-62F0-6AF2-F0C6EDA542DD}"/>
              </a:ext>
            </a:extLst>
          </p:cNvPr>
          <p:cNvSpPr txBox="1"/>
          <p:nvPr/>
        </p:nvSpPr>
        <p:spPr>
          <a:xfrm>
            <a:off x="1318892" y="4615011"/>
            <a:ext cx="14987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Dm+d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MeSH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SNOMED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ATC</a:t>
            </a:r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763872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79F4C-5538-998E-D743-920B24444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D99E575-8E64-6F1C-AEDD-C363B9EB98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ea typeface="+mn-ea"/>
              </a:rPr>
              <a:t>Diabetes in </a:t>
            </a:r>
            <a:r>
              <a:rPr lang="en-GB" dirty="0">
                <a:solidFill>
                  <a:srgbClr val="FF0000"/>
                </a:solidFill>
                <a:ea typeface="+mn-ea"/>
              </a:rPr>
              <a:t>Multiple Datasets</a:t>
            </a:r>
            <a:endParaRPr lang="en-GB" kern="1200" dirty="0">
              <a:solidFill>
                <a:srgbClr val="FF0000"/>
              </a:solidFill>
              <a:ea typeface="+mn-ea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6858B07-DE31-A798-61CB-08763627466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2632" y="76790"/>
            <a:ext cx="786735" cy="78673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C51C948-6F27-980F-8419-7661FA9315F7}"/>
              </a:ext>
            </a:extLst>
          </p:cNvPr>
          <p:cNvSpPr txBox="1"/>
          <p:nvPr/>
        </p:nvSpPr>
        <p:spPr>
          <a:xfrm>
            <a:off x="926768" y="1257498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Symptoms</a:t>
            </a:r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46E324-CE52-2722-44A0-ACBFBCD33E57}"/>
              </a:ext>
            </a:extLst>
          </p:cNvPr>
          <p:cNvSpPr txBox="1"/>
          <p:nvPr/>
        </p:nvSpPr>
        <p:spPr>
          <a:xfrm>
            <a:off x="5684409" y="1257498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Tests</a:t>
            </a:r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BB9B70-6D4D-86E9-5194-810B8DC1C7CD}"/>
              </a:ext>
            </a:extLst>
          </p:cNvPr>
          <p:cNvSpPr txBox="1"/>
          <p:nvPr/>
        </p:nvSpPr>
        <p:spPr>
          <a:xfrm>
            <a:off x="1126147" y="4132709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0C3AB4D-2451-F0FB-979E-46F41E05CC93}"/>
              </a:ext>
            </a:extLst>
          </p:cNvPr>
          <p:cNvSpPr txBox="1"/>
          <p:nvPr/>
        </p:nvSpPr>
        <p:spPr>
          <a:xfrm>
            <a:off x="9534525" y="1257498"/>
            <a:ext cx="149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F256DD6-D840-36CF-93C0-5C553CDDE89E}"/>
              </a:ext>
            </a:extLst>
          </p:cNvPr>
          <p:cNvSpPr txBox="1"/>
          <p:nvPr/>
        </p:nvSpPr>
        <p:spPr>
          <a:xfrm>
            <a:off x="5284264" y="3968680"/>
            <a:ext cx="6146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Long-term </a:t>
            </a:r>
          </a:p>
          <a:p>
            <a:r>
              <a:rPr lang="en-GB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complications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66B647D-1978-BBBC-9456-20E9E0D06B0E}"/>
              </a:ext>
            </a:extLst>
          </p:cNvPr>
          <p:cNvSpPr txBox="1"/>
          <p:nvPr/>
        </p:nvSpPr>
        <p:spPr>
          <a:xfrm>
            <a:off x="9307623" y="3968679"/>
            <a:ext cx="6146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Short-term </a:t>
            </a:r>
          </a:p>
          <a:p>
            <a:r>
              <a:rPr lang="en-GB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complications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83B7DC2-367B-CDB2-8E75-713D55A7E759}"/>
              </a:ext>
            </a:extLst>
          </p:cNvPr>
          <p:cNvSpPr txBox="1"/>
          <p:nvPr/>
        </p:nvSpPr>
        <p:spPr>
          <a:xfrm>
            <a:off x="1236940" y="1866548"/>
            <a:ext cx="34672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eSH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Read (e.g. CPRD GOLD)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SNOMED (e.g. CPRD AURUM)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2C1B79-5211-4788-3297-830E0C0FE88B}"/>
              </a:ext>
            </a:extLst>
          </p:cNvPr>
          <p:cNvSpPr txBox="1"/>
          <p:nvPr/>
        </p:nvSpPr>
        <p:spPr>
          <a:xfrm>
            <a:off x="5545986" y="1820381"/>
            <a:ext cx="14987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Cpt4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Edi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MeSH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SNOMED</a:t>
            </a:r>
          </a:p>
          <a:p>
            <a:endParaRPr lang="en-GB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2811C5E-7F32-9082-7D02-FC5A23C21136}"/>
              </a:ext>
            </a:extLst>
          </p:cNvPr>
          <p:cNvSpPr txBox="1"/>
          <p:nvPr/>
        </p:nvSpPr>
        <p:spPr>
          <a:xfrm>
            <a:off x="9709532" y="1779724"/>
            <a:ext cx="14987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eSH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</a:p>
          <a:p>
            <a:r>
              <a:rPr lang="en-GB" b="1" dirty="0"/>
              <a:t>SNOMED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E028F7B-40EF-CDD6-2601-295BC53855E7}"/>
              </a:ext>
            </a:extLst>
          </p:cNvPr>
          <p:cNvSpPr txBox="1"/>
          <p:nvPr/>
        </p:nvSpPr>
        <p:spPr>
          <a:xfrm>
            <a:off x="5468687" y="4746398"/>
            <a:ext cx="14987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eSH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</a:p>
          <a:p>
            <a:r>
              <a:rPr lang="en-GB" b="1" dirty="0"/>
              <a:t>SNOMED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41E65E2-D5A8-D47F-4524-092435EC8F27}"/>
              </a:ext>
            </a:extLst>
          </p:cNvPr>
          <p:cNvSpPr txBox="1"/>
          <p:nvPr/>
        </p:nvSpPr>
        <p:spPr>
          <a:xfrm>
            <a:off x="9698501" y="4753510"/>
            <a:ext cx="14987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ICD-9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ICD-10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eSH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</a:p>
          <a:p>
            <a:r>
              <a:rPr lang="en-GB" b="1" dirty="0"/>
              <a:t>SNOMED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FE1573B-BA2C-40BC-EA9D-D853CAE591F0}"/>
              </a:ext>
            </a:extLst>
          </p:cNvPr>
          <p:cNvSpPr txBox="1"/>
          <p:nvPr/>
        </p:nvSpPr>
        <p:spPr>
          <a:xfrm>
            <a:off x="1318892" y="4615011"/>
            <a:ext cx="14987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Dm+d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MeSH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SNOMED</a:t>
            </a: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ATC</a:t>
            </a:r>
          </a:p>
          <a:p>
            <a:endParaRPr lang="en-GB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829783-72B1-7887-3615-3796705EE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545" y="1207916"/>
            <a:ext cx="1558404" cy="103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709251B-2A9B-EE0B-ACB7-567FD86ED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523" y="1442164"/>
            <a:ext cx="1710803" cy="113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4DB0E10-8919-2492-02EC-D62C0EE12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868" y="4983500"/>
            <a:ext cx="1670458" cy="1108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2D8A29F-7F49-1BA0-2543-DB7B402B9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665" y="4746398"/>
            <a:ext cx="1558403" cy="92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209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B18F4-DB49-B687-DEFC-2E5C63067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CE5B-A681-DD55-09E0-37A395CC6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D90C9-66D8-A1FD-2C3C-DC23BC5EC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88" y="2117035"/>
            <a:ext cx="10972801" cy="3810475"/>
          </a:xfrm>
        </p:spPr>
        <p:txBody>
          <a:bodyPr>
            <a:normAutofit/>
          </a:bodyPr>
          <a:lstStyle/>
          <a:p>
            <a:r>
              <a:rPr lang="en-US" sz="3200" dirty="0"/>
              <a:t>Phenotyping in RWD</a:t>
            </a:r>
          </a:p>
          <a:p>
            <a:r>
              <a:rPr lang="en-US" sz="3200" dirty="0"/>
              <a:t>Phenotyping </a:t>
            </a:r>
            <a:r>
              <a:rPr lang="en-US" sz="3200" dirty="0" err="1"/>
              <a:t>OMOPped</a:t>
            </a:r>
            <a:r>
              <a:rPr lang="en-US" sz="3200" dirty="0"/>
              <a:t> data</a:t>
            </a:r>
          </a:p>
          <a:p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The DARWIN EU® Phenotyping SOP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7176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3B4B1-815B-952D-4AA2-1B803BB3A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186EFB0-6A58-756A-4401-3022D27CCB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ea typeface="+mn-ea"/>
              </a:rPr>
              <a:t>Building blocks</a:t>
            </a:r>
            <a:endParaRPr lang="en-GB" kern="1200" dirty="0">
              <a:ea typeface="+mn-ea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3A12157-E056-9AA5-5905-188E83F835EE}"/>
              </a:ext>
            </a:extLst>
          </p:cNvPr>
          <p:cNvSpPr txBox="1"/>
          <p:nvPr/>
        </p:nvSpPr>
        <p:spPr>
          <a:xfrm>
            <a:off x="211748" y="4344458"/>
            <a:ext cx="5020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Cohorts / Phenotypes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08DE473-A84D-BD87-8CC3-5A87ABDDF1B3}"/>
              </a:ext>
            </a:extLst>
          </p:cNvPr>
          <p:cNvSpPr txBox="1"/>
          <p:nvPr/>
        </p:nvSpPr>
        <p:spPr>
          <a:xfrm>
            <a:off x="357273" y="1395600"/>
            <a:ext cx="5020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Concept </a:t>
            </a:r>
            <a:r>
              <a:rPr kumimoji="0" lang="de-DE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sets</a:t>
            </a:r>
            <a:r>
              <a:rPr kumimoji="0" lang="de-DE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/ Code </a:t>
            </a:r>
            <a:r>
              <a:rPr kumimoji="0" lang="de-DE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lists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9CAB9C9B-0128-BF69-4D73-5C6C4CC080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44" r="2985"/>
          <a:stretch/>
        </p:blipFill>
        <p:spPr>
          <a:xfrm>
            <a:off x="7782712" y="1327510"/>
            <a:ext cx="3419497" cy="242679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DF83B1AB-91A0-0F92-E3F5-A88D17B49D39}"/>
              </a:ext>
            </a:extLst>
          </p:cNvPr>
          <p:cNvSpPr txBox="1"/>
          <p:nvPr/>
        </p:nvSpPr>
        <p:spPr>
          <a:xfrm>
            <a:off x="1088335" y="1891584"/>
            <a:ext cx="5236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itchFamily="50" charset="0"/>
                <a:ea typeface="+mn-ea"/>
                <a:cs typeface="+mn-cs"/>
              </a:rPr>
              <a:t>List of codes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85B1DA2-834D-82C3-CD63-D95EC71A7375}"/>
              </a:ext>
            </a:extLst>
          </p:cNvPr>
          <p:cNvSpPr txBox="1"/>
          <p:nvPr/>
        </p:nvSpPr>
        <p:spPr>
          <a:xfrm>
            <a:off x="1794423" y="4942742"/>
            <a:ext cx="9900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itchFamily="50" charset="0"/>
                <a:ea typeface="+mn-ea"/>
                <a:cs typeface="+mn-cs"/>
              </a:rPr>
              <a:t> Set of persons who satisfy one or more inclusion criteria for a duration of time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ED91810-5749-3830-C25C-BC3538A9ADE3}"/>
              </a:ext>
            </a:extLst>
          </p:cNvPr>
          <p:cNvSpPr txBox="1"/>
          <p:nvPr/>
        </p:nvSpPr>
        <p:spPr>
          <a:xfrm>
            <a:off x="1842549" y="5462400"/>
            <a:ext cx="9900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itchFamily="50" charset="0"/>
                <a:ea typeface="+mn-ea"/>
                <a:cs typeface="+mn-cs"/>
              </a:rPr>
              <a:t>Usually: Concept set/s + logic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7C7FD47-9327-B033-19D1-E87A56600489}"/>
              </a:ext>
            </a:extLst>
          </p:cNvPr>
          <p:cNvSpPr txBox="1"/>
          <p:nvPr/>
        </p:nvSpPr>
        <p:spPr>
          <a:xfrm>
            <a:off x="1422441" y="2411242"/>
            <a:ext cx="583015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itchFamily="50" charset="0"/>
                <a:ea typeface="+mn-ea"/>
                <a:cs typeface="+mn-cs"/>
              </a:rPr>
              <a:t>Included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itchFamily="50" charset="0"/>
                <a:ea typeface="+mn-ea"/>
                <a:cs typeface="+mn-cs"/>
              </a:rPr>
              <a:t>Exclude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itchFamily="50" charset="0"/>
                <a:ea typeface="+mn-ea"/>
                <a:cs typeface="+mn-cs"/>
              </a:rPr>
              <a:t>: Exclude this concept (and any of its descendants if selected) from the concept set.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itchFamily="50" charset="0"/>
                <a:ea typeface="+mn-ea"/>
                <a:cs typeface="+mn-cs"/>
              </a:rPr>
              <a:t>Descendants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itchFamily="50" charset="0"/>
                <a:ea typeface="+mn-ea"/>
                <a:cs typeface="+mn-cs"/>
              </a:rPr>
              <a:t>: Consider not only this concept, but also all of its descendants.</a:t>
            </a:r>
          </a:p>
        </p:txBody>
      </p:sp>
    </p:spTree>
    <p:extLst>
      <p:ext uri="{BB962C8B-B14F-4D97-AF65-F5344CB8AC3E}">
        <p14:creationId xmlns:p14="http://schemas.microsoft.com/office/powerpoint/2010/main" val="2097744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298D7-7471-3933-6593-CC3D9B2B0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FB656EC-5420-826C-6D85-1017EE9B8E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ea typeface="+mn-ea"/>
              </a:rPr>
              <a:t>Diabetes Cohort/Phenotype</a:t>
            </a:r>
            <a:endParaRPr lang="en-GB" kern="1200" dirty="0">
              <a:ea typeface="+mn-ea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BA932F9-E643-9D5F-46DC-7473EF61DE2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110" y="166105"/>
            <a:ext cx="786735" cy="786735"/>
          </a:xfrm>
          <a:prstGeom prst="rect">
            <a:avLst/>
          </a:prstGeom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60A20D85-FA05-2977-3A19-24BB40980DF6}"/>
              </a:ext>
            </a:extLst>
          </p:cNvPr>
          <p:cNvGrpSpPr/>
          <p:nvPr/>
        </p:nvGrpSpPr>
        <p:grpSpPr>
          <a:xfrm>
            <a:off x="626788" y="1821925"/>
            <a:ext cx="10759669" cy="0"/>
            <a:chOff x="866274" y="1821925"/>
            <a:chExt cx="10759669" cy="0"/>
          </a:xfrm>
        </p:grpSpPr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0FF2EED2-21DE-2C90-9292-6F5192D1A31A}"/>
                </a:ext>
              </a:extLst>
            </p:cNvPr>
            <p:cNvCxnSpPr>
              <a:cxnSpLocks/>
            </p:cNvCxnSpPr>
            <p:nvPr/>
          </p:nvCxnSpPr>
          <p:spPr>
            <a:xfrm>
              <a:off x="866274" y="1821925"/>
              <a:ext cx="10759669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F0736A04-D849-D911-167C-3BCDB4BD90A4}"/>
                </a:ext>
              </a:extLst>
            </p:cNvPr>
            <p:cNvCxnSpPr>
              <a:cxnSpLocks/>
            </p:cNvCxnSpPr>
            <p:nvPr/>
          </p:nvCxnSpPr>
          <p:spPr>
            <a:xfrm>
              <a:off x="3372176" y="1821925"/>
              <a:ext cx="8253767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D85AA689-80C7-7BCF-5238-3F3BF44229D3}"/>
              </a:ext>
            </a:extLst>
          </p:cNvPr>
          <p:cNvGrpSpPr/>
          <p:nvPr/>
        </p:nvGrpSpPr>
        <p:grpSpPr>
          <a:xfrm>
            <a:off x="626788" y="2515173"/>
            <a:ext cx="10759669" cy="0"/>
            <a:chOff x="866274" y="1821925"/>
            <a:chExt cx="10759669" cy="0"/>
          </a:xfrm>
        </p:grpSpPr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392EA4E4-22C3-9497-FB27-CF2FB0ED7D91}"/>
                </a:ext>
              </a:extLst>
            </p:cNvPr>
            <p:cNvCxnSpPr>
              <a:cxnSpLocks/>
            </p:cNvCxnSpPr>
            <p:nvPr/>
          </p:nvCxnSpPr>
          <p:spPr>
            <a:xfrm>
              <a:off x="866274" y="1821925"/>
              <a:ext cx="10759669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0B9E6216-FF87-A9D1-F828-3CB3E0C795C3}"/>
                </a:ext>
              </a:extLst>
            </p:cNvPr>
            <p:cNvCxnSpPr>
              <a:cxnSpLocks/>
            </p:cNvCxnSpPr>
            <p:nvPr/>
          </p:nvCxnSpPr>
          <p:spPr>
            <a:xfrm>
              <a:off x="5223997" y="1821925"/>
              <a:ext cx="6401946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40331E9-D8A6-F152-7D28-CAF0111F8355}"/>
              </a:ext>
            </a:extLst>
          </p:cNvPr>
          <p:cNvCxnSpPr>
            <a:cxnSpLocks/>
          </p:cNvCxnSpPr>
          <p:nvPr/>
        </p:nvCxnSpPr>
        <p:spPr>
          <a:xfrm>
            <a:off x="1911302" y="3208421"/>
            <a:ext cx="947515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D3E2F598-00B9-27C0-01C8-88077A3407D2}"/>
              </a:ext>
            </a:extLst>
          </p:cNvPr>
          <p:cNvCxnSpPr>
            <a:cxnSpLocks/>
          </p:cNvCxnSpPr>
          <p:nvPr/>
        </p:nvCxnSpPr>
        <p:spPr>
          <a:xfrm>
            <a:off x="3132690" y="3208421"/>
            <a:ext cx="8253767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8B02CDB6-9DF0-E683-AB9D-B9805C287AB8}"/>
              </a:ext>
            </a:extLst>
          </p:cNvPr>
          <p:cNvCxnSpPr>
            <a:cxnSpLocks/>
          </p:cNvCxnSpPr>
          <p:nvPr/>
        </p:nvCxnSpPr>
        <p:spPr>
          <a:xfrm>
            <a:off x="4241991" y="3901669"/>
            <a:ext cx="7144466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o 27">
            <a:extLst>
              <a:ext uri="{FF2B5EF4-FFF2-40B4-BE49-F238E27FC236}">
                <a16:creationId xmlns:a16="http://schemas.microsoft.com/office/drawing/2014/main" id="{C41244AD-969E-DCF4-FD49-47F5C5531560}"/>
              </a:ext>
            </a:extLst>
          </p:cNvPr>
          <p:cNvGrpSpPr/>
          <p:nvPr/>
        </p:nvGrpSpPr>
        <p:grpSpPr>
          <a:xfrm>
            <a:off x="626788" y="4594917"/>
            <a:ext cx="10759669" cy="0"/>
            <a:chOff x="866274" y="1821925"/>
            <a:chExt cx="10759669" cy="0"/>
          </a:xfrm>
        </p:grpSpPr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FC784935-24AB-8B66-AFD6-F28C5C4C6BFD}"/>
                </a:ext>
              </a:extLst>
            </p:cNvPr>
            <p:cNvCxnSpPr>
              <a:cxnSpLocks/>
            </p:cNvCxnSpPr>
            <p:nvPr/>
          </p:nvCxnSpPr>
          <p:spPr>
            <a:xfrm>
              <a:off x="866274" y="1821925"/>
              <a:ext cx="10759669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887380B4-942B-B556-0471-41CE258054BC}"/>
                </a:ext>
              </a:extLst>
            </p:cNvPr>
            <p:cNvCxnSpPr>
              <a:cxnSpLocks/>
            </p:cNvCxnSpPr>
            <p:nvPr/>
          </p:nvCxnSpPr>
          <p:spPr>
            <a:xfrm>
              <a:off x="3372176" y="1821925"/>
              <a:ext cx="8253767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C1748C2-5225-A0E3-57A9-D1EDB0EB6BC4}"/>
              </a:ext>
            </a:extLst>
          </p:cNvPr>
          <p:cNvCxnSpPr>
            <a:cxnSpLocks/>
          </p:cNvCxnSpPr>
          <p:nvPr/>
        </p:nvCxnSpPr>
        <p:spPr>
          <a:xfrm>
            <a:off x="3132690" y="5288165"/>
            <a:ext cx="8253767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C18F7039-F3EE-4830-B6C7-55C7A37D31F9}"/>
              </a:ext>
            </a:extLst>
          </p:cNvPr>
          <p:cNvCxnSpPr>
            <a:cxnSpLocks/>
          </p:cNvCxnSpPr>
          <p:nvPr/>
        </p:nvCxnSpPr>
        <p:spPr>
          <a:xfrm>
            <a:off x="5273269" y="5981414"/>
            <a:ext cx="6113188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áfico 37">
            <a:extLst>
              <a:ext uri="{FF2B5EF4-FFF2-40B4-BE49-F238E27FC236}">
                <a16:creationId xmlns:a16="http://schemas.microsoft.com/office/drawing/2014/main" id="{0612D377-DB90-B124-EE5D-5B4DA6B9451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3093" y="1276538"/>
            <a:ext cx="339193" cy="339193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ABC04EBB-32F1-2AFD-625C-C5D95227243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5726" y="1936512"/>
            <a:ext cx="457569" cy="457569"/>
          </a:xfrm>
          <a:prstGeom prst="rect">
            <a:avLst/>
          </a:prstGeom>
        </p:spPr>
      </p:pic>
      <p:pic>
        <p:nvPicPr>
          <p:cNvPr id="42" name="Gráfico 41">
            <a:extLst>
              <a:ext uri="{FF2B5EF4-FFF2-40B4-BE49-F238E27FC236}">
                <a16:creationId xmlns:a16="http://schemas.microsoft.com/office/drawing/2014/main" id="{2A52AE65-3164-1CBC-4C20-49CF2D6C233E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5172" y="1898426"/>
            <a:ext cx="533739" cy="533739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79222383-D32B-9C46-DAC4-EF2EB331FBE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110" y="1936512"/>
            <a:ext cx="517948" cy="517948"/>
          </a:xfrm>
          <a:prstGeom prst="rect">
            <a:avLst/>
          </a:prstGeom>
        </p:spPr>
      </p:pic>
      <p:grpSp>
        <p:nvGrpSpPr>
          <p:cNvPr id="44" name="Grupo 43">
            <a:extLst>
              <a:ext uri="{FF2B5EF4-FFF2-40B4-BE49-F238E27FC236}">
                <a16:creationId xmlns:a16="http://schemas.microsoft.com/office/drawing/2014/main" id="{6F00E463-F1EC-17D0-8DE3-59FFF254C97A}"/>
              </a:ext>
            </a:extLst>
          </p:cNvPr>
          <p:cNvGrpSpPr/>
          <p:nvPr/>
        </p:nvGrpSpPr>
        <p:grpSpPr>
          <a:xfrm>
            <a:off x="2805448" y="2658030"/>
            <a:ext cx="654481" cy="496389"/>
            <a:chOff x="7314706" y="4097612"/>
            <a:chExt cx="2686650" cy="2037683"/>
          </a:xfrm>
        </p:grpSpPr>
        <p:pic>
          <p:nvPicPr>
            <p:cNvPr id="45" name="Gráfico 44">
              <a:extLst>
                <a:ext uri="{FF2B5EF4-FFF2-40B4-BE49-F238E27FC236}">
                  <a16:creationId xmlns:a16="http://schemas.microsoft.com/office/drawing/2014/main" id="{59DB8DB8-A4FF-39FA-420E-52399FE72F3A}"/>
                </a:ext>
              </a:extLst>
            </p:cNvPr>
            <p:cNvPicPr>
              <a:picLocks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105273" y="4239212"/>
              <a:ext cx="1896083" cy="1896083"/>
            </a:xfrm>
            <a:prstGeom prst="rect">
              <a:avLst/>
            </a:prstGeom>
          </p:spPr>
        </p:pic>
        <p:pic>
          <p:nvPicPr>
            <p:cNvPr id="46" name="Gráfico 45">
              <a:extLst>
                <a:ext uri="{FF2B5EF4-FFF2-40B4-BE49-F238E27FC236}">
                  <a16:creationId xmlns:a16="http://schemas.microsoft.com/office/drawing/2014/main" id="{57D58BF4-D0AC-B081-B3F8-6D26DD0ADA7B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20890252">
              <a:off x="7314706" y="4097612"/>
              <a:ext cx="1539891" cy="1539891"/>
            </a:xfrm>
            <a:prstGeom prst="rect">
              <a:avLst/>
            </a:prstGeom>
          </p:spPr>
        </p:pic>
      </p:grpSp>
      <p:pic>
        <p:nvPicPr>
          <p:cNvPr id="49" name="Gráfico 48">
            <a:extLst>
              <a:ext uri="{FF2B5EF4-FFF2-40B4-BE49-F238E27FC236}">
                <a16:creationId xmlns:a16="http://schemas.microsoft.com/office/drawing/2014/main" id="{F3944DE1-B988-A05E-8DFE-0393A1870700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20384" y="3333439"/>
            <a:ext cx="443213" cy="443213"/>
          </a:xfrm>
          <a:prstGeom prst="rect">
            <a:avLst/>
          </a:prstGeom>
        </p:spPr>
      </p:pic>
      <p:pic>
        <p:nvPicPr>
          <p:cNvPr id="50" name="Gráfico 49">
            <a:extLst>
              <a:ext uri="{FF2B5EF4-FFF2-40B4-BE49-F238E27FC236}">
                <a16:creationId xmlns:a16="http://schemas.microsoft.com/office/drawing/2014/main" id="{776233D5-837F-E8B1-B110-C96D4A74A5DD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1381073" y="3954837"/>
            <a:ext cx="461896" cy="461896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54A63B81-2546-D061-B7F4-1545CFB90B7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3425805" y="3994280"/>
            <a:ext cx="466236" cy="466236"/>
          </a:xfrm>
          <a:prstGeom prst="rect">
            <a:avLst/>
          </a:prstGeom>
        </p:spPr>
      </p:pic>
      <p:pic>
        <p:nvPicPr>
          <p:cNvPr id="54" name="Gráfico 53">
            <a:extLst>
              <a:ext uri="{FF2B5EF4-FFF2-40B4-BE49-F238E27FC236}">
                <a16:creationId xmlns:a16="http://schemas.microsoft.com/office/drawing/2014/main" id="{58CEFC60-EE87-CFC9-F87A-59BA4E8D217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2905601" y="4004049"/>
            <a:ext cx="461896" cy="461896"/>
          </a:xfrm>
          <a:prstGeom prst="rect">
            <a:avLst/>
          </a:prstGeom>
        </p:spPr>
      </p:pic>
      <p:grpSp>
        <p:nvGrpSpPr>
          <p:cNvPr id="55" name="Grupo 54">
            <a:extLst>
              <a:ext uri="{FF2B5EF4-FFF2-40B4-BE49-F238E27FC236}">
                <a16:creationId xmlns:a16="http://schemas.microsoft.com/office/drawing/2014/main" id="{CD079156-581C-E041-FAE5-0A0467606C88}"/>
              </a:ext>
            </a:extLst>
          </p:cNvPr>
          <p:cNvGrpSpPr/>
          <p:nvPr/>
        </p:nvGrpSpPr>
        <p:grpSpPr>
          <a:xfrm>
            <a:off x="4122766" y="4027909"/>
            <a:ext cx="614725" cy="466236"/>
            <a:chOff x="7314706" y="4097612"/>
            <a:chExt cx="2686650" cy="2037683"/>
          </a:xfrm>
        </p:grpSpPr>
        <p:pic>
          <p:nvPicPr>
            <p:cNvPr id="56" name="Gráfico 55">
              <a:extLst>
                <a:ext uri="{FF2B5EF4-FFF2-40B4-BE49-F238E27FC236}">
                  <a16:creationId xmlns:a16="http://schemas.microsoft.com/office/drawing/2014/main" id="{1439BEAC-DF35-661D-FE81-5BEE52F4E590}"/>
                </a:ext>
              </a:extLst>
            </p:cNvPr>
            <p:cNvPicPr>
              <a:picLocks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105273" y="4239212"/>
              <a:ext cx="1896083" cy="1896083"/>
            </a:xfrm>
            <a:prstGeom prst="rect">
              <a:avLst/>
            </a:prstGeom>
          </p:spPr>
        </p:pic>
        <p:pic>
          <p:nvPicPr>
            <p:cNvPr id="57" name="Gráfico 56">
              <a:extLst>
                <a:ext uri="{FF2B5EF4-FFF2-40B4-BE49-F238E27FC236}">
                  <a16:creationId xmlns:a16="http://schemas.microsoft.com/office/drawing/2014/main" id="{87859DD8-C082-5B2A-DCA2-1DC8F3567BC4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20890252">
              <a:off x="7314706" y="4097612"/>
              <a:ext cx="1539891" cy="1539891"/>
            </a:xfrm>
            <a:prstGeom prst="rect">
              <a:avLst/>
            </a:prstGeom>
          </p:spPr>
        </p:pic>
      </p:grpSp>
      <p:pic>
        <p:nvPicPr>
          <p:cNvPr id="58" name="Gráfico 57">
            <a:extLst>
              <a:ext uri="{FF2B5EF4-FFF2-40B4-BE49-F238E27FC236}">
                <a16:creationId xmlns:a16="http://schemas.microsoft.com/office/drawing/2014/main" id="{397B26AC-EEEC-E84D-465E-6766AFD3A6F0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80897" y="4088585"/>
            <a:ext cx="405560" cy="405560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170E5F7F-0278-2DF8-60D2-C81BB82ABFAB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884322" y="4693174"/>
            <a:ext cx="496734" cy="496734"/>
          </a:xfrm>
          <a:prstGeom prst="rect">
            <a:avLst/>
          </a:prstGeom>
        </p:spPr>
      </p:pic>
      <p:pic>
        <p:nvPicPr>
          <p:cNvPr id="60" name="Gráfico 59">
            <a:extLst>
              <a:ext uri="{FF2B5EF4-FFF2-40B4-BE49-F238E27FC236}">
                <a16:creationId xmlns:a16="http://schemas.microsoft.com/office/drawing/2014/main" id="{9C60526E-FDEB-17B6-EB07-E8C6C2DCB6B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463597" y="4693174"/>
            <a:ext cx="466236" cy="466236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4E78D732-B831-C121-5699-B164E546EBE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661093" y="4685583"/>
            <a:ext cx="461896" cy="461896"/>
          </a:xfrm>
          <a:prstGeom prst="rect">
            <a:avLst/>
          </a:prstGeom>
        </p:spPr>
      </p:pic>
      <p:grpSp>
        <p:nvGrpSpPr>
          <p:cNvPr id="63" name="Grupo 62">
            <a:extLst>
              <a:ext uri="{FF2B5EF4-FFF2-40B4-BE49-F238E27FC236}">
                <a16:creationId xmlns:a16="http://schemas.microsoft.com/office/drawing/2014/main" id="{093FF497-804B-7A0D-8A8F-6844A5CAA20F}"/>
              </a:ext>
            </a:extLst>
          </p:cNvPr>
          <p:cNvGrpSpPr/>
          <p:nvPr/>
        </p:nvGrpSpPr>
        <p:grpSpPr>
          <a:xfrm>
            <a:off x="4920561" y="5413183"/>
            <a:ext cx="654481" cy="496389"/>
            <a:chOff x="7314706" y="4097612"/>
            <a:chExt cx="2686650" cy="2037683"/>
          </a:xfrm>
        </p:grpSpPr>
        <p:pic>
          <p:nvPicPr>
            <p:cNvPr id="64" name="Gráfico 63">
              <a:extLst>
                <a:ext uri="{FF2B5EF4-FFF2-40B4-BE49-F238E27FC236}">
                  <a16:creationId xmlns:a16="http://schemas.microsoft.com/office/drawing/2014/main" id="{870EF7B6-EE56-E4F0-D830-74BD3CDCFA92}"/>
                </a:ext>
              </a:extLst>
            </p:cNvPr>
            <p:cNvPicPr>
              <a:picLocks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105273" y="4239212"/>
              <a:ext cx="1896083" cy="1896083"/>
            </a:xfrm>
            <a:prstGeom prst="rect">
              <a:avLst/>
            </a:prstGeom>
          </p:spPr>
        </p:pic>
        <p:pic>
          <p:nvPicPr>
            <p:cNvPr id="65" name="Gráfico 64">
              <a:extLst>
                <a:ext uri="{FF2B5EF4-FFF2-40B4-BE49-F238E27FC236}">
                  <a16:creationId xmlns:a16="http://schemas.microsoft.com/office/drawing/2014/main" id="{3CECCE83-A4E1-2970-7817-E910DBD12AA1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20890252">
              <a:off x="7314706" y="4097612"/>
              <a:ext cx="1539891" cy="1539891"/>
            </a:xfrm>
            <a:prstGeom prst="rect">
              <a:avLst/>
            </a:prstGeom>
          </p:spPr>
        </p:pic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CEBAAA75-9860-4E8A-394F-01EFDA17A693}"/>
              </a:ext>
            </a:extLst>
          </p:cNvPr>
          <p:cNvSpPr/>
          <p:nvPr/>
        </p:nvSpPr>
        <p:spPr>
          <a:xfrm>
            <a:off x="2770982" y="3827727"/>
            <a:ext cx="6997397" cy="927276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2964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552B8-C36A-E9A4-621A-8A9F4AA48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D957-3D7B-B293-9C86-FC9C0E14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8B2B-636D-46F4-F483-D7A6273B9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88" y="2117035"/>
            <a:ext cx="10972801" cy="3810475"/>
          </a:xfrm>
        </p:spPr>
        <p:txBody>
          <a:bodyPr>
            <a:normAutofit/>
          </a:bodyPr>
          <a:lstStyle/>
          <a:p>
            <a:r>
              <a:rPr lang="en-US" sz="3200" dirty="0"/>
              <a:t>Phenotyping in RWD</a:t>
            </a:r>
          </a:p>
          <a:p>
            <a:r>
              <a:rPr lang="en-US" sz="3200" dirty="0"/>
              <a:t>Phenotyping </a:t>
            </a:r>
            <a:r>
              <a:rPr lang="en-US" sz="3200" dirty="0" err="1"/>
              <a:t>OMOPped</a:t>
            </a:r>
            <a:r>
              <a:rPr lang="en-US" sz="3200" dirty="0"/>
              <a:t> data</a:t>
            </a:r>
          </a:p>
          <a:p>
            <a:r>
              <a:rPr lang="en-US" sz="3200" b="1" dirty="0"/>
              <a:t>The DARWIN EU® Phenotyping SOP</a:t>
            </a:r>
            <a:endParaRPr lang="en-US" sz="3200" b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63548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7">
            <a:extLst>
              <a:ext uri="{FF2B5EF4-FFF2-40B4-BE49-F238E27FC236}">
                <a16:creationId xmlns:a16="http://schemas.microsoft.com/office/drawing/2014/main" id="{2369D290-5AA1-468A-947C-4FF259AFDD2F}"/>
              </a:ext>
            </a:extLst>
          </p:cNvPr>
          <p:cNvSpPr txBox="1">
            <a:spLocks/>
          </p:cNvSpPr>
          <p:nvPr/>
        </p:nvSpPr>
        <p:spPr bwMode="auto">
          <a:xfrm>
            <a:off x="478368" y="1127127"/>
            <a:ext cx="4359485" cy="339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l" eaLnBrk="1" hangingPunct="1">
              <a:lnSpc>
                <a:spcPct val="100000"/>
              </a:lnSpc>
              <a:defRPr sz="1800" ker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eaLnBrk="1" hangingPunct="1">
              <a:lnSpc>
                <a:spcPts val="3600"/>
              </a:lnSpc>
              <a:defRPr sz="2800">
                <a:solidFill>
                  <a:schemeClr val="tx2"/>
                </a:solidFill>
              </a:defRPr>
            </a:lvl2pPr>
            <a:lvl3pPr algn="l" eaLnBrk="1" hangingPunct="1">
              <a:lnSpc>
                <a:spcPts val="3600"/>
              </a:lnSpc>
              <a:defRPr sz="2800">
                <a:solidFill>
                  <a:schemeClr val="tx2"/>
                </a:solidFill>
              </a:defRPr>
            </a:lvl3pPr>
            <a:lvl4pPr algn="l" eaLnBrk="1" hangingPunct="1">
              <a:lnSpc>
                <a:spcPts val="3600"/>
              </a:lnSpc>
              <a:defRPr sz="2800">
                <a:solidFill>
                  <a:schemeClr val="tx2"/>
                </a:solidFill>
              </a:defRPr>
            </a:lvl4pPr>
            <a:lvl5pPr algn="l" eaLnBrk="1" hangingPunct="1">
              <a:lnSpc>
                <a:spcPts val="3600"/>
              </a:lnSpc>
              <a:defRPr sz="2800">
                <a:solidFill>
                  <a:schemeClr val="tx2"/>
                </a:solidFill>
              </a:defRPr>
            </a:lvl5pPr>
            <a:lvl6pPr marL="457200" fontAlgn="base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</a:defRPr>
            </a:lvl6pPr>
            <a:lvl7pPr marL="914400" fontAlgn="base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</a:defRPr>
            </a:lvl7pPr>
            <a:lvl8pPr marL="1371600" fontAlgn="base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</a:defRPr>
            </a:lvl8pPr>
            <a:lvl9pPr marL="1828800" fontAlgn="base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67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Verdana"/>
                <a:ea typeface="+mj-ea"/>
                <a:cs typeface="Arial"/>
              </a:rPr>
              <a:t>DARWIN EU® is a federated </a:t>
            </a:r>
            <a:r>
              <a:rPr kumimoji="0" lang="en-US" sz="2267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Verdana"/>
                <a:ea typeface="+mj-ea"/>
                <a:cs typeface="Arial"/>
              </a:rPr>
              <a:t>network</a:t>
            </a:r>
            <a:r>
              <a:rPr kumimoji="0" lang="en-US" sz="2267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Verdana"/>
                <a:ea typeface="+mj-ea"/>
                <a:cs typeface="Arial"/>
              </a:rPr>
              <a:t> of </a:t>
            </a:r>
            <a:r>
              <a:rPr kumimoji="0" lang="en-US" sz="2267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Verdana"/>
                <a:ea typeface="+mj-ea"/>
                <a:cs typeface="Arial"/>
              </a:rPr>
              <a:t>data</a:t>
            </a:r>
            <a:r>
              <a:rPr kumimoji="0" lang="en-US" sz="2267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Verdana"/>
                <a:ea typeface="+mj-ea"/>
                <a:cs typeface="Arial"/>
              </a:rPr>
              <a:t>, </a:t>
            </a:r>
            <a:r>
              <a:rPr kumimoji="0" lang="en-US" sz="2267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Verdana"/>
                <a:ea typeface="+mj-ea"/>
                <a:cs typeface="Arial"/>
              </a:rPr>
              <a:t>expertise</a:t>
            </a:r>
            <a:r>
              <a:rPr kumimoji="0" lang="en-US" sz="2267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Verdana"/>
                <a:ea typeface="+mj-ea"/>
                <a:cs typeface="Arial"/>
              </a:rPr>
              <a:t> and </a:t>
            </a:r>
            <a:r>
              <a:rPr kumimoji="0" lang="en-US" sz="2267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Verdana"/>
                <a:ea typeface="+mj-ea"/>
                <a:cs typeface="Arial"/>
              </a:rPr>
              <a:t>services</a:t>
            </a:r>
            <a:r>
              <a:rPr kumimoji="0" lang="en-US" sz="2267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Verdana"/>
                <a:ea typeface="+mj-ea"/>
                <a:cs typeface="Arial"/>
              </a:rPr>
              <a:t> that supports better decision-making throughout the product lifecycle by generating reliable </a:t>
            </a:r>
            <a:r>
              <a:rPr kumimoji="0" lang="en-US" sz="2267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Verdana"/>
                <a:ea typeface="+mj-ea"/>
                <a:cs typeface="Arial"/>
              </a:rPr>
              <a:t>evidence from real world healthcare data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516193-72F9-482F-9A66-BD2DF2D37285}"/>
              </a:ext>
            </a:extLst>
          </p:cNvPr>
          <p:cNvSpPr/>
          <p:nvPr/>
        </p:nvSpPr>
        <p:spPr bwMode="auto">
          <a:xfrm>
            <a:off x="478368" y="4853886"/>
            <a:ext cx="4359485" cy="1312141"/>
          </a:xfrm>
          <a:prstGeom prst="rect">
            <a:avLst/>
          </a:prstGeom>
          <a:solidFill>
            <a:srgbClr val="CCD6EB"/>
          </a:solidFill>
          <a:ln w="9525" cap="flat" cmpd="sng" algn="ctr">
            <a:noFill/>
            <a:prstDash val="solid"/>
            <a:round/>
            <a:headEnd type="none" w="med" len="med"/>
            <a:tailEnd type="triangle" w="lg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BE" sz="133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Arial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7E8BF9-0A17-4081-9B60-3F2AD7E3C9CC}"/>
              </a:ext>
            </a:extLst>
          </p:cNvPr>
          <p:cNvSpPr txBox="1"/>
          <p:nvPr/>
        </p:nvSpPr>
        <p:spPr>
          <a:xfrm>
            <a:off x="416116" y="4934063"/>
            <a:ext cx="4483989" cy="97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6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FEDERATED NETWORK PRINCIPLES</a:t>
            </a:r>
          </a:p>
          <a:p>
            <a:pPr marL="228594" marR="0" lvl="0" indent="-228594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Arial" charset="0"/>
              </a:rPr>
              <a:t>ata stays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Arial" charset="0"/>
              </a:rPr>
              <a:t>local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Arial" charset="0"/>
              </a:rPr>
              <a:t> </a:t>
            </a:r>
          </a:p>
          <a:p>
            <a:pPr marL="228594" marR="0" lvl="0" indent="-228594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Use of C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Arial" charset="0"/>
              </a:rPr>
              <a:t>ommon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D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Arial" charset="0"/>
              </a:rPr>
              <a:t>ata Model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to perform studies in a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Arial" charset="0"/>
              </a:rPr>
              <a:t>timely manner and increase consistency of results</a:t>
            </a:r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2A1EA3-1FDC-8B9C-E783-C620FA714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932" y="1127127"/>
            <a:ext cx="6046577" cy="4194813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5462F04-B21C-4720-845D-BA6F9D17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486" y="6405563"/>
            <a:ext cx="410633" cy="239712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468437-DC6C-443C-8387-7F3DABA73C17}" type="slidenum">
              <a:rPr kumimoji="0" lang="en-GB" altLang="en-US" sz="110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altLang="en-US" sz="110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3577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352FC-73D5-BCEA-0129-65483819A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 and Tools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AC79F7-7625-2494-B641-E959D39585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41" t="30967" r="27796" b="24582"/>
          <a:stretch>
            <a:fillRect/>
          </a:stretch>
        </p:blipFill>
        <p:spPr>
          <a:xfrm>
            <a:off x="2206957" y="1047975"/>
            <a:ext cx="6974112" cy="500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17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A01A6AE8-DAEC-A1E7-8B80-5D4C4D347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824949"/>
            <a:ext cx="7800975" cy="577010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642C20-157E-8CED-C3BE-3F2B831710D7}"/>
              </a:ext>
            </a:extLst>
          </p:cNvPr>
          <p:cNvSpPr/>
          <p:nvPr/>
        </p:nvSpPr>
        <p:spPr>
          <a:xfrm>
            <a:off x="6772274" y="338504"/>
            <a:ext cx="1438275" cy="2114550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38F7A-DA6E-9737-C857-BB867B683D40}"/>
              </a:ext>
            </a:extLst>
          </p:cNvPr>
          <p:cNvSpPr txBox="1"/>
          <p:nvPr/>
        </p:nvSpPr>
        <p:spPr>
          <a:xfrm>
            <a:off x="6772274" y="455617"/>
            <a:ext cx="1438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0C0"/>
                </a:solidFill>
                <a:latin typeface="FoundrySterling-Bold" panose="020007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5. DECK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14D175-2B83-11C8-BE3B-884411E3AB15}"/>
              </a:ext>
            </a:extLst>
          </p:cNvPr>
          <p:cNvSpPr/>
          <p:nvPr/>
        </p:nvSpPr>
        <p:spPr>
          <a:xfrm>
            <a:off x="9085259" y="338504"/>
            <a:ext cx="2465879" cy="2114550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CEABF-BDFF-4397-0E37-485658DC3B09}"/>
              </a:ext>
            </a:extLst>
          </p:cNvPr>
          <p:cNvSpPr txBox="1"/>
          <p:nvPr/>
        </p:nvSpPr>
        <p:spPr>
          <a:xfrm>
            <a:off x="9401902" y="455617"/>
            <a:ext cx="19304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METADATA DB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797AE2-6161-8F35-BE01-7F22F0141C53}"/>
              </a:ext>
            </a:extLst>
          </p:cNvPr>
          <p:cNvSpPr txBox="1"/>
          <p:nvPr/>
        </p:nvSpPr>
        <p:spPr>
          <a:xfrm>
            <a:off x="9269047" y="942062"/>
            <a:ext cx="21887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Database that follows the process and contains data on all forms and decisions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DBDF5A-A274-4DE2-475B-F66D32A34936}"/>
              </a:ext>
            </a:extLst>
          </p:cNvPr>
          <p:cNvCxnSpPr/>
          <p:nvPr/>
        </p:nvCxnSpPr>
        <p:spPr>
          <a:xfrm flipH="1">
            <a:off x="8210549" y="824949"/>
            <a:ext cx="8747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81B9787-BC9E-4A5D-8E14-4797D044943E}"/>
              </a:ext>
            </a:extLst>
          </p:cNvPr>
          <p:cNvSpPr/>
          <p:nvPr/>
        </p:nvSpPr>
        <p:spPr>
          <a:xfrm>
            <a:off x="9085259" y="2822386"/>
            <a:ext cx="2465879" cy="663276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BAFE73-C206-506E-81C8-252A25470B76}"/>
              </a:ext>
            </a:extLst>
          </p:cNvPr>
          <p:cNvSpPr txBox="1"/>
          <p:nvPr/>
        </p:nvSpPr>
        <p:spPr>
          <a:xfrm>
            <a:off x="2296378" y="757396"/>
            <a:ext cx="1845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0C0"/>
                </a:solidFill>
                <a:latin typeface="FoundrySterling-Bold" panose="020007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1. PROPOSAL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E62CAA-7A68-8935-1628-EBCFDACED97B}"/>
              </a:ext>
            </a:extLst>
          </p:cNvPr>
          <p:cNvSpPr txBox="1"/>
          <p:nvPr/>
        </p:nvSpPr>
        <p:spPr>
          <a:xfrm>
            <a:off x="1433204" y="2231490"/>
            <a:ext cx="1845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2. COHORT EXISTS?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885709-0E2C-A3DF-7165-39B63FF075AA}"/>
              </a:ext>
            </a:extLst>
          </p:cNvPr>
          <p:cNvSpPr txBox="1"/>
          <p:nvPr/>
        </p:nvSpPr>
        <p:spPr>
          <a:xfrm>
            <a:off x="1155759" y="6235114"/>
            <a:ext cx="1845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3. CODELIST GENERATION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5BC71C-5304-89B9-B717-040DBBF593C4}"/>
              </a:ext>
            </a:extLst>
          </p:cNvPr>
          <p:cNvSpPr txBox="1"/>
          <p:nvPr/>
        </p:nvSpPr>
        <p:spPr>
          <a:xfrm>
            <a:off x="4142154" y="6268939"/>
            <a:ext cx="1845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4. COHORT GENERATION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E4B80893-C15A-AEF7-2F92-429CA0A11C25}"/>
              </a:ext>
            </a:extLst>
          </p:cNvPr>
          <p:cNvSpPr txBox="1"/>
          <p:nvPr/>
        </p:nvSpPr>
        <p:spPr>
          <a:xfrm>
            <a:off x="9398235" y="2969358"/>
            <a:ext cx="19304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Diagnostics DB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ángulo 3">
            <a:extLst>
              <a:ext uri="{FF2B5EF4-FFF2-40B4-BE49-F238E27FC236}">
                <a16:creationId xmlns:a16="http://schemas.microsoft.com/office/drawing/2014/main" id="{C84EB755-F85E-2D52-3657-141377D35BC7}"/>
              </a:ext>
            </a:extLst>
          </p:cNvPr>
          <p:cNvSpPr/>
          <p:nvPr/>
        </p:nvSpPr>
        <p:spPr>
          <a:xfrm>
            <a:off x="5360193" y="4579144"/>
            <a:ext cx="686339" cy="265948"/>
          </a:xfrm>
          <a:custGeom>
            <a:avLst/>
            <a:gdLst>
              <a:gd name="connsiteX0" fmla="*/ 0 w 687806"/>
              <a:gd name="connsiteY0" fmla="*/ 0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0 w 687806"/>
              <a:gd name="connsiteY4" fmla="*/ 0 h 270711"/>
              <a:gd name="connsiteX0" fmla="*/ 16669 w 687806"/>
              <a:gd name="connsiteY0" fmla="*/ 23812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16669 w 687806"/>
              <a:gd name="connsiteY4" fmla="*/ 23812 h 270711"/>
              <a:gd name="connsiteX0" fmla="*/ 16669 w 687806"/>
              <a:gd name="connsiteY0" fmla="*/ 0 h 246899"/>
              <a:gd name="connsiteX1" fmla="*/ 611606 w 687806"/>
              <a:gd name="connsiteY1" fmla="*/ 9526 h 246899"/>
              <a:gd name="connsiteX2" fmla="*/ 687806 w 687806"/>
              <a:gd name="connsiteY2" fmla="*/ 246899 h 246899"/>
              <a:gd name="connsiteX3" fmla="*/ 0 w 687806"/>
              <a:gd name="connsiteY3" fmla="*/ 246899 h 246899"/>
              <a:gd name="connsiteX4" fmla="*/ 16669 w 687806"/>
              <a:gd name="connsiteY4" fmla="*/ 0 h 246899"/>
              <a:gd name="connsiteX0" fmla="*/ 16669 w 611606"/>
              <a:gd name="connsiteY0" fmla="*/ 0 h 249280"/>
              <a:gd name="connsiteX1" fmla="*/ 611606 w 611606"/>
              <a:gd name="connsiteY1" fmla="*/ 9526 h 249280"/>
              <a:gd name="connsiteX2" fmla="*/ 523500 w 611606"/>
              <a:gd name="connsiteY2" fmla="*/ 249280 h 249280"/>
              <a:gd name="connsiteX3" fmla="*/ 0 w 611606"/>
              <a:gd name="connsiteY3" fmla="*/ 246899 h 249280"/>
              <a:gd name="connsiteX4" fmla="*/ 16669 w 611606"/>
              <a:gd name="connsiteY4" fmla="*/ 0 h 249280"/>
              <a:gd name="connsiteX0" fmla="*/ 0 w 594937"/>
              <a:gd name="connsiteY0" fmla="*/ 0 h 249280"/>
              <a:gd name="connsiteX1" fmla="*/ 594937 w 594937"/>
              <a:gd name="connsiteY1" fmla="*/ 9526 h 249280"/>
              <a:gd name="connsiteX2" fmla="*/ 506831 w 594937"/>
              <a:gd name="connsiteY2" fmla="*/ 249280 h 249280"/>
              <a:gd name="connsiteX3" fmla="*/ 69056 w 594937"/>
              <a:gd name="connsiteY3" fmla="*/ 239755 h 249280"/>
              <a:gd name="connsiteX4" fmla="*/ 0 w 594937"/>
              <a:gd name="connsiteY4" fmla="*/ 0 h 249280"/>
              <a:gd name="connsiteX0" fmla="*/ 0 w 566362"/>
              <a:gd name="connsiteY0" fmla="*/ 0 h 282617"/>
              <a:gd name="connsiteX1" fmla="*/ 566362 w 566362"/>
              <a:gd name="connsiteY1" fmla="*/ 42863 h 282617"/>
              <a:gd name="connsiteX2" fmla="*/ 478256 w 566362"/>
              <a:gd name="connsiteY2" fmla="*/ 282617 h 282617"/>
              <a:gd name="connsiteX3" fmla="*/ 40481 w 566362"/>
              <a:gd name="connsiteY3" fmla="*/ 273092 h 282617"/>
              <a:gd name="connsiteX4" fmla="*/ 0 w 566362"/>
              <a:gd name="connsiteY4" fmla="*/ 0 h 282617"/>
              <a:gd name="connsiteX0" fmla="*/ 0 w 525881"/>
              <a:gd name="connsiteY0" fmla="*/ 0 h 282617"/>
              <a:gd name="connsiteX1" fmla="*/ 525881 w 525881"/>
              <a:gd name="connsiteY1" fmla="*/ 7144 h 282617"/>
              <a:gd name="connsiteX2" fmla="*/ 478256 w 525881"/>
              <a:gd name="connsiteY2" fmla="*/ 282617 h 282617"/>
              <a:gd name="connsiteX3" fmla="*/ 40481 w 525881"/>
              <a:gd name="connsiteY3" fmla="*/ 273092 h 282617"/>
              <a:gd name="connsiteX4" fmla="*/ 0 w 525881"/>
              <a:gd name="connsiteY4" fmla="*/ 0 h 282617"/>
              <a:gd name="connsiteX0" fmla="*/ 0 w 593094"/>
              <a:gd name="connsiteY0" fmla="*/ 0 h 282617"/>
              <a:gd name="connsiteX1" fmla="*/ 525881 w 593094"/>
              <a:gd name="connsiteY1" fmla="*/ 7144 h 282617"/>
              <a:gd name="connsiteX2" fmla="*/ 592556 w 593094"/>
              <a:gd name="connsiteY2" fmla="*/ 152400 h 282617"/>
              <a:gd name="connsiteX3" fmla="*/ 478256 w 593094"/>
              <a:gd name="connsiteY3" fmla="*/ 282617 h 282617"/>
              <a:gd name="connsiteX4" fmla="*/ 40481 w 593094"/>
              <a:gd name="connsiteY4" fmla="*/ 273092 h 282617"/>
              <a:gd name="connsiteX5" fmla="*/ 0 w 593094"/>
              <a:gd name="connsiteY5" fmla="*/ 0 h 282617"/>
              <a:gd name="connsiteX0" fmla="*/ 109914 w 703008"/>
              <a:gd name="connsiteY0" fmla="*/ 0 h 282617"/>
              <a:gd name="connsiteX1" fmla="*/ 635795 w 703008"/>
              <a:gd name="connsiteY1" fmla="*/ 7144 h 282617"/>
              <a:gd name="connsiteX2" fmla="*/ 702470 w 703008"/>
              <a:gd name="connsiteY2" fmla="*/ 152400 h 282617"/>
              <a:gd name="connsiteX3" fmla="*/ 588170 w 703008"/>
              <a:gd name="connsiteY3" fmla="*/ 282617 h 282617"/>
              <a:gd name="connsiteX4" fmla="*/ 150395 w 703008"/>
              <a:gd name="connsiteY4" fmla="*/ 273092 h 282617"/>
              <a:gd name="connsiteX5" fmla="*/ 0 w 703008"/>
              <a:gd name="connsiteY5" fmla="*/ 135731 h 282617"/>
              <a:gd name="connsiteX6" fmla="*/ 109914 w 703008"/>
              <a:gd name="connsiteY6" fmla="*/ 0 h 282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3008" h="282617">
                <a:moveTo>
                  <a:pt x="109914" y="0"/>
                </a:moveTo>
                <a:lnTo>
                  <a:pt x="635795" y="7144"/>
                </a:lnTo>
                <a:cubicBezTo>
                  <a:pt x="627857" y="55563"/>
                  <a:pt x="710408" y="103981"/>
                  <a:pt x="702470" y="152400"/>
                </a:cubicBezTo>
                <a:lnTo>
                  <a:pt x="588170" y="282617"/>
                </a:lnTo>
                <a:lnTo>
                  <a:pt x="150395" y="273092"/>
                </a:lnTo>
                <a:cubicBezTo>
                  <a:pt x="142332" y="229686"/>
                  <a:pt x="8063" y="179137"/>
                  <a:pt x="0" y="135731"/>
                </a:cubicBezTo>
                <a:lnTo>
                  <a:pt x="10991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misclassification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169602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FoundrySterling-Bold" panose="02000700000000000000" pitchFamily="2" charset="0"/>
              </a:rPr>
              <a:t>1.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D05F-00EC-0F13-A18D-324EEF645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latin typeface="FoundrySterling-BookOSF" panose="02000503000000020004" pitchFamily="2" charset="0"/>
              </a:rPr>
              <a:t>Phenotype proposal form </a:t>
            </a:r>
          </a:p>
          <a:p>
            <a:pPr marL="0" indent="0">
              <a:buNone/>
            </a:pPr>
            <a:r>
              <a:rPr lang="en-GB" b="1" dirty="0">
                <a:latin typeface="FoundrySterling-BookOSF" panose="02000503000000020004" pitchFamily="2" charset="0"/>
              </a:rPr>
              <a:t>	</a:t>
            </a:r>
            <a:r>
              <a:rPr lang="en-GB" dirty="0">
                <a:latin typeface="FoundrySterling-BookOSF" panose="02000503000000020004" pitchFamily="2" charset="0"/>
              </a:rPr>
              <a:t>– Who asks? What is it for?</a:t>
            </a:r>
          </a:p>
          <a:p>
            <a:pPr marL="0" indent="0">
              <a:buNone/>
            </a:pPr>
            <a:endParaRPr lang="en-GB" dirty="0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 u="sng" dirty="0">
                <a:latin typeface="FoundrySterling-BookOSF" panose="02000503000000020004" pitchFamily="2" charset="0"/>
              </a:rPr>
              <a:t>Evaluate</a:t>
            </a:r>
            <a:r>
              <a:rPr lang="en-GB" dirty="0">
                <a:latin typeface="FoundrySterling-BookOSF" panose="02000503000000020004" pitchFamily="2" charset="0"/>
              </a:rPr>
              <a:t>: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	- </a:t>
            </a:r>
            <a:r>
              <a:rPr lang="en-GB" b="1" dirty="0">
                <a:latin typeface="FoundrySterling-BookOSF" panose="02000503000000020004" pitchFamily="2" charset="0"/>
              </a:rPr>
              <a:t>Feasibility</a:t>
            </a:r>
            <a:r>
              <a:rPr lang="en-GB" dirty="0">
                <a:latin typeface="FoundrySterling-BookOSF" panose="02000503000000020004" pitchFamily="2" charset="0"/>
              </a:rPr>
              <a:t> – If non-feasible – STOP + reason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			- Different than study feasibility (but related)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	- </a:t>
            </a:r>
            <a:r>
              <a:rPr lang="en-GB" b="1" dirty="0">
                <a:latin typeface="FoundrySterling-BookOSF" panose="02000503000000020004" pitchFamily="2" charset="0"/>
              </a:rPr>
              <a:t>Need for clinical description </a:t>
            </a:r>
          </a:p>
          <a:p>
            <a:pPr marL="0" indent="0">
              <a:buNone/>
            </a:pPr>
            <a:r>
              <a:rPr lang="en-GB" b="1" dirty="0">
                <a:latin typeface="FoundrySterling-BookOSF" panose="02000503000000020004" pitchFamily="2" charset="0"/>
              </a:rPr>
              <a:t>			</a:t>
            </a:r>
            <a:r>
              <a:rPr lang="en-GB" dirty="0">
                <a:latin typeface="FoundrySterling-BookOSF" panose="02000503000000020004" pitchFamily="2" charset="0"/>
              </a:rPr>
              <a:t>- If yes, </a:t>
            </a:r>
            <a:r>
              <a:rPr lang="en-GB" b="1" dirty="0">
                <a:latin typeface="FoundrySterling-BookOSF" panose="02000503000000020004" pitchFamily="2" charset="0"/>
              </a:rPr>
              <a:t>clinical description form</a:t>
            </a:r>
          </a:p>
        </p:txBody>
      </p:sp>
      <p:pic>
        <p:nvPicPr>
          <p:cNvPr id="4" name="Picture 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DACC20BD-ABEA-85A1-382C-FC542DBBE1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508" b="73301"/>
          <a:stretch/>
        </p:blipFill>
        <p:spPr>
          <a:xfrm>
            <a:off x="6675782" y="285061"/>
            <a:ext cx="4953001" cy="154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99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F99187-DD2C-5C41-0F0A-7FFEC7265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94" y="302602"/>
            <a:ext cx="4114705" cy="61181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9769C5B-9BE4-C6C1-D807-497387A6F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365125"/>
            <a:ext cx="11025554" cy="1325563"/>
          </a:xfrm>
        </p:spPr>
        <p:txBody>
          <a:bodyPr/>
          <a:lstStyle/>
          <a:p>
            <a:r>
              <a:rPr lang="en-GB" dirty="0">
                <a:latin typeface="FoundrySterling-Bold" panose="02000700000000000000" pitchFamily="2" charset="0"/>
              </a:rPr>
              <a:t>Proposal form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382584-E4FA-4A24-11E6-223851A647CD}"/>
              </a:ext>
            </a:extLst>
          </p:cNvPr>
          <p:cNvSpPr/>
          <p:nvPr/>
        </p:nvSpPr>
        <p:spPr>
          <a:xfrm>
            <a:off x="5605670" y="1179443"/>
            <a:ext cx="2637182" cy="4108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648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769C5B-9BE4-C6C1-D807-497387A6F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29" y="365125"/>
            <a:ext cx="11025554" cy="1325563"/>
          </a:xfrm>
        </p:spPr>
        <p:txBody>
          <a:bodyPr/>
          <a:lstStyle/>
          <a:p>
            <a:r>
              <a:rPr lang="en-GB" dirty="0">
                <a:latin typeface="FoundrySterling-Bold" panose="02000700000000000000" pitchFamily="2" charset="0"/>
              </a:rPr>
              <a:t>Clinical 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90181-7456-4F54-DF23-1854D9CD25A8}"/>
              </a:ext>
            </a:extLst>
          </p:cNvPr>
          <p:cNvSpPr txBox="1"/>
          <p:nvPr/>
        </p:nvSpPr>
        <p:spPr>
          <a:xfrm>
            <a:off x="1664677" y="1601208"/>
            <a:ext cx="6096000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Overview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Presentation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Assessment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Management/RX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Prognosis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MedDRA PTs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Disqualifiers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Strengtheners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Suggested Logic Description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5D4A06-74DE-9472-66BA-9C7EB5A4F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528" y="365125"/>
            <a:ext cx="7030757" cy="606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170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6" y="235821"/>
            <a:ext cx="10515600" cy="955675"/>
          </a:xfrm>
        </p:spPr>
        <p:txBody>
          <a:bodyPr/>
          <a:lstStyle/>
          <a:p>
            <a:r>
              <a:rPr lang="en-GB" dirty="0">
                <a:latin typeface="FoundrySterling-Bold" panose="02000700000000000000" pitchFamily="2" charset="0"/>
              </a:rPr>
              <a:t>2. Does a suitable cohort exist?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D05F-00EC-0F13-A18D-324EEF64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6" y="1549995"/>
            <a:ext cx="10515600" cy="50721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>
                <a:latin typeface="FoundrySterling-BookOSF" panose="02000503000000020004" pitchFamily="2" charset="0"/>
              </a:rPr>
              <a:t>2.1 Does a cohort exist?</a:t>
            </a:r>
          </a:p>
          <a:p>
            <a:pPr marL="0" indent="0">
              <a:buNone/>
            </a:pPr>
            <a:r>
              <a:rPr lang="en-GB" b="1" dirty="0">
                <a:latin typeface="FoundrySterling-BookOSF" panose="02000503000000020004" pitchFamily="2" charset="0"/>
              </a:rPr>
              <a:t>	NO – move to 2.2</a:t>
            </a:r>
          </a:p>
          <a:p>
            <a:pPr marL="0" indent="0">
              <a:buNone/>
            </a:pPr>
            <a:r>
              <a:rPr lang="en-GB" b="1" dirty="0">
                <a:latin typeface="FoundrySterling-BookOSF" panose="02000503000000020004" pitchFamily="2" charset="0"/>
              </a:rPr>
              <a:t>	YES – Suitability and Risk assessment forms</a:t>
            </a:r>
          </a:p>
          <a:p>
            <a:pPr marL="0" indent="0">
              <a:buNone/>
            </a:pPr>
            <a:r>
              <a:rPr lang="en-GB" b="1" dirty="0">
                <a:latin typeface="FoundrySterling-BookOSF" panose="02000503000000020004" pitchFamily="2" charset="0"/>
              </a:rPr>
              <a:t>		- Suitable/low risk - Ready cohort</a:t>
            </a:r>
          </a:p>
          <a:p>
            <a:pPr marL="0" indent="0">
              <a:buNone/>
            </a:pPr>
            <a:r>
              <a:rPr lang="en-GB" b="1" dirty="0">
                <a:latin typeface="FoundrySterling-BookOSF" panose="02000503000000020004" pitchFamily="2" charset="0"/>
              </a:rPr>
              <a:t>		-  Suitable/Mid risk – move to 4. cohort refinement and 						evaluation</a:t>
            </a:r>
          </a:p>
          <a:p>
            <a:pPr marL="0" indent="0">
              <a:buNone/>
            </a:pPr>
            <a:r>
              <a:rPr lang="en-GB" b="1" dirty="0">
                <a:latin typeface="FoundrySterling-BookOSF" panose="02000503000000020004" pitchFamily="2" charset="0"/>
              </a:rPr>
              <a:t>		- Non Suitable/High risk –  document in cohort &amp; move to 							2.2</a:t>
            </a:r>
          </a:p>
          <a:p>
            <a:pPr marL="0" indent="0">
              <a:buNone/>
            </a:pPr>
            <a:r>
              <a:rPr lang="en-GB" b="1" dirty="0">
                <a:latin typeface="FoundrySterling-BookOSF" panose="02000503000000020004" pitchFamily="2" charset="0"/>
              </a:rPr>
              <a:t>2.2 Does a code list exist?</a:t>
            </a:r>
          </a:p>
          <a:p>
            <a:pPr marL="0" indent="0">
              <a:buNone/>
            </a:pPr>
            <a:r>
              <a:rPr lang="en-GB" b="1" dirty="0">
                <a:latin typeface="FoundrySterling-BookOSF" panose="02000503000000020004" pitchFamily="2" charset="0"/>
              </a:rPr>
              <a:t>	</a:t>
            </a:r>
            <a:r>
              <a:rPr lang="en-GB" dirty="0">
                <a:latin typeface="FoundrySterling-BookOSF" panose="02000503000000020004" pitchFamily="2" charset="0"/>
              </a:rPr>
              <a:t>YES –  Move to 3.3 Cohort generation</a:t>
            </a:r>
          </a:p>
          <a:p>
            <a:pPr marL="0" indent="0">
              <a:buNone/>
            </a:pPr>
            <a:r>
              <a:rPr lang="en-GB" b="1" dirty="0">
                <a:latin typeface="FoundrySterling-BookOSF" panose="02000503000000020004" pitchFamily="2" charset="0"/>
              </a:rPr>
              <a:t>	</a:t>
            </a:r>
            <a:r>
              <a:rPr lang="en-GB" dirty="0">
                <a:latin typeface="FoundrySterling-BookOSF" panose="02000503000000020004" pitchFamily="2" charset="0"/>
              </a:rPr>
              <a:t>NO –  Move to 3. New phenotype generation process</a:t>
            </a:r>
          </a:p>
          <a:p>
            <a:pPr marL="0" indent="0">
              <a:buNone/>
            </a:pPr>
            <a:endParaRPr lang="en-GB" dirty="0">
              <a:latin typeface="FoundrySterling-BookOSF" panose="02000503000000020004" pitchFamily="2" charset="0"/>
            </a:endParaRPr>
          </a:p>
        </p:txBody>
      </p:sp>
      <p:pic>
        <p:nvPicPr>
          <p:cNvPr id="4" name="Picture 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34BD18DC-0319-4867-F32B-8777A251E0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88" r="33411" b="15883"/>
          <a:stretch/>
        </p:blipFill>
        <p:spPr>
          <a:xfrm>
            <a:off x="8275983" y="-17253"/>
            <a:ext cx="3836506" cy="2417498"/>
          </a:xfrm>
          <a:prstGeom prst="rect">
            <a:avLst/>
          </a:prstGeom>
        </p:spPr>
      </p:pic>
      <p:sp>
        <p:nvSpPr>
          <p:cNvPr id="5" name="Rectángulo 3">
            <a:extLst>
              <a:ext uri="{FF2B5EF4-FFF2-40B4-BE49-F238E27FC236}">
                <a16:creationId xmlns:a16="http://schemas.microsoft.com/office/drawing/2014/main" id="{AEBB2FFC-D93A-5438-5717-08C0C106EF12}"/>
              </a:ext>
            </a:extLst>
          </p:cNvPr>
          <p:cNvSpPr/>
          <p:nvPr/>
        </p:nvSpPr>
        <p:spPr>
          <a:xfrm>
            <a:off x="11493500" y="1575990"/>
            <a:ext cx="568189" cy="220166"/>
          </a:xfrm>
          <a:custGeom>
            <a:avLst/>
            <a:gdLst>
              <a:gd name="connsiteX0" fmla="*/ 0 w 687806"/>
              <a:gd name="connsiteY0" fmla="*/ 0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0 w 687806"/>
              <a:gd name="connsiteY4" fmla="*/ 0 h 270711"/>
              <a:gd name="connsiteX0" fmla="*/ 16669 w 687806"/>
              <a:gd name="connsiteY0" fmla="*/ 23812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16669 w 687806"/>
              <a:gd name="connsiteY4" fmla="*/ 23812 h 270711"/>
              <a:gd name="connsiteX0" fmla="*/ 16669 w 687806"/>
              <a:gd name="connsiteY0" fmla="*/ 0 h 246899"/>
              <a:gd name="connsiteX1" fmla="*/ 611606 w 687806"/>
              <a:gd name="connsiteY1" fmla="*/ 9526 h 246899"/>
              <a:gd name="connsiteX2" fmla="*/ 687806 w 687806"/>
              <a:gd name="connsiteY2" fmla="*/ 246899 h 246899"/>
              <a:gd name="connsiteX3" fmla="*/ 0 w 687806"/>
              <a:gd name="connsiteY3" fmla="*/ 246899 h 246899"/>
              <a:gd name="connsiteX4" fmla="*/ 16669 w 687806"/>
              <a:gd name="connsiteY4" fmla="*/ 0 h 246899"/>
              <a:gd name="connsiteX0" fmla="*/ 16669 w 611606"/>
              <a:gd name="connsiteY0" fmla="*/ 0 h 249280"/>
              <a:gd name="connsiteX1" fmla="*/ 611606 w 611606"/>
              <a:gd name="connsiteY1" fmla="*/ 9526 h 249280"/>
              <a:gd name="connsiteX2" fmla="*/ 523500 w 611606"/>
              <a:gd name="connsiteY2" fmla="*/ 249280 h 249280"/>
              <a:gd name="connsiteX3" fmla="*/ 0 w 611606"/>
              <a:gd name="connsiteY3" fmla="*/ 246899 h 249280"/>
              <a:gd name="connsiteX4" fmla="*/ 16669 w 611606"/>
              <a:gd name="connsiteY4" fmla="*/ 0 h 249280"/>
              <a:gd name="connsiteX0" fmla="*/ 0 w 594937"/>
              <a:gd name="connsiteY0" fmla="*/ 0 h 249280"/>
              <a:gd name="connsiteX1" fmla="*/ 594937 w 594937"/>
              <a:gd name="connsiteY1" fmla="*/ 9526 h 249280"/>
              <a:gd name="connsiteX2" fmla="*/ 506831 w 594937"/>
              <a:gd name="connsiteY2" fmla="*/ 249280 h 249280"/>
              <a:gd name="connsiteX3" fmla="*/ 69056 w 594937"/>
              <a:gd name="connsiteY3" fmla="*/ 239755 h 249280"/>
              <a:gd name="connsiteX4" fmla="*/ 0 w 594937"/>
              <a:gd name="connsiteY4" fmla="*/ 0 h 249280"/>
              <a:gd name="connsiteX0" fmla="*/ 0 w 566362"/>
              <a:gd name="connsiteY0" fmla="*/ 0 h 282617"/>
              <a:gd name="connsiteX1" fmla="*/ 566362 w 566362"/>
              <a:gd name="connsiteY1" fmla="*/ 42863 h 282617"/>
              <a:gd name="connsiteX2" fmla="*/ 478256 w 566362"/>
              <a:gd name="connsiteY2" fmla="*/ 282617 h 282617"/>
              <a:gd name="connsiteX3" fmla="*/ 40481 w 566362"/>
              <a:gd name="connsiteY3" fmla="*/ 273092 h 282617"/>
              <a:gd name="connsiteX4" fmla="*/ 0 w 566362"/>
              <a:gd name="connsiteY4" fmla="*/ 0 h 282617"/>
              <a:gd name="connsiteX0" fmla="*/ 0 w 525881"/>
              <a:gd name="connsiteY0" fmla="*/ 0 h 282617"/>
              <a:gd name="connsiteX1" fmla="*/ 525881 w 525881"/>
              <a:gd name="connsiteY1" fmla="*/ 7144 h 282617"/>
              <a:gd name="connsiteX2" fmla="*/ 478256 w 525881"/>
              <a:gd name="connsiteY2" fmla="*/ 282617 h 282617"/>
              <a:gd name="connsiteX3" fmla="*/ 40481 w 525881"/>
              <a:gd name="connsiteY3" fmla="*/ 273092 h 282617"/>
              <a:gd name="connsiteX4" fmla="*/ 0 w 525881"/>
              <a:gd name="connsiteY4" fmla="*/ 0 h 282617"/>
              <a:gd name="connsiteX0" fmla="*/ 0 w 593094"/>
              <a:gd name="connsiteY0" fmla="*/ 0 h 282617"/>
              <a:gd name="connsiteX1" fmla="*/ 525881 w 593094"/>
              <a:gd name="connsiteY1" fmla="*/ 7144 h 282617"/>
              <a:gd name="connsiteX2" fmla="*/ 592556 w 593094"/>
              <a:gd name="connsiteY2" fmla="*/ 152400 h 282617"/>
              <a:gd name="connsiteX3" fmla="*/ 478256 w 593094"/>
              <a:gd name="connsiteY3" fmla="*/ 282617 h 282617"/>
              <a:gd name="connsiteX4" fmla="*/ 40481 w 593094"/>
              <a:gd name="connsiteY4" fmla="*/ 273092 h 282617"/>
              <a:gd name="connsiteX5" fmla="*/ 0 w 593094"/>
              <a:gd name="connsiteY5" fmla="*/ 0 h 282617"/>
              <a:gd name="connsiteX0" fmla="*/ 109914 w 703008"/>
              <a:gd name="connsiteY0" fmla="*/ 0 h 282617"/>
              <a:gd name="connsiteX1" fmla="*/ 635795 w 703008"/>
              <a:gd name="connsiteY1" fmla="*/ 7144 h 282617"/>
              <a:gd name="connsiteX2" fmla="*/ 702470 w 703008"/>
              <a:gd name="connsiteY2" fmla="*/ 152400 h 282617"/>
              <a:gd name="connsiteX3" fmla="*/ 588170 w 703008"/>
              <a:gd name="connsiteY3" fmla="*/ 282617 h 282617"/>
              <a:gd name="connsiteX4" fmla="*/ 150395 w 703008"/>
              <a:gd name="connsiteY4" fmla="*/ 273092 h 282617"/>
              <a:gd name="connsiteX5" fmla="*/ 0 w 703008"/>
              <a:gd name="connsiteY5" fmla="*/ 135731 h 282617"/>
              <a:gd name="connsiteX6" fmla="*/ 109914 w 703008"/>
              <a:gd name="connsiteY6" fmla="*/ 0 h 282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3008" h="282617">
                <a:moveTo>
                  <a:pt x="109914" y="0"/>
                </a:moveTo>
                <a:lnTo>
                  <a:pt x="635795" y="7144"/>
                </a:lnTo>
                <a:cubicBezTo>
                  <a:pt x="627857" y="55563"/>
                  <a:pt x="710408" y="103981"/>
                  <a:pt x="702470" y="152400"/>
                </a:cubicBezTo>
                <a:lnTo>
                  <a:pt x="588170" y="282617"/>
                </a:lnTo>
                <a:lnTo>
                  <a:pt x="150395" y="273092"/>
                </a:lnTo>
                <a:cubicBezTo>
                  <a:pt x="142332" y="229686"/>
                  <a:pt x="8063" y="179137"/>
                  <a:pt x="0" y="135731"/>
                </a:cubicBezTo>
                <a:lnTo>
                  <a:pt x="10991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misclassification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25858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GB" dirty="0">
                <a:latin typeface="FoundrySterling-Bold" panose="02000700000000000000" pitchFamily="2" charset="0"/>
              </a:rPr>
              <a:t>3 - 4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FC08CCA7-1F77-0426-85BB-476292181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2" y="0"/>
            <a:ext cx="8682192" cy="6819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2F4CA3-01A0-DF97-A1FB-6F17FE2AD1B0}"/>
              </a:ext>
            </a:extLst>
          </p:cNvPr>
          <p:cNvSpPr txBox="1"/>
          <p:nvPr/>
        </p:nvSpPr>
        <p:spPr>
          <a:xfrm>
            <a:off x="3374016" y="1468477"/>
            <a:ext cx="11957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Codelist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generator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04D419-158D-3083-BDAF-4710D8759495}"/>
              </a:ext>
            </a:extLst>
          </p:cNvPr>
          <p:cNvSpPr txBox="1"/>
          <p:nvPr/>
        </p:nvSpPr>
        <p:spPr>
          <a:xfrm>
            <a:off x="3366079" y="2391546"/>
            <a:ext cx="1195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ATLAS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8E8D0F-57A8-FBD5-75D3-B802AEB5BE03}"/>
              </a:ext>
            </a:extLst>
          </p:cNvPr>
          <p:cNvSpPr txBox="1"/>
          <p:nvPr/>
        </p:nvSpPr>
        <p:spPr>
          <a:xfrm>
            <a:off x="5033891" y="2135440"/>
            <a:ext cx="1195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ATLAS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D9815F-A4F5-F8B5-D0D0-0106E79DEE81}"/>
              </a:ext>
            </a:extLst>
          </p:cNvPr>
          <p:cNvSpPr txBox="1"/>
          <p:nvPr/>
        </p:nvSpPr>
        <p:spPr>
          <a:xfrm>
            <a:off x="5017478" y="1528114"/>
            <a:ext cx="1774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Code review tool and flavour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896B20-09DD-04D6-6D56-B804AAD95B9B}"/>
              </a:ext>
            </a:extLst>
          </p:cNvPr>
          <p:cNvSpPr txBox="1"/>
          <p:nvPr/>
        </p:nvSpPr>
        <p:spPr>
          <a:xfrm>
            <a:off x="3374016" y="3311117"/>
            <a:ext cx="119575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Search strategy, vocab  &amp; codes reached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9CB79F-9846-96A4-B657-31D8ED9F3701}"/>
              </a:ext>
            </a:extLst>
          </p:cNvPr>
          <p:cNvSpPr txBox="1"/>
          <p:nvPr/>
        </p:nvSpPr>
        <p:spPr>
          <a:xfrm>
            <a:off x="5148107" y="3311116"/>
            <a:ext cx="151841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Code review results per reviewer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4B687D-9D77-DDB3-74E4-CE31F8ABB444}"/>
              </a:ext>
            </a:extLst>
          </p:cNvPr>
          <p:cNvSpPr txBox="1"/>
          <p:nvPr/>
        </p:nvSpPr>
        <p:spPr>
          <a:xfrm>
            <a:off x="7944339" y="1669627"/>
            <a:ext cx="1774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Drug exposure diagnostics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151877-EB06-E056-EFBA-BF9405B1837F}"/>
              </a:ext>
            </a:extLst>
          </p:cNvPr>
          <p:cNvSpPr txBox="1"/>
          <p:nvPr/>
        </p:nvSpPr>
        <p:spPr>
          <a:xfrm>
            <a:off x="7944338" y="2341619"/>
            <a:ext cx="2285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DED review form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CF9029-CEDC-940F-72FA-295D7B1358D3}"/>
              </a:ext>
            </a:extLst>
          </p:cNvPr>
          <p:cNvSpPr txBox="1"/>
          <p:nvPr/>
        </p:nvSpPr>
        <p:spPr>
          <a:xfrm>
            <a:off x="7944338" y="3390900"/>
            <a:ext cx="22859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Review form per reviewer and </a:t>
            </a:r>
            <a:r>
              <a:rPr kumimoji="0" lang="en-GB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db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6ABFD5-0E07-5AD1-E999-0E0EA2CDD53F}"/>
              </a:ext>
            </a:extLst>
          </p:cNvPr>
          <p:cNvSpPr txBox="1"/>
          <p:nvPr/>
        </p:nvSpPr>
        <p:spPr>
          <a:xfrm>
            <a:off x="3430954" y="4639476"/>
            <a:ext cx="11957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Codelist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generator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73812F-8835-959A-0356-639EB6017F16}"/>
              </a:ext>
            </a:extLst>
          </p:cNvPr>
          <p:cNvSpPr txBox="1"/>
          <p:nvPr/>
        </p:nvSpPr>
        <p:spPr>
          <a:xfrm>
            <a:off x="3430954" y="5315891"/>
            <a:ext cx="1195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ATLAS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69E6C8-A955-E6A6-8351-5AE08CE8F204}"/>
              </a:ext>
            </a:extLst>
          </p:cNvPr>
          <p:cNvSpPr txBox="1"/>
          <p:nvPr/>
        </p:nvSpPr>
        <p:spPr>
          <a:xfrm>
            <a:off x="5017478" y="4629644"/>
            <a:ext cx="1774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Code review tool and flavour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A36211-95B1-8B50-4739-8D6BB61F7517}"/>
              </a:ext>
            </a:extLst>
          </p:cNvPr>
          <p:cNvSpPr txBox="1"/>
          <p:nvPr/>
        </p:nvSpPr>
        <p:spPr>
          <a:xfrm>
            <a:off x="3430954" y="6291320"/>
            <a:ext cx="119575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Search strategy, vocab  &amp; codes reached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E789D1-3465-F5FD-0C16-105130B35C38}"/>
              </a:ext>
            </a:extLst>
          </p:cNvPr>
          <p:cNvSpPr txBox="1"/>
          <p:nvPr/>
        </p:nvSpPr>
        <p:spPr>
          <a:xfrm>
            <a:off x="5205045" y="6291319"/>
            <a:ext cx="151841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Code review results per reviewer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2346E8-DF15-9BDA-F85D-60E22471BBEC}"/>
              </a:ext>
            </a:extLst>
          </p:cNvPr>
          <p:cNvSpPr txBox="1"/>
          <p:nvPr/>
        </p:nvSpPr>
        <p:spPr>
          <a:xfrm>
            <a:off x="8001276" y="4727980"/>
            <a:ext cx="2158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Cohort diagnostics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ADA4BE-2D6E-DDD7-3EB3-3149F99F748A}"/>
              </a:ext>
            </a:extLst>
          </p:cNvPr>
          <p:cNvSpPr txBox="1"/>
          <p:nvPr/>
        </p:nvSpPr>
        <p:spPr>
          <a:xfrm>
            <a:off x="8001276" y="5399972"/>
            <a:ext cx="2285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CD review form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6BC0DB-363D-6197-1408-E9D7D3E5FCF5}"/>
              </a:ext>
            </a:extLst>
          </p:cNvPr>
          <p:cNvSpPr txBox="1"/>
          <p:nvPr/>
        </p:nvSpPr>
        <p:spPr>
          <a:xfrm>
            <a:off x="8001276" y="6371103"/>
            <a:ext cx="22859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Review form per reviewer and </a:t>
            </a:r>
            <a:r>
              <a:rPr kumimoji="0" lang="en-GB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db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02F8C8-9010-CE58-4BAF-E85B04636FDE}"/>
              </a:ext>
            </a:extLst>
          </p:cNvPr>
          <p:cNvSpPr txBox="1"/>
          <p:nvPr/>
        </p:nvSpPr>
        <p:spPr>
          <a:xfrm>
            <a:off x="5017478" y="5703248"/>
            <a:ext cx="1774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PHOEBE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4DE35C-DC01-DB0A-1FB8-0BE5FCEB47A0}"/>
              </a:ext>
            </a:extLst>
          </p:cNvPr>
          <p:cNvSpPr txBox="1"/>
          <p:nvPr/>
        </p:nvSpPr>
        <p:spPr>
          <a:xfrm>
            <a:off x="5008841" y="5349775"/>
            <a:ext cx="1774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Code context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F8B0A6-8F55-127A-49FA-5CE97909CF4D}"/>
              </a:ext>
            </a:extLst>
          </p:cNvPr>
          <p:cNvSpPr txBox="1"/>
          <p:nvPr/>
        </p:nvSpPr>
        <p:spPr>
          <a:xfrm>
            <a:off x="1376623" y="1502462"/>
            <a:ext cx="11957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Think about groupings, forms, route, ATC?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oundrySterling-BookOSF" panose="0200050300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Which grouping we first review to avoid a huge list of products?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AE9395-DE2D-2806-9616-11B9965577FA}"/>
              </a:ext>
            </a:extLst>
          </p:cNvPr>
          <p:cNvSpPr txBox="1"/>
          <p:nvPr/>
        </p:nvSpPr>
        <p:spPr>
          <a:xfrm>
            <a:off x="6944386" y="1739056"/>
            <a:ext cx="1745905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Flavours: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Mono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 combination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Systemic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 local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….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DCBF26-8F60-B664-BBCE-0C3DF5E66770}"/>
              </a:ext>
            </a:extLst>
          </p:cNvPr>
          <p:cNvSpPr txBox="1"/>
          <p:nvPr/>
        </p:nvSpPr>
        <p:spPr>
          <a:xfrm>
            <a:off x="6996723" y="4952810"/>
            <a:ext cx="1745905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Flavours: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Narrow,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Wide,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Prevalent,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Inpatient,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Others….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 descr="Diagram&#10;&#10;Description automatically generated">
            <a:extLst>
              <a:ext uri="{FF2B5EF4-FFF2-40B4-BE49-F238E27FC236}">
                <a16:creationId xmlns:a16="http://schemas.microsoft.com/office/drawing/2014/main" id="{4965AF3E-9E74-A155-ECB0-8DFC1E0A31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29" t="60214" r="25011" b="30362"/>
          <a:stretch/>
        </p:blipFill>
        <p:spPr>
          <a:xfrm>
            <a:off x="7510585" y="932923"/>
            <a:ext cx="1445845" cy="64633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26201A-7659-9666-4B42-179E6BE97488}"/>
              </a:ext>
            </a:extLst>
          </p:cNvPr>
          <p:cNvSpPr/>
          <p:nvPr/>
        </p:nvSpPr>
        <p:spPr>
          <a:xfrm>
            <a:off x="11192192" y="3290965"/>
            <a:ext cx="912520" cy="559295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4C3AA1-AD1D-7767-E4B5-BCEE08E08D88}"/>
              </a:ext>
            </a:extLst>
          </p:cNvPr>
          <p:cNvSpPr txBox="1"/>
          <p:nvPr/>
        </p:nvSpPr>
        <p:spPr>
          <a:xfrm>
            <a:off x="11299727" y="3408078"/>
            <a:ext cx="804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DECK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C28D80-501D-2D4F-FC93-C016CBB86463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10938067" y="1227015"/>
            <a:ext cx="710385" cy="2063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007875-E7ED-FDEC-6586-59C42A29AC01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11049069" y="3850260"/>
            <a:ext cx="599383" cy="612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27">
            <a:extLst>
              <a:ext uri="{FF2B5EF4-FFF2-40B4-BE49-F238E27FC236}">
                <a16:creationId xmlns:a16="http://schemas.microsoft.com/office/drawing/2014/main" id="{7641C4EA-4A33-8FB6-0991-9EB1E21A4F32}"/>
              </a:ext>
            </a:extLst>
          </p:cNvPr>
          <p:cNvSpPr txBox="1"/>
          <p:nvPr/>
        </p:nvSpPr>
        <p:spPr>
          <a:xfrm>
            <a:off x="6453809" y="3954496"/>
            <a:ext cx="1195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a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capR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27">
            <a:extLst>
              <a:ext uri="{FF2B5EF4-FFF2-40B4-BE49-F238E27FC236}">
                <a16:creationId xmlns:a16="http://schemas.microsoft.com/office/drawing/2014/main" id="{093ECABF-A317-5160-405D-6CDFC6EEE004}"/>
              </a:ext>
            </a:extLst>
          </p:cNvPr>
          <p:cNvSpPr txBox="1"/>
          <p:nvPr/>
        </p:nvSpPr>
        <p:spPr>
          <a:xfrm>
            <a:off x="6621584" y="801124"/>
            <a:ext cx="1195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a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capR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9892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GB" dirty="0">
                <a:latin typeface="FoundrySterling-Bold" panose="02000700000000000000" pitchFamily="2" charset="0"/>
              </a:rPr>
              <a:t>3. New phenotype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D05F-00EC-0F13-A18D-324EEF64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507218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b="1" dirty="0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3.1 – </a:t>
            </a:r>
            <a:r>
              <a:rPr lang="en-GB" dirty="0" err="1">
                <a:latin typeface="FoundrySterling-BookOSF" panose="02000503000000020004" pitchFamily="2" charset="0"/>
              </a:rPr>
              <a:t>Codelist</a:t>
            </a:r>
            <a:r>
              <a:rPr lang="en-GB" dirty="0">
                <a:latin typeface="FoundrySterling-BookOSF" panose="02000503000000020004" pitchFamily="2" charset="0"/>
              </a:rPr>
              <a:t> generation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3.2 – </a:t>
            </a:r>
            <a:r>
              <a:rPr lang="en-GB" dirty="0" err="1">
                <a:latin typeface="FoundrySterling-BookOSF" panose="02000503000000020004" pitchFamily="2" charset="0"/>
              </a:rPr>
              <a:t>Codelist</a:t>
            </a:r>
            <a:r>
              <a:rPr lang="en-GB" dirty="0">
                <a:latin typeface="FoundrySterling-BookOSF" panose="02000503000000020004" pitchFamily="2" charset="0"/>
              </a:rPr>
              <a:t> refinement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3.3 – Cohorts generation </a:t>
            </a:r>
          </a:p>
        </p:txBody>
      </p:sp>
    </p:spTree>
    <p:extLst>
      <p:ext uri="{BB962C8B-B14F-4D97-AF65-F5344CB8AC3E}">
        <p14:creationId xmlns:p14="http://schemas.microsoft.com/office/powerpoint/2010/main" val="3744325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GB" dirty="0">
                <a:latin typeface="FoundrySterling-Bold" panose="02000700000000000000" pitchFamily="2" charset="0"/>
              </a:rPr>
              <a:t>3.1 </a:t>
            </a:r>
            <a:r>
              <a:rPr lang="en-GB" dirty="0" err="1">
                <a:latin typeface="FoundrySterling-Bold" panose="02000700000000000000" pitchFamily="2" charset="0"/>
              </a:rPr>
              <a:t>Codelist</a:t>
            </a:r>
            <a:r>
              <a:rPr lang="en-GB" dirty="0">
                <a:latin typeface="FoundrySterling-Bold" panose="02000700000000000000" pitchFamily="2" charset="0"/>
              </a:rPr>
              <a:t>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D05F-00EC-0F13-A18D-324EEF64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507218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b="1" dirty="0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Generate a first </a:t>
            </a:r>
            <a:r>
              <a:rPr lang="en-GB" dirty="0" err="1">
                <a:latin typeface="FoundrySterling-BookOSF" panose="02000503000000020004" pitchFamily="2" charset="0"/>
              </a:rPr>
              <a:t>codelist</a:t>
            </a:r>
            <a:r>
              <a:rPr lang="en-GB" dirty="0">
                <a:latin typeface="FoundrySterling-BookOSF" panose="02000503000000020004" pitchFamily="2" charset="0"/>
              </a:rPr>
              <a:t> (systematic way if possible)</a:t>
            </a:r>
          </a:p>
          <a:p>
            <a:pPr marL="0" indent="0">
              <a:buNone/>
            </a:pPr>
            <a:endParaRPr lang="en-GB" dirty="0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Tools:</a:t>
            </a:r>
          </a:p>
          <a:p>
            <a:pPr>
              <a:buFontTx/>
              <a:buChar char="-"/>
            </a:pPr>
            <a:r>
              <a:rPr lang="en-GB" dirty="0" err="1">
                <a:latin typeface="FoundrySterling-BookOSF" panose="02000503000000020004" pitchFamily="2" charset="0"/>
              </a:rPr>
              <a:t>CodelistGenerator</a:t>
            </a:r>
            <a:endParaRPr lang="en-GB" dirty="0">
              <a:latin typeface="FoundrySterling-BookOSF" panose="02000503000000020004" pitchFamily="2" charset="0"/>
            </a:endParaRPr>
          </a:p>
        </p:txBody>
      </p:sp>
      <p:pic>
        <p:nvPicPr>
          <p:cNvPr id="4" name="Picture 3" descr="A hexagon with a calculator and numbers&#10;&#10;Description automatically generated">
            <a:extLst>
              <a:ext uri="{FF2B5EF4-FFF2-40B4-BE49-F238E27FC236}">
                <a16:creationId xmlns:a16="http://schemas.microsoft.com/office/drawing/2014/main" id="{8D2DDE51-B47C-14BF-5E6A-2EA7C76F8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729" y="2939667"/>
            <a:ext cx="1561420" cy="180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271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E2CF29-F57B-1DB1-C834-1BB2C8BEF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49" y="169269"/>
            <a:ext cx="5164003" cy="65194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F690A3-331E-7527-AEF8-AC59F33DCC1D}"/>
              </a:ext>
            </a:extLst>
          </p:cNvPr>
          <p:cNvSpPr txBox="1"/>
          <p:nvPr/>
        </p:nvSpPr>
        <p:spPr>
          <a:xfrm>
            <a:off x="500185" y="35264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Codelist</a:t>
            </a:r>
            <a:r>
              <a:rPr lang="en-GB" sz="2800" dirty="0">
                <a:solidFill>
                  <a:prstClr val="black"/>
                </a:solidFill>
                <a:latin typeface="FoundrySterling-Bold" panose="02000700000000000000" pitchFamily="2" charset="0"/>
              </a:rPr>
              <a:t>G</a:t>
            </a: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enerator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0873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GB" dirty="0">
                <a:latin typeface="FoundrySterling-Bold" panose="02000700000000000000" pitchFamily="2" charset="0"/>
              </a:rPr>
              <a:t>3.2 </a:t>
            </a:r>
            <a:r>
              <a:rPr lang="en-GB" dirty="0" err="1">
                <a:latin typeface="FoundrySterling-Bold" panose="02000700000000000000" pitchFamily="2" charset="0"/>
              </a:rPr>
              <a:t>Codelist</a:t>
            </a:r>
            <a:r>
              <a:rPr lang="en-GB" dirty="0">
                <a:latin typeface="FoundrySterling-Bold" panose="02000700000000000000" pitchFamily="2" charset="0"/>
              </a:rPr>
              <a:t> 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D05F-00EC-0F13-A18D-324EEF64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5072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Clinical review. In DARWIN EU®: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	- Two independent reviewers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	- Third ‘referee’</a:t>
            </a:r>
          </a:p>
          <a:p>
            <a:pPr marL="0" indent="0">
              <a:buNone/>
            </a:pPr>
            <a:endParaRPr lang="en-GB" dirty="0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Delimitate cohort flavours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	- Narrow vs Broad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	- Incident vs Prevalent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	- Secondary vs Primary vs All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	- …</a:t>
            </a:r>
          </a:p>
        </p:txBody>
      </p:sp>
    </p:spTree>
    <p:extLst>
      <p:ext uri="{BB962C8B-B14F-4D97-AF65-F5344CB8AC3E}">
        <p14:creationId xmlns:p14="http://schemas.microsoft.com/office/powerpoint/2010/main" val="3959047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B52629-3562-7D2F-2B02-A3A5A9AEA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002"/>
            <a:ext cx="12192000" cy="65045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0" y="-61397"/>
            <a:ext cx="10515600" cy="955675"/>
          </a:xfrm>
        </p:spPr>
        <p:txBody>
          <a:bodyPr/>
          <a:lstStyle/>
          <a:p>
            <a:r>
              <a:rPr lang="en-GB" dirty="0" err="1">
                <a:latin typeface="FoundrySterling-Bold" panose="02000700000000000000" pitchFamily="2" charset="0"/>
              </a:rPr>
              <a:t>Codelist</a:t>
            </a:r>
            <a:r>
              <a:rPr lang="en-GB" dirty="0">
                <a:latin typeface="FoundrySterling-Bold" panose="02000700000000000000" pitchFamily="2" charset="0"/>
              </a:rPr>
              <a:t> review</a:t>
            </a:r>
          </a:p>
        </p:txBody>
      </p:sp>
    </p:spTree>
    <p:extLst>
      <p:ext uri="{BB962C8B-B14F-4D97-AF65-F5344CB8AC3E}">
        <p14:creationId xmlns:p14="http://schemas.microsoft.com/office/powerpoint/2010/main" val="3848661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GB" dirty="0">
                <a:latin typeface="FoundrySterling-Bold" panose="02000700000000000000" pitchFamily="2" charset="0"/>
              </a:rPr>
              <a:t>3.3 Cohort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D05F-00EC-0F13-A18D-324EEF64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5072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Cohort for each flavours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Determine all lookback, forward periods and other times and censoring</a:t>
            </a:r>
          </a:p>
          <a:p>
            <a:pPr marL="0" indent="0">
              <a:buNone/>
            </a:pPr>
            <a:endParaRPr lang="en-GB" dirty="0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Tools: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	- </a:t>
            </a:r>
            <a:r>
              <a:rPr lang="en-GB" dirty="0" err="1">
                <a:latin typeface="FoundrySterling-BookOSF" panose="02000503000000020004" pitchFamily="2" charset="0"/>
              </a:rPr>
              <a:t>CohortConstructor</a:t>
            </a:r>
            <a:endParaRPr lang="en-GB" dirty="0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           - </a:t>
            </a:r>
            <a:r>
              <a:rPr lang="en-GB" dirty="0" err="1">
                <a:latin typeface="FoundrySterling-BookOSF" panose="02000503000000020004" pitchFamily="2" charset="0"/>
              </a:rPr>
              <a:t>caprR</a:t>
            </a:r>
            <a:endParaRPr lang="en-GB" dirty="0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	- ATLAS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32157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GB" dirty="0">
                <a:latin typeface="FoundrySterling-Bold" panose="02000700000000000000" pitchFamily="2" charset="0"/>
              </a:rPr>
              <a:t>4 Cohort review /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D05F-00EC-0F13-A18D-324EEF64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50721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Make sure cohorts represent what we want</a:t>
            </a:r>
          </a:p>
          <a:p>
            <a:pPr marL="0" indent="0">
              <a:buNone/>
            </a:pPr>
            <a:endParaRPr lang="en-GB" dirty="0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Check for every database:</a:t>
            </a:r>
          </a:p>
          <a:p>
            <a:r>
              <a:rPr lang="en-GB" dirty="0">
                <a:latin typeface="FoundrySterling-BookOSF" panose="02000503000000020004" pitchFamily="2" charset="0"/>
              </a:rPr>
              <a:t>Included / index concepts</a:t>
            </a:r>
          </a:p>
          <a:p>
            <a:r>
              <a:rPr lang="en-GB" dirty="0">
                <a:latin typeface="FoundrySterling-BookOSF" panose="02000503000000020004" pitchFamily="2" charset="0"/>
              </a:rPr>
              <a:t>‘Orphan’ (missed) concepts: source or standard</a:t>
            </a:r>
          </a:p>
          <a:p>
            <a:r>
              <a:rPr lang="en-GB" dirty="0">
                <a:latin typeface="FoundrySterling-BookOSF" panose="02000503000000020004" pitchFamily="2" charset="0"/>
              </a:rPr>
              <a:t>Disease epi – incidence/prevalence ~ previous knowledge</a:t>
            </a:r>
          </a:p>
          <a:p>
            <a:r>
              <a:rPr lang="en-GB" dirty="0">
                <a:latin typeface="FoundrySterling-BookOSF" panose="02000503000000020004" pitchFamily="2" charset="0"/>
              </a:rPr>
              <a:t>Socio-demographics – age and sex profiles ~ previous knowledge</a:t>
            </a:r>
          </a:p>
          <a:p>
            <a:r>
              <a:rPr lang="en-GB" dirty="0">
                <a:latin typeface="FoundrySterling-BookOSF" panose="02000503000000020004" pitchFamily="2" charset="0"/>
              </a:rPr>
              <a:t>Work/up etc before index date ~ Clinical Description</a:t>
            </a:r>
          </a:p>
          <a:p>
            <a:r>
              <a:rPr lang="en-GB" dirty="0">
                <a:latin typeface="FoundrySterling-BookOSF" panose="02000503000000020004" pitchFamily="2" charset="0"/>
              </a:rPr>
              <a:t>Consistent treatments after index date ~ Clinical Description</a:t>
            </a:r>
          </a:p>
          <a:p>
            <a:r>
              <a:rPr lang="en-GB" dirty="0">
                <a:latin typeface="FoundrySterling-BookOSF" panose="02000503000000020004" pitchFamily="2" charset="0"/>
              </a:rPr>
              <a:t>Overlap between different phenotypes: e.g. broad vs narrow</a:t>
            </a:r>
          </a:p>
          <a:p>
            <a:pPr marL="0" indent="0">
              <a:buNone/>
            </a:pPr>
            <a:endParaRPr lang="en-GB" b="1" dirty="0">
              <a:latin typeface="FoundrySterling-BookOSF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304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D6578-0758-BC13-9A07-475A7D8D3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FoundrySterling-Bold" panose="02000700000000000000" pitchFamily="2" charset="0"/>
              </a:rPr>
              <a:t>4 Cohort review / diagnostics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36304-BE12-9D37-A474-E8946FFF4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TOOLS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- Cohort diagnostics (by OHDSI)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- Drug exposure diagnostics (by DARWIN EU®) 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- </a:t>
            </a:r>
            <a:r>
              <a:rPr lang="en-GB" dirty="0" err="1">
                <a:latin typeface="FoundrySterling-BookOSF" panose="02000503000000020004" pitchFamily="2" charset="0"/>
              </a:rPr>
              <a:t>PhenotypeR</a:t>
            </a:r>
            <a:r>
              <a:rPr lang="en-GB" dirty="0">
                <a:latin typeface="FoundrySterling-BookOSF" panose="02000503000000020004" pitchFamily="2" charset="0"/>
              </a:rPr>
              <a:t> (by OHDSI)</a:t>
            </a:r>
          </a:p>
          <a:p>
            <a:pPr marL="0" indent="0">
              <a:buNone/>
            </a:pPr>
            <a:endParaRPr lang="en-GB" dirty="0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+</a:t>
            </a:r>
          </a:p>
          <a:p>
            <a:pPr marL="0" indent="0">
              <a:buNone/>
            </a:pPr>
            <a:endParaRPr lang="en-GB" dirty="0">
              <a:latin typeface="FoundrySterling-BookOSF" panose="02000503000000020004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GB" dirty="0">
                <a:latin typeface="FoundrySterling-BookOSF" panose="02000503000000020004" pitchFamily="2" charset="0"/>
              </a:rPr>
              <a:t>Phenotype/cohort diagnostics review form</a:t>
            </a:r>
          </a:p>
          <a:p>
            <a:pPr>
              <a:buFont typeface="Wingdings" pitchFamily="2" charset="2"/>
              <a:buChar char="Ø"/>
            </a:pPr>
            <a:r>
              <a:rPr lang="en-GB" dirty="0">
                <a:latin typeface="FoundrySterling-BookOSF" panose="02000503000000020004" pitchFamily="2" charset="0"/>
              </a:rPr>
              <a:t>Drug exposure review form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467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784B39-0404-4414-F6AF-CB307EDD4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24" y="192814"/>
            <a:ext cx="11433908" cy="611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8354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6AAB69-5FA5-0CF1-E720-BBEEF77C4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425"/>
            <a:ext cx="12192000" cy="642456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2C7C4D7-CF72-32B6-DC1E-B83A53288DE7}"/>
              </a:ext>
            </a:extLst>
          </p:cNvPr>
          <p:cNvSpPr txBox="1">
            <a:spLocks/>
          </p:cNvSpPr>
          <p:nvPr/>
        </p:nvSpPr>
        <p:spPr>
          <a:xfrm>
            <a:off x="1610785" y="-391357"/>
            <a:ext cx="11025554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ld" panose="02000700000000000000" pitchFamily="2" charset="0"/>
                <a:ea typeface="+mj-ea"/>
                <a:cs typeface="+mj-cs"/>
              </a:rPr>
              <a:t>Orphan codes review</a:t>
            </a:r>
          </a:p>
        </p:txBody>
      </p:sp>
    </p:spTree>
    <p:extLst>
      <p:ext uri="{BB962C8B-B14F-4D97-AF65-F5344CB8AC3E}">
        <p14:creationId xmlns:p14="http://schemas.microsoft.com/office/powerpoint/2010/main" val="18498071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GB" dirty="0">
                <a:latin typeface="FoundrySterling-Bold" panose="02000700000000000000" pitchFamily="2" charset="0"/>
              </a:rPr>
              <a:t>5 – DECK Portal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D05F-00EC-0F13-A18D-324EEF64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4780402" cy="5072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Store cohort definitions in DECK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- for indications: happy with cohort diagnostics</a:t>
            </a: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- for regulatory outcomes: EMA / senior approval </a:t>
            </a:r>
          </a:p>
          <a:p>
            <a:pPr marL="0" indent="0">
              <a:buNone/>
            </a:pPr>
            <a:endParaRPr lang="en-GB" dirty="0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 dirty="0">
                <a:latin typeface="FoundrySterling-BookOSF" panose="02000503000000020004" pitchFamily="2" charset="0"/>
              </a:rPr>
              <a:t>All metadata stored and reusable for future studies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FD7C22-E91E-98E4-66B1-742FF0F02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101" y="1627400"/>
            <a:ext cx="6473197" cy="351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4417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A01A6AE8-DAEC-A1E7-8B80-5D4C4D347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824949"/>
            <a:ext cx="7800975" cy="577010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642C20-157E-8CED-C3BE-3F2B831710D7}"/>
              </a:ext>
            </a:extLst>
          </p:cNvPr>
          <p:cNvSpPr/>
          <p:nvPr/>
        </p:nvSpPr>
        <p:spPr>
          <a:xfrm>
            <a:off x="6772274" y="338504"/>
            <a:ext cx="1438275" cy="2114550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38F7A-DA6E-9737-C857-BB867B683D40}"/>
              </a:ext>
            </a:extLst>
          </p:cNvPr>
          <p:cNvSpPr txBox="1"/>
          <p:nvPr/>
        </p:nvSpPr>
        <p:spPr>
          <a:xfrm>
            <a:off x="7088918" y="455617"/>
            <a:ext cx="804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DECK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14D175-2B83-11C8-BE3B-884411E3AB15}"/>
              </a:ext>
            </a:extLst>
          </p:cNvPr>
          <p:cNvSpPr/>
          <p:nvPr/>
        </p:nvSpPr>
        <p:spPr>
          <a:xfrm>
            <a:off x="9085259" y="338504"/>
            <a:ext cx="2465879" cy="2114550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CEABF-BDFF-4397-0E37-485658DC3B09}"/>
              </a:ext>
            </a:extLst>
          </p:cNvPr>
          <p:cNvSpPr txBox="1"/>
          <p:nvPr/>
        </p:nvSpPr>
        <p:spPr>
          <a:xfrm>
            <a:off x="9401902" y="455617"/>
            <a:ext cx="19304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METADATA DB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797AE2-6161-8F35-BE01-7F22F0141C53}"/>
              </a:ext>
            </a:extLst>
          </p:cNvPr>
          <p:cNvSpPr txBox="1"/>
          <p:nvPr/>
        </p:nvSpPr>
        <p:spPr>
          <a:xfrm>
            <a:off x="9269047" y="942062"/>
            <a:ext cx="21887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okOSF" panose="02000503000000020004" pitchFamily="2" charset="0"/>
                <a:ea typeface="+mn-ea"/>
                <a:cs typeface="+mn-cs"/>
              </a:rPr>
              <a:t>Database that follows the process and contains data on all forms and decisions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DBDF5A-A274-4DE2-475B-F66D32A34936}"/>
              </a:ext>
            </a:extLst>
          </p:cNvPr>
          <p:cNvCxnSpPr/>
          <p:nvPr/>
        </p:nvCxnSpPr>
        <p:spPr>
          <a:xfrm flipH="1">
            <a:off x="8210549" y="824949"/>
            <a:ext cx="8747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81B9787-BC9E-4A5D-8E14-4797D044943E}"/>
              </a:ext>
            </a:extLst>
          </p:cNvPr>
          <p:cNvSpPr/>
          <p:nvPr/>
        </p:nvSpPr>
        <p:spPr>
          <a:xfrm>
            <a:off x="9085259" y="2822386"/>
            <a:ext cx="2465879" cy="663276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0E4C50-DE7A-F1F1-BF97-27F64D4F37E7}"/>
              </a:ext>
            </a:extLst>
          </p:cNvPr>
          <p:cNvSpPr txBox="1"/>
          <p:nvPr/>
        </p:nvSpPr>
        <p:spPr>
          <a:xfrm>
            <a:off x="9401902" y="2939499"/>
            <a:ext cx="19304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Diagnostics DB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ángulo 3">
            <a:extLst>
              <a:ext uri="{FF2B5EF4-FFF2-40B4-BE49-F238E27FC236}">
                <a16:creationId xmlns:a16="http://schemas.microsoft.com/office/drawing/2014/main" id="{BA8C9636-F685-0C7C-F0AE-5E98BF1C5349}"/>
              </a:ext>
            </a:extLst>
          </p:cNvPr>
          <p:cNvSpPr/>
          <p:nvPr/>
        </p:nvSpPr>
        <p:spPr>
          <a:xfrm>
            <a:off x="5360193" y="4579144"/>
            <a:ext cx="686339" cy="265948"/>
          </a:xfrm>
          <a:custGeom>
            <a:avLst/>
            <a:gdLst>
              <a:gd name="connsiteX0" fmla="*/ 0 w 687806"/>
              <a:gd name="connsiteY0" fmla="*/ 0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0 w 687806"/>
              <a:gd name="connsiteY4" fmla="*/ 0 h 270711"/>
              <a:gd name="connsiteX0" fmla="*/ 16669 w 687806"/>
              <a:gd name="connsiteY0" fmla="*/ 23812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16669 w 687806"/>
              <a:gd name="connsiteY4" fmla="*/ 23812 h 270711"/>
              <a:gd name="connsiteX0" fmla="*/ 16669 w 687806"/>
              <a:gd name="connsiteY0" fmla="*/ 0 h 246899"/>
              <a:gd name="connsiteX1" fmla="*/ 611606 w 687806"/>
              <a:gd name="connsiteY1" fmla="*/ 9526 h 246899"/>
              <a:gd name="connsiteX2" fmla="*/ 687806 w 687806"/>
              <a:gd name="connsiteY2" fmla="*/ 246899 h 246899"/>
              <a:gd name="connsiteX3" fmla="*/ 0 w 687806"/>
              <a:gd name="connsiteY3" fmla="*/ 246899 h 246899"/>
              <a:gd name="connsiteX4" fmla="*/ 16669 w 687806"/>
              <a:gd name="connsiteY4" fmla="*/ 0 h 246899"/>
              <a:gd name="connsiteX0" fmla="*/ 16669 w 611606"/>
              <a:gd name="connsiteY0" fmla="*/ 0 h 249280"/>
              <a:gd name="connsiteX1" fmla="*/ 611606 w 611606"/>
              <a:gd name="connsiteY1" fmla="*/ 9526 h 249280"/>
              <a:gd name="connsiteX2" fmla="*/ 523500 w 611606"/>
              <a:gd name="connsiteY2" fmla="*/ 249280 h 249280"/>
              <a:gd name="connsiteX3" fmla="*/ 0 w 611606"/>
              <a:gd name="connsiteY3" fmla="*/ 246899 h 249280"/>
              <a:gd name="connsiteX4" fmla="*/ 16669 w 611606"/>
              <a:gd name="connsiteY4" fmla="*/ 0 h 249280"/>
              <a:gd name="connsiteX0" fmla="*/ 0 w 594937"/>
              <a:gd name="connsiteY0" fmla="*/ 0 h 249280"/>
              <a:gd name="connsiteX1" fmla="*/ 594937 w 594937"/>
              <a:gd name="connsiteY1" fmla="*/ 9526 h 249280"/>
              <a:gd name="connsiteX2" fmla="*/ 506831 w 594937"/>
              <a:gd name="connsiteY2" fmla="*/ 249280 h 249280"/>
              <a:gd name="connsiteX3" fmla="*/ 69056 w 594937"/>
              <a:gd name="connsiteY3" fmla="*/ 239755 h 249280"/>
              <a:gd name="connsiteX4" fmla="*/ 0 w 594937"/>
              <a:gd name="connsiteY4" fmla="*/ 0 h 249280"/>
              <a:gd name="connsiteX0" fmla="*/ 0 w 566362"/>
              <a:gd name="connsiteY0" fmla="*/ 0 h 282617"/>
              <a:gd name="connsiteX1" fmla="*/ 566362 w 566362"/>
              <a:gd name="connsiteY1" fmla="*/ 42863 h 282617"/>
              <a:gd name="connsiteX2" fmla="*/ 478256 w 566362"/>
              <a:gd name="connsiteY2" fmla="*/ 282617 h 282617"/>
              <a:gd name="connsiteX3" fmla="*/ 40481 w 566362"/>
              <a:gd name="connsiteY3" fmla="*/ 273092 h 282617"/>
              <a:gd name="connsiteX4" fmla="*/ 0 w 566362"/>
              <a:gd name="connsiteY4" fmla="*/ 0 h 282617"/>
              <a:gd name="connsiteX0" fmla="*/ 0 w 525881"/>
              <a:gd name="connsiteY0" fmla="*/ 0 h 282617"/>
              <a:gd name="connsiteX1" fmla="*/ 525881 w 525881"/>
              <a:gd name="connsiteY1" fmla="*/ 7144 h 282617"/>
              <a:gd name="connsiteX2" fmla="*/ 478256 w 525881"/>
              <a:gd name="connsiteY2" fmla="*/ 282617 h 282617"/>
              <a:gd name="connsiteX3" fmla="*/ 40481 w 525881"/>
              <a:gd name="connsiteY3" fmla="*/ 273092 h 282617"/>
              <a:gd name="connsiteX4" fmla="*/ 0 w 525881"/>
              <a:gd name="connsiteY4" fmla="*/ 0 h 282617"/>
              <a:gd name="connsiteX0" fmla="*/ 0 w 593094"/>
              <a:gd name="connsiteY0" fmla="*/ 0 h 282617"/>
              <a:gd name="connsiteX1" fmla="*/ 525881 w 593094"/>
              <a:gd name="connsiteY1" fmla="*/ 7144 h 282617"/>
              <a:gd name="connsiteX2" fmla="*/ 592556 w 593094"/>
              <a:gd name="connsiteY2" fmla="*/ 152400 h 282617"/>
              <a:gd name="connsiteX3" fmla="*/ 478256 w 593094"/>
              <a:gd name="connsiteY3" fmla="*/ 282617 h 282617"/>
              <a:gd name="connsiteX4" fmla="*/ 40481 w 593094"/>
              <a:gd name="connsiteY4" fmla="*/ 273092 h 282617"/>
              <a:gd name="connsiteX5" fmla="*/ 0 w 593094"/>
              <a:gd name="connsiteY5" fmla="*/ 0 h 282617"/>
              <a:gd name="connsiteX0" fmla="*/ 109914 w 703008"/>
              <a:gd name="connsiteY0" fmla="*/ 0 h 282617"/>
              <a:gd name="connsiteX1" fmla="*/ 635795 w 703008"/>
              <a:gd name="connsiteY1" fmla="*/ 7144 h 282617"/>
              <a:gd name="connsiteX2" fmla="*/ 702470 w 703008"/>
              <a:gd name="connsiteY2" fmla="*/ 152400 h 282617"/>
              <a:gd name="connsiteX3" fmla="*/ 588170 w 703008"/>
              <a:gd name="connsiteY3" fmla="*/ 282617 h 282617"/>
              <a:gd name="connsiteX4" fmla="*/ 150395 w 703008"/>
              <a:gd name="connsiteY4" fmla="*/ 273092 h 282617"/>
              <a:gd name="connsiteX5" fmla="*/ 0 w 703008"/>
              <a:gd name="connsiteY5" fmla="*/ 135731 h 282617"/>
              <a:gd name="connsiteX6" fmla="*/ 109914 w 703008"/>
              <a:gd name="connsiteY6" fmla="*/ 0 h 282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3008" h="282617">
                <a:moveTo>
                  <a:pt x="109914" y="0"/>
                </a:moveTo>
                <a:lnTo>
                  <a:pt x="635795" y="7144"/>
                </a:lnTo>
                <a:cubicBezTo>
                  <a:pt x="627857" y="55563"/>
                  <a:pt x="710408" y="103981"/>
                  <a:pt x="702470" y="152400"/>
                </a:cubicBezTo>
                <a:lnTo>
                  <a:pt x="588170" y="282617"/>
                </a:lnTo>
                <a:lnTo>
                  <a:pt x="150395" y="273092"/>
                </a:lnTo>
                <a:cubicBezTo>
                  <a:pt x="142332" y="229686"/>
                  <a:pt x="8063" y="179137"/>
                  <a:pt x="0" y="135731"/>
                </a:cubicBezTo>
                <a:lnTo>
                  <a:pt x="10991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misclassification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282929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building, tower&#10;&#10;Description automatically generated">
            <a:extLst>
              <a:ext uri="{FF2B5EF4-FFF2-40B4-BE49-F238E27FC236}">
                <a16:creationId xmlns:a16="http://schemas.microsoft.com/office/drawing/2014/main" id="{E29317AB-4BC0-7D87-24B0-B4CBDE2DA0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68"/>
          <a:stretch/>
        </p:blipFill>
        <p:spPr>
          <a:xfrm>
            <a:off x="1626250" y="10"/>
            <a:ext cx="9270806" cy="6857990"/>
          </a:xfrm>
          <a:custGeom>
            <a:avLst/>
            <a:gdLst/>
            <a:ahLst/>
            <a:cxnLst/>
            <a:rect l="l" t="t" r="r" b="b"/>
            <a:pathLst>
              <a:path w="9270806" h="6858000">
                <a:moveTo>
                  <a:pt x="1503712" y="0"/>
                </a:moveTo>
                <a:lnTo>
                  <a:pt x="7767094" y="0"/>
                </a:lnTo>
                <a:lnTo>
                  <a:pt x="7913128" y="139721"/>
                </a:lnTo>
                <a:cubicBezTo>
                  <a:pt x="8751971" y="981521"/>
                  <a:pt x="9270806" y="2144457"/>
                  <a:pt x="9270806" y="3429000"/>
                </a:cubicBezTo>
                <a:cubicBezTo>
                  <a:pt x="9270806" y="4713544"/>
                  <a:pt x="8751971" y="5876479"/>
                  <a:pt x="7913128" y="6718279"/>
                </a:cubicBezTo>
                <a:lnTo>
                  <a:pt x="7767094" y="6858000"/>
                </a:lnTo>
                <a:lnTo>
                  <a:pt x="1503712" y="6858000"/>
                </a:lnTo>
                <a:lnTo>
                  <a:pt x="1357679" y="6718279"/>
                </a:lnTo>
                <a:cubicBezTo>
                  <a:pt x="518835" y="5876479"/>
                  <a:pt x="0" y="4713544"/>
                  <a:pt x="0" y="3429000"/>
                </a:cubicBezTo>
                <a:cubicBezTo>
                  <a:pt x="0" y="2144457"/>
                  <a:pt x="518835" y="981521"/>
                  <a:pt x="1357679" y="139721"/>
                </a:cubicBezTo>
                <a:close/>
              </a:path>
            </a:pathLst>
          </a:cu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DE5EF4-7EFA-A3C2-BA8D-08BDB1248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44583ED-F364-40B3-B25B-483B5033DFA3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01296-15A5-5CC6-579D-8021B67741D2}"/>
              </a:ext>
            </a:extLst>
          </p:cNvPr>
          <p:cNvSpPr txBox="1"/>
          <p:nvPr/>
        </p:nvSpPr>
        <p:spPr>
          <a:xfrm>
            <a:off x="5281684" y="1152939"/>
            <a:ext cx="488604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QUESTIONS?</a:t>
            </a:r>
          </a:p>
          <a:p>
            <a:pPr algn="ctr"/>
            <a:endParaRPr lang="en-GB" sz="2000" dirty="0">
              <a:solidFill>
                <a:srgbClr val="FFFF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382D00-142C-8D8D-9950-89707D945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3" y="4886961"/>
            <a:ext cx="1757157" cy="183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1097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M" id="{3A05EEF3-575C-A949-92D1-28A54CC77AB2}" vid="{EA233327-69BB-2B4D-AF12-19D7A1751CE6}"/>
    </a:ext>
  </a:extLst>
</a:theme>
</file>

<file path=ppt/theme/theme2.xml><?xml version="1.0" encoding="utf-8"?>
<a:theme xmlns:a="http://schemas.openxmlformats.org/drawingml/2006/main" name="EHDEN">
  <a:themeElements>
    <a:clrScheme name="EHDEN">
      <a:dk1>
        <a:srgbClr val="000000"/>
      </a:dk1>
      <a:lt1>
        <a:srgbClr val="FFFFFF"/>
      </a:lt1>
      <a:dk2>
        <a:srgbClr val="383C45"/>
      </a:dk2>
      <a:lt2>
        <a:srgbClr val="FFFFFF"/>
      </a:lt2>
      <a:accent1>
        <a:srgbClr val="45B0C9"/>
      </a:accent1>
      <a:accent2>
        <a:srgbClr val="EFA528"/>
      </a:accent2>
      <a:accent3>
        <a:srgbClr val="922E75"/>
      </a:accent3>
      <a:accent4>
        <a:srgbClr val="372E77"/>
      </a:accent4>
      <a:accent5>
        <a:srgbClr val="DC3456"/>
      </a:accent5>
      <a:accent6>
        <a:srgbClr val="55C78E"/>
      </a:accent6>
      <a:hlink>
        <a:srgbClr val="1F8CF9"/>
      </a:hlink>
      <a:folHlink>
        <a:srgbClr val="B67696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50FC201-1390-4213-9EB8-FF58A0ABAC4C}" vid="{BC178EDE-B3A8-4295-BC1C-8745FD0F62B6}"/>
    </a:ext>
  </a:extLst>
</a:theme>
</file>

<file path=ppt/theme/theme3.xml><?xml version="1.0" encoding="utf-8"?>
<a:theme xmlns:a="http://schemas.openxmlformats.org/drawingml/2006/main" name="4_Chalkbo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Default wide screen (Agency)">
  <a:themeElements>
    <a:clrScheme name="Neutral (Agency) (26 April 2011) 2">
      <a:dk1>
        <a:srgbClr val="000000"/>
      </a:dk1>
      <a:lt1>
        <a:srgbClr val="FFFFFF"/>
      </a:lt1>
      <a:dk2>
        <a:srgbClr val="003399"/>
      </a:dk2>
      <a:lt2>
        <a:srgbClr val="6D6F71"/>
      </a:lt2>
      <a:accent1>
        <a:srgbClr val="E1E3F2"/>
      </a:accent1>
      <a:accent2>
        <a:srgbClr val="E98300"/>
      </a:accent2>
      <a:accent3>
        <a:srgbClr val="FFFFFF"/>
      </a:accent3>
      <a:accent4>
        <a:srgbClr val="000000"/>
      </a:accent4>
      <a:accent5>
        <a:srgbClr val="EEEFF7"/>
      </a:accent5>
      <a:accent6>
        <a:srgbClr val="D37600"/>
      </a:accent6>
      <a:hlink>
        <a:srgbClr val="0098DB"/>
      </a:hlink>
      <a:folHlink>
        <a:srgbClr val="983222"/>
      </a:folHlink>
    </a:clrScheme>
    <a:fontScheme name="Neutral (Agency) (26 April 2011)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72000" tIns="72000" rIns="72000" bIns="720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72000" tIns="72000" rIns="72000" bIns="720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Neutral (Agency) (26 April 2011) 1">
        <a:dk1>
          <a:srgbClr val="404040"/>
        </a:dk1>
        <a:lt1>
          <a:srgbClr val="FFFFFF"/>
        </a:lt1>
        <a:dk2>
          <a:srgbClr val="003399"/>
        </a:dk2>
        <a:lt2>
          <a:srgbClr val="FFFFFF"/>
        </a:lt2>
        <a:accent1>
          <a:srgbClr val="E1E4F3"/>
        </a:accent1>
        <a:accent2>
          <a:srgbClr val="E98300"/>
        </a:accent2>
        <a:accent3>
          <a:srgbClr val="AAADCA"/>
        </a:accent3>
        <a:accent4>
          <a:srgbClr val="DADADA"/>
        </a:accent4>
        <a:accent5>
          <a:srgbClr val="EEEFF8"/>
        </a:accent5>
        <a:accent6>
          <a:srgbClr val="D37600"/>
        </a:accent6>
        <a:hlink>
          <a:srgbClr val="0098DB"/>
        </a:hlink>
        <a:folHlink>
          <a:srgbClr val="98322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utral (Agency) (26 April 2011) 2">
        <a:dk1>
          <a:srgbClr val="000000"/>
        </a:dk1>
        <a:lt1>
          <a:srgbClr val="FFFFFF"/>
        </a:lt1>
        <a:dk2>
          <a:srgbClr val="003399"/>
        </a:dk2>
        <a:lt2>
          <a:srgbClr val="6D6F71"/>
        </a:lt2>
        <a:accent1>
          <a:srgbClr val="E1E3F2"/>
        </a:accent1>
        <a:accent2>
          <a:srgbClr val="E98300"/>
        </a:accent2>
        <a:accent3>
          <a:srgbClr val="FFFFFF"/>
        </a:accent3>
        <a:accent4>
          <a:srgbClr val="000000"/>
        </a:accent4>
        <a:accent5>
          <a:srgbClr val="EEEFF7"/>
        </a:accent5>
        <a:accent6>
          <a:srgbClr val="D37600"/>
        </a:accent6>
        <a:hlink>
          <a:srgbClr val="0098DB"/>
        </a:hlink>
        <a:folHlink>
          <a:srgbClr val="98322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5" id="{C4EBF457-6495-7047-AFAE-9B26360716F3}" vid="{D6BD667D-CB18-604E-81E2-9DF2E2405BC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E9472A0-DE1A-44A8-B2EC-46C4CE01313E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h_Settings xmlns="3aedf1c0-925e-4524-a733-b26409c497aa" xsi:nil="true"/>
    <Members xmlns="3aedf1c0-925e-4524-a733-b26409c497aa">
      <UserInfo>
        <DisplayName/>
        <AccountId xsi:nil="true"/>
        <AccountType/>
      </UserInfo>
    </Members>
    <Self_Registration_Enabled xmlns="3aedf1c0-925e-4524-a733-b26409c497aa" xsi:nil="true"/>
    <LMS_Mappings xmlns="3aedf1c0-925e-4524-a733-b26409c497aa" xsi:nil="true"/>
    <TaxCatchAll xmlns="b3804bb9-11fa-4e2e-86f5-8d7bf731dfbd" xsi:nil="true"/>
    <FolderType xmlns="3aedf1c0-925e-4524-a733-b26409c497aa" xsi:nil="true"/>
    <AppVersion xmlns="3aedf1c0-925e-4524-a733-b26409c497aa" xsi:nil="true"/>
    <IsNotebookLocked xmlns="3aedf1c0-925e-4524-a733-b26409c497aa" xsi:nil="true"/>
    <DefaultSectionNames xmlns="3aedf1c0-925e-4524-a733-b26409c497aa" xsi:nil="true"/>
    <Templates xmlns="3aedf1c0-925e-4524-a733-b26409c497aa" xsi:nil="true"/>
    <Has_Leaders_Only_SectionGroup xmlns="3aedf1c0-925e-4524-a733-b26409c497aa" xsi:nil="true"/>
    <NotebookType xmlns="3aedf1c0-925e-4524-a733-b26409c497aa" xsi:nil="true"/>
    <lcf76f155ced4ddcb4097134ff3c332f xmlns="3aedf1c0-925e-4524-a733-b26409c497aa">
      <Terms xmlns="http://schemas.microsoft.com/office/infopath/2007/PartnerControls"/>
    </lcf76f155ced4ddcb4097134ff3c332f>
    <Is_Collaboration_Space_Locked xmlns="3aedf1c0-925e-4524-a733-b26409c497aa" xsi:nil="true"/>
    <Member_Groups xmlns="3aedf1c0-925e-4524-a733-b26409c497aa">
      <UserInfo>
        <DisplayName/>
        <AccountId xsi:nil="true"/>
        <AccountType/>
      </UserInfo>
    </Member_Groups>
    <Owner xmlns="3aedf1c0-925e-4524-a733-b26409c497aa">
      <UserInfo>
        <DisplayName/>
        <AccountId xsi:nil="true"/>
        <AccountType/>
      </UserInfo>
    </Owner>
    <Distribution_Groups xmlns="3aedf1c0-925e-4524-a733-b26409c497aa" xsi:nil="true"/>
    <CultureName xmlns="3aedf1c0-925e-4524-a733-b26409c497aa" xsi:nil="true"/>
    <Leaders xmlns="3aedf1c0-925e-4524-a733-b26409c497aa">
      <UserInfo>
        <DisplayName/>
        <AccountId xsi:nil="true"/>
        <AccountType/>
      </UserInfo>
    </Leaders>
    <TeamsChannelId xmlns="3aedf1c0-925e-4524-a733-b26409c497aa" xsi:nil="true"/>
    <Invited_Leaders xmlns="3aedf1c0-925e-4524-a733-b26409c497aa" xsi:nil="true"/>
    <Invited_Members xmlns="3aedf1c0-925e-4524-a733-b26409c497a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3B207407E20E42891CE4C8204B656A" ma:contentTypeVersion="36" ma:contentTypeDescription="Create a new document." ma:contentTypeScope="" ma:versionID="278983ee66473d3f532a0431c22cda7c">
  <xsd:schema xmlns:xsd="http://www.w3.org/2001/XMLSchema" xmlns:xs="http://www.w3.org/2001/XMLSchema" xmlns:p="http://schemas.microsoft.com/office/2006/metadata/properties" xmlns:ns2="3aedf1c0-925e-4524-a733-b26409c497aa" xmlns:ns3="b3804bb9-11fa-4e2e-86f5-8d7bf731dfbd" targetNamespace="http://schemas.microsoft.com/office/2006/metadata/properties" ma:root="true" ma:fieldsID="1ad33d9f3e2a4406fb0f00077d9d1339" ns2:_="" ns3:_="">
    <xsd:import namespace="3aedf1c0-925e-4524-a733-b26409c497aa"/>
    <xsd:import namespace="b3804bb9-11fa-4e2e-86f5-8d7bf731df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edf1c0-925e-4524-a733-b26409c497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NotebookType" ma:index="10" nillable="true" ma:displayName="Notebook Type" ma:internalName="NotebookType">
      <xsd:simpleType>
        <xsd:restriction base="dms:Text"/>
      </xsd:simpleType>
    </xsd:element>
    <xsd:element name="FolderType" ma:index="11" nillable="true" ma:displayName="Folder Type" ma:internalName="FolderType">
      <xsd:simpleType>
        <xsd:restriction base="dms:Text"/>
      </xsd:simpleType>
    </xsd:element>
    <xsd:element name="CultureName" ma:index="12" nillable="true" ma:displayName="Culture Name" ma:internalName="CultureName">
      <xsd:simpleType>
        <xsd:restriction base="dms:Text"/>
      </xsd:simpleType>
    </xsd:element>
    <xsd:element name="AppVersion" ma:index="13" nillable="true" ma:displayName="App Version" ma:internalName="AppVersion">
      <xsd:simpleType>
        <xsd:restriction base="dms:Text"/>
      </xsd:simpleType>
    </xsd:element>
    <xsd:element name="TeamsChannelId" ma:index="14" nillable="true" ma:displayName="Teams Channel Id" ma:internalName="TeamsChannelId">
      <xsd:simpleType>
        <xsd:restriction base="dms:Text"/>
      </xsd:simpleType>
    </xsd:element>
    <xsd:element name="Owner" ma:index="1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6" nillable="true" ma:displayName="Math Settings" ma:internalName="Math_Settings">
      <xsd:simpleType>
        <xsd:restriction base="dms:Text"/>
      </xsd:simpleType>
    </xsd:element>
    <xsd:element name="DefaultSectionNames" ma:index="1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2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2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8" nillable="true" ma:displayName="Is Collaboration Space Locked" ma:internalName="Is_Collaboration_Space_Locked">
      <xsd:simpleType>
        <xsd:restriction base="dms:Boolean"/>
      </xsd:simpleType>
    </xsd:element>
    <xsd:element name="IsNotebookLocked" ma:index="29" nillable="true" ma:displayName="Is Notebook Locked" ma:internalName="IsNotebookLocked">
      <xsd:simpleType>
        <xsd:restriction base="dms:Boolean"/>
      </xsd:simpleType>
    </xsd:element>
    <xsd:element name="MediaServiceAutoKeyPoints" ma:index="3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3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33" nillable="true" ma:displayName="Tags" ma:internalName="MediaServiceAutoTags" ma:readOnly="true">
      <xsd:simpleType>
        <xsd:restriction base="dms:Text"/>
      </xsd:simpleType>
    </xsd:element>
    <xsd:element name="MediaServiceGenerationTime" ma:index="3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40" nillable="true" ma:taxonomy="true" ma:internalName="lcf76f155ced4ddcb4097134ff3c332f" ma:taxonomyFieldName="MediaServiceImageTags" ma:displayName="Image Tags" ma:readOnly="false" ma:fieldId="{5cf76f15-5ced-4ddc-b409-7134ff3c332f}" ma:taxonomyMulti="true" ma:sspId="1eeb44a9-b924-44d0-8ed9-f8b504a4ba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4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4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804bb9-11fa-4e2e-86f5-8d7bf731dfbd" elementFormDefault="qualified">
    <xsd:import namespace="http://schemas.microsoft.com/office/2006/documentManagement/types"/>
    <xsd:import namespace="http://schemas.microsoft.com/office/infopath/2007/PartnerControls"/>
    <xsd:element name="SharedWithUsers" ma:index="3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1" nillable="true" ma:displayName="Taxonomy Catch All Column" ma:hidden="true" ma:list="{d3179969-695a-4828-9f67-e75445c6ec31}" ma:internalName="TaxCatchAll" ma:showField="CatchAllData" ma:web="b3804bb9-11fa-4e2e-86f5-8d7bf731df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F6739D-5A2C-4D1B-8F30-4AA1A7217AB1}">
  <ds:schemaRefs>
    <ds:schemaRef ds:uri="http://schemas.microsoft.com/office/2006/documentManagement/types"/>
    <ds:schemaRef ds:uri="http://www.w3.org/XML/1998/namespace"/>
    <ds:schemaRef ds:uri="3aedf1c0-925e-4524-a733-b26409c497aa"/>
    <ds:schemaRef ds:uri="http://schemas.microsoft.com/office/infopath/2007/PartnerControls"/>
    <ds:schemaRef ds:uri="http://purl.org/dc/elements/1.1/"/>
    <ds:schemaRef ds:uri="http://purl.org/dc/dcmitype/"/>
    <ds:schemaRef ds:uri="http://purl.org/dc/terms/"/>
    <ds:schemaRef ds:uri="http://schemas.openxmlformats.org/package/2006/metadata/core-properties"/>
    <ds:schemaRef ds:uri="b3804bb9-11fa-4e2e-86f5-8d7bf731dfbd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16A79DE-AA1E-4A47-B714-DA6E46F460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F5AD16-D8C2-4DEA-AD93-0CA9F95E22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edf1c0-925e-4524-a733-b26409c497aa"/>
    <ds:schemaRef ds:uri="b3804bb9-11fa-4e2e-86f5-8d7bf731df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156</TotalTime>
  <Words>1445</Words>
  <Application>Microsoft Macintosh PowerPoint</Application>
  <PresentationFormat>Widescreen</PresentationFormat>
  <Paragraphs>352</Paragraphs>
  <Slides>36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36</vt:i4>
      </vt:variant>
    </vt:vector>
  </HeadingPairs>
  <TitlesOfParts>
    <vt:vector size="52" baseType="lpstr">
      <vt:lpstr>Arial</vt:lpstr>
      <vt:lpstr>Calibri</vt:lpstr>
      <vt:lpstr>Calibri Light</vt:lpstr>
      <vt:lpstr>Century Gothic</vt:lpstr>
      <vt:lpstr>FoundrySterling-Bold</vt:lpstr>
      <vt:lpstr>FoundrySterling-BookOSF</vt:lpstr>
      <vt:lpstr>Helvetica Neue</vt:lpstr>
      <vt:lpstr>LM Roman 10</vt:lpstr>
      <vt:lpstr>Tahoma</vt:lpstr>
      <vt:lpstr>Verdana</vt:lpstr>
      <vt:lpstr>Wingdings</vt:lpstr>
      <vt:lpstr>Custom Design</vt:lpstr>
      <vt:lpstr>EHDEN</vt:lpstr>
      <vt:lpstr>4_Chalkboard</vt:lpstr>
      <vt:lpstr>Default wide screen (Agency)</vt:lpstr>
      <vt:lpstr>Office Theme</vt:lpstr>
      <vt:lpstr>Phenotyping beyond (national) borders   Tools, processes, and examples of transportable phenotypes based on the OMOP CDM </vt:lpstr>
      <vt:lpstr>AGENDA</vt:lpstr>
      <vt:lpstr>AGENDA</vt:lpstr>
      <vt:lpstr>Phenotyping in RWD: The Problem</vt:lpstr>
      <vt:lpstr>1st - Define</vt:lpstr>
      <vt:lpstr>Diabetes in the clinic</vt:lpstr>
      <vt:lpstr>Diabetes in Real life</vt:lpstr>
      <vt:lpstr>Diabetes in RWD</vt:lpstr>
      <vt:lpstr>Diabetes in RWD</vt:lpstr>
      <vt:lpstr>Diabetes in Multiple Datasets</vt:lpstr>
      <vt:lpstr>Diabetes in Multiple Datasets</vt:lpstr>
      <vt:lpstr>AGENDA</vt:lpstr>
      <vt:lpstr>Building blocks</vt:lpstr>
      <vt:lpstr>Diabetes Cohort/Phenotype</vt:lpstr>
      <vt:lpstr>AGENDA</vt:lpstr>
      <vt:lpstr>PowerPoint Presentation</vt:lpstr>
      <vt:lpstr>The Process and Tools</vt:lpstr>
      <vt:lpstr>PowerPoint Presentation</vt:lpstr>
      <vt:lpstr>1. Proposal</vt:lpstr>
      <vt:lpstr>Proposal form</vt:lpstr>
      <vt:lpstr>Clinical Description</vt:lpstr>
      <vt:lpstr>2. Does a suitable cohort exist?</vt:lpstr>
      <vt:lpstr>3 - 4</vt:lpstr>
      <vt:lpstr>3. New phenotype generation</vt:lpstr>
      <vt:lpstr>3.1 Codelist generation</vt:lpstr>
      <vt:lpstr>PowerPoint Presentation</vt:lpstr>
      <vt:lpstr>3.2 Codelist refinement</vt:lpstr>
      <vt:lpstr>Codelist review</vt:lpstr>
      <vt:lpstr>3.3 Cohort definition</vt:lpstr>
      <vt:lpstr>4 Cohort review / diagnostics</vt:lpstr>
      <vt:lpstr>4 Cohort review / diagnostics (2)</vt:lpstr>
      <vt:lpstr>PowerPoint Presentation</vt:lpstr>
      <vt:lpstr>PowerPoint Presentation</vt:lpstr>
      <vt:lpstr>5 – DECK Portal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Confounding, effect modification and interaction &amp; Causal inference</dc:title>
  <dc:creator>Victoria Strauss</dc:creator>
  <cp:lastModifiedBy>Daniel Prieto Alhambra (DARWIN EU® CC)</cp:lastModifiedBy>
  <cp:revision>8</cp:revision>
  <dcterms:created xsi:type="dcterms:W3CDTF">2021-03-12T22:00:28Z</dcterms:created>
  <dcterms:modified xsi:type="dcterms:W3CDTF">2026-10-19T20:38:28Z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0x010100E53B207407E20E42891CE4C8204B656A</vt:lpwstr>
  </property>
  <property fmtid="{D5CDD505-2E9C-101B-9397-08002B2CF9AE}" pid="3" name="MediaServiceImageTags">
    <vt:lpwstr/>
  </property>
</Properties>
</file>