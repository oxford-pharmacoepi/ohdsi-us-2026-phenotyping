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9_0.xml" ContentType="application/vnd.ms-powerpoint.comments+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0B_0.xml" ContentType="application/vnd.ms-powerpoint.comments+xml"/>
  <Override PartName="/ppt/charts/chart3.xml" ContentType="application/vnd.openxmlformats-officedocument.drawingml.chart+xml"/>
  <Override PartName="/ppt/notesSlides/notesSlide19.xml" ContentType="application/vnd.openxmlformats-officedocument.presentationml.notesSlide+xml"/>
  <Override PartName="/ppt/comments/modernComment_10C_0.xml" ContentType="application/vnd.ms-powerpoint.comments+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0F_0.xml" ContentType="application/vnd.ms-powerpoint.comments+xml"/>
  <Override PartName="/ppt/notesSlides/notesSlide23.xml" ContentType="application/vnd.openxmlformats-officedocument.presentationml.notesSlide+xml"/>
  <Override PartName="/ppt/comments/modernComment_110_0.xml" ContentType="application/vnd.ms-powerpoint.comments+xml"/>
  <Override PartName="/ppt/charts/chart5.xml" ContentType="application/vnd.openxmlformats-officedocument.drawingml.chart+xml"/>
  <Override PartName="/ppt/notesSlides/notesSlide24.xml" ContentType="application/vnd.openxmlformats-officedocument.presentationml.notesSlide+xml"/>
  <Override PartName="/ppt/comments/modernComment_111_0.xml" ContentType="application/vnd.ms-powerpoint.comments+xml"/>
  <Override PartName="/ppt/charts/chart6.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5_0.xml" ContentType="application/vnd.ms-powerpoint.comments+xml"/>
  <Override PartName="/ppt/charts/chart7.xml" ContentType="application/vnd.openxmlformats-officedocument.drawingml.chart+xml"/>
  <Override PartName="/ppt/charts/chart8.xml" ContentType="application/vnd.openxmlformats-officedocument.drawingml.chart+xml"/>
  <Override PartName="/ppt/notesSlides/notesSlide2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sldIdLst>
    <p:sldId id="289" r:id="rId5"/>
    <p:sldId id="290" r:id="rId6"/>
    <p:sldId id="257" r:id="rId7"/>
    <p:sldId id="292" r:id="rId8"/>
    <p:sldId id="293" r:id="rId9"/>
    <p:sldId id="294" r:id="rId10"/>
    <p:sldId id="256" r:id="rId11"/>
    <p:sldId id="258" r:id="rId12"/>
    <p:sldId id="259" r:id="rId13"/>
    <p:sldId id="260" r:id="rId14"/>
    <p:sldId id="291"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4" r:id="rId37"/>
    <p:sldId id="282" r:id="rId38"/>
    <p:sldId id="283" r:id="rId39"/>
    <p:sldId id="285" r:id="rId40"/>
    <p:sldId id="288"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FDFE9E-A41C-B296-6CBC-B2C8634790E7}">
          <p14:sldIdLst>
            <p14:sldId id="289"/>
            <p14:sldId id="290"/>
            <p14:sldId id="257"/>
            <p14:sldId id="292"/>
            <p14:sldId id="293"/>
            <p14:sldId id="294"/>
          </p14:sldIdLst>
        </p14:section>
        <p14:section name="PhenotypeR Introduction" id="{6F7F9EEA-925F-4350-B298-CDC868408E27}">
          <p14:sldIdLst>
            <p14:sldId id="256"/>
            <p14:sldId id="258"/>
            <p14:sldId id="259"/>
            <p14:sldId id="260"/>
            <p14:sldId id="291"/>
          </p14:sldIdLst>
        </p14:section>
        <p14:section name="01 Database diagnostics" id="{1ADF8B2E-D15C-A47C-DE19-537F7902AE38}">
          <p14:sldIdLst>
            <p14:sldId id="261"/>
            <p14:sldId id="262"/>
            <p14:sldId id="263"/>
          </p14:sldIdLst>
        </p14:section>
        <p14:section name="02 Codelist diagnostics" id="{274F3CB0-F964-7A3C-A197-3B2238432BAC}">
          <p14:sldIdLst>
            <p14:sldId id="264"/>
            <p14:sldId id="265"/>
            <p14:sldId id="266"/>
            <p14:sldId id="267"/>
            <p14:sldId id="268"/>
          </p14:sldIdLst>
        </p14:section>
        <p14:section name="03 Cohort diagnostics" id="{047D9D39-BD7D-A731-6561-EC781CF9CB6D}">
          <p14:sldIdLst>
            <p14:sldId id="269"/>
            <p14:sldId id="270"/>
            <p14:sldId id="271"/>
            <p14:sldId id="272"/>
            <p14:sldId id="273"/>
            <p14:sldId id="274"/>
            <p14:sldId id="275"/>
          </p14:sldIdLst>
        </p14:section>
        <p14:section name="04 Population diagnostics" id="{185528BE-5ABC-00FF-5DE5-4D527AB70D54}">
          <p14:sldIdLst>
            <p14:sldId id="276"/>
            <p14:sldId id="277"/>
            <p14:sldId id="278"/>
            <p14:sldId id="279"/>
          </p14:sldIdLst>
        </p14:section>
        <p14:section name="Part B · LLM-supported context" id="{F9C8BC77-F46C-06DF-5C23-D39D1A707AF8}">
          <p14:sldIdLst>
            <p14:sldId id="280"/>
            <p14:sldId id="281"/>
            <p14:sldId id="284"/>
            <p14:sldId id="282"/>
            <p14:sldId id="283"/>
            <p14:sldId id="285"/>
            <p14:sldId id="288"/>
          </p14:sldIdLst>
        </p14:section>
        <p14:section name="Appendix" id="{FEB35B85-EA97-6820-E419-105701EC39AE}">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E9D250-4C5F-B35E-D121-ECBD25B313F1}" name="Yang, Qi" initials="QY" userId="S::Qi.Yang@us.imshealth.com::146cd067-f3f2-4de8-9f5b-c43a0a2b6476" providerId="AD"/>
  <p188:author id="{8A61005D-6F01-ECEB-992E-7E725DD4F9AD}" name="Kaczmarczyk, Isabella" initials="KI" userId="S::isabella.kaczmarczyk@iqvia.com::56f8fcb9-d795-4814-90b8-47f86f762e7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A3ADB-D446-DC5A-49DD-5E6757372150}" v="59" dt="2026-10-14T22:42:07.268"/>
    <p1510:client id="{5A0FEF1B-BFBE-CAEF-6855-E2BAD255D11C}" v="108" dt="2026-10-14T22:36:33.758"/>
    <p1510:client id="{AA9D1F8B-E0E8-406C-BF99-CDD571CFA7DB}" v="67" dt="2026-10-13T14:33:51.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la.kaczmarczyk" userId="S::isabella.kaczmarczyk_iqvia.com#ext#@unioxfordnexus.onmicrosoft.com::73495f31-d55b-48b5-a26b-e1f2266ec1ae" providerId="AD" clId="Web-{587A3ADB-D446-DC5A-49DD-5E6757372150}"/>
    <pc:docChg chg="modSld">
      <pc:chgData name="isabella.kaczmarczyk" userId="S::isabella.kaczmarczyk_iqvia.com#ext#@unioxfordnexus.onmicrosoft.com::73495f31-d55b-48b5-a26b-e1f2266ec1ae" providerId="AD" clId="Web-{587A3ADB-D446-DC5A-49DD-5E6757372150}" dt="2026-10-14T22:42:07.268" v="56" actId="20577"/>
      <pc:docMkLst>
        <pc:docMk/>
      </pc:docMkLst>
      <pc:sldChg chg="modSp">
        <pc:chgData name="isabella.kaczmarczyk" userId="S::isabella.kaczmarczyk_iqvia.com#ext#@unioxfordnexus.onmicrosoft.com::73495f31-d55b-48b5-a26b-e1f2266ec1ae" providerId="AD" clId="Web-{587A3ADB-D446-DC5A-49DD-5E6757372150}" dt="2026-10-14T22:38:41.199" v="5" actId="20577"/>
        <pc:sldMkLst>
          <pc:docMk/>
          <pc:sldMk cId="0" sldId="257"/>
        </pc:sldMkLst>
        <pc:spChg chg="mod">
          <ac:chgData name="isabella.kaczmarczyk" userId="S::isabella.kaczmarczyk_iqvia.com#ext#@unioxfordnexus.onmicrosoft.com::73495f31-d55b-48b5-a26b-e1f2266ec1ae" providerId="AD" clId="Web-{587A3ADB-D446-DC5A-49DD-5E6757372150}" dt="2026-10-14T22:38:41.199" v="5" actId="20577"/>
          <ac:spMkLst>
            <pc:docMk/>
            <pc:sldMk cId="0" sldId="257"/>
            <ac:spMk id="15" creationId="{00000000-0000-0000-0000-000000000000}"/>
          </ac:spMkLst>
        </pc:spChg>
      </pc:sldChg>
      <pc:sldChg chg="modSp">
        <pc:chgData name="isabella.kaczmarczyk" userId="S::isabella.kaczmarczyk_iqvia.com#ext#@unioxfordnexus.onmicrosoft.com::73495f31-d55b-48b5-a26b-e1f2266ec1ae" providerId="AD" clId="Web-{587A3ADB-D446-DC5A-49DD-5E6757372150}" dt="2026-10-14T22:42:07.268" v="56" actId="20577"/>
        <pc:sldMkLst>
          <pc:docMk/>
          <pc:sldMk cId="0" sldId="261"/>
        </pc:sldMkLst>
        <pc:spChg chg="mod">
          <ac:chgData name="isabella.kaczmarczyk" userId="S::isabella.kaczmarczyk_iqvia.com#ext#@unioxfordnexus.onmicrosoft.com::73495f31-d55b-48b5-a26b-e1f2266ec1ae" providerId="AD" clId="Web-{587A3ADB-D446-DC5A-49DD-5E6757372150}" dt="2026-10-14T22:42:02.659" v="53" actId="20577"/>
          <ac:spMkLst>
            <pc:docMk/>
            <pc:sldMk cId="0" sldId="261"/>
            <ac:spMk id="11" creationId="{00000000-0000-0000-0000-000000000000}"/>
          </ac:spMkLst>
        </pc:spChg>
        <pc:spChg chg="mod">
          <ac:chgData name="isabella.kaczmarczyk" userId="S::isabella.kaczmarczyk_iqvia.com#ext#@unioxfordnexus.onmicrosoft.com::73495f31-d55b-48b5-a26b-e1f2266ec1ae" providerId="AD" clId="Web-{587A3ADB-D446-DC5A-49DD-5E6757372150}" dt="2026-10-14T22:42:03.674" v="54" actId="20577"/>
          <ac:spMkLst>
            <pc:docMk/>
            <pc:sldMk cId="0" sldId="261"/>
            <ac:spMk id="13" creationId="{00000000-0000-0000-0000-000000000000}"/>
          </ac:spMkLst>
        </pc:spChg>
        <pc:spChg chg="mod">
          <ac:chgData name="isabella.kaczmarczyk" userId="S::isabella.kaczmarczyk_iqvia.com#ext#@unioxfordnexus.onmicrosoft.com::73495f31-d55b-48b5-a26b-e1f2266ec1ae" providerId="AD" clId="Web-{587A3ADB-D446-DC5A-49DD-5E6757372150}" dt="2026-10-14T22:42:06.237" v="55" actId="20577"/>
          <ac:spMkLst>
            <pc:docMk/>
            <pc:sldMk cId="0" sldId="261"/>
            <ac:spMk id="15" creationId="{00000000-0000-0000-0000-000000000000}"/>
          </ac:spMkLst>
        </pc:spChg>
        <pc:spChg chg="mod">
          <ac:chgData name="isabella.kaczmarczyk" userId="S::isabella.kaczmarczyk_iqvia.com#ext#@unioxfordnexus.onmicrosoft.com::73495f31-d55b-48b5-a26b-e1f2266ec1ae" providerId="AD" clId="Web-{587A3ADB-D446-DC5A-49DD-5E6757372150}" dt="2026-10-14T22:42:07.268" v="56" actId="20577"/>
          <ac:spMkLst>
            <pc:docMk/>
            <pc:sldMk cId="0" sldId="261"/>
            <ac:spMk id="17" creationId="{00000000-0000-0000-0000-000000000000}"/>
          </ac:spMkLst>
        </pc:spChg>
      </pc:sldChg>
      <pc:sldChg chg="modSp">
        <pc:chgData name="isabella.kaczmarczyk" userId="S::isabella.kaczmarczyk_iqvia.com#ext#@unioxfordnexus.onmicrosoft.com::73495f31-d55b-48b5-a26b-e1f2266ec1ae" providerId="AD" clId="Web-{587A3ADB-D446-DC5A-49DD-5E6757372150}" dt="2026-10-14T22:38:26.761" v="2" actId="20577"/>
        <pc:sldMkLst>
          <pc:docMk/>
          <pc:sldMk cId="1490415470" sldId="290"/>
        </pc:sldMkLst>
        <pc:spChg chg="mod">
          <ac:chgData name="isabella.kaczmarczyk" userId="S::isabella.kaczmarczyk_iqvia.com#ext#@unioxfordnexus.onmicrosoft.com::73495f31-d55b-48b5-a26b-e1f2266ec1ae" providerId="AD" clId="Web-{587A3ADB-D446-DC5A-49DD-5E6757372150}" dt="2026-10-14T22:38:26.761" v="2" actId="20577"/>
          <ac:spMkLst>
            <pc:docMk/>
            <pc:sldMk cId="1490415470" sldId="290"/>
            <ac:spMk id="29" creationId="{00000000-0000-0000-0000-000000000000}"/>
          </ac:spMkLst>
        </pc:spChg>
      </pc:sldChg>
      <pc:sldChg chg="modSp">
        <pc:chgData name="isabella.kaczmarczyk" userId="S::isabella.kaczmarczyk_iqvia.com#ext#@unioxfordnexus.onmicrosoft.com::73495f31-d55b-48b5-a26b-e1f2266ec1ae" providerId="AD" clId="Web-{587A3ADB-D446-DC5A-49DD-5E6757372150}" dt="2026-10-14T22:40:52.860" v="52" actId="20577"/>
        <pc:sldMkLst>
          <pc:docMk/>
          <pc:sldMk cId="1862423671" sldId="293"/>
        </pc:sldMkLst>
        <pc:spChg chg="mod">
          <ac:chgData name="isabella.kaczmarczyk" userId="S::isabella.kaczmarczyk_iqvia.com#ext#@unioxfordnexus.onmicrosoft.com::73495f31-d55b-48b5-a26b-e1f2266ec1ae" providerId="AD" clId="Web-{587A3ADB-D446-DC5A-49DD-5E6757372150}" dt="2026-10-14T22:40:52.860" v="52" actId="20577"/>
          <ac:spMkLst>
            <pc:docMk/>
            <pc:sldMk cId="1862423671" sldId="293"/>
            <ac:spMk id="25" creationId="{00000000-0000-0000-0000-000000000000}"/>
          </ac:spMkLst>
        </pc:spChg>
      </pc:sldChg>
      <pc:sldChg chg="modSp">
        <pc:chgData name="isabella.kaczmarczyk" userId="S::isabella.kaczmarczyk_iqvia.com#ext#@unioxfordnexus.onmicrosoft.com::73495f31-d55b-48b5-a26b-e1f2266ec1ae" providerId="AD" clId="Web-{587A3ADB-D446-DC5A-49DD-5E6757372150}" dt="2026-10-14T22:40:52.813" v="51" actId="20577"/>
        <pc:sldMkLst>
          <pc:docMk/>
          <pc:sldMk cId="3716150069" sldId="294"/>
        </pc:sldMkLst>
        <pc:spChg chg="mod">
          <ac:chgData name="isabella.kaczmarczyk" userId="S::isabella.kaczmarczyk_iqvia.com#ext#@unioxfordnexus.onmicrosoft.com::73495f31-d55b-48b5-a26b-e1f2266ec1ae" providerId="AD" clId="Web-{587A3ADB-D446-DC5A-49DD-5E6757372150}" dt="2026-10-14T22:40:50.797" v="49" actId="20577"/>
          <ac:spMkLst>
            <pc:docMk/>
            <pc:sldMk cId="3716150069" sldId="294"/>
            <ac:spMk id="3" creationId="{00000000-0000-0000-0000-000000000000}"/>
          </ac:spMkLst>
        </pc:spChg>
        <pc:spChg chg="mod">
          <ac:chgData name="isabella.kaczmarczyk" userId="S::isabella.kaczmarczyk_iqvia.com#ext#@unioxfordnexus.onmicrosoft.com::73495f31-d55b-48b5-a26b-e1f2266ec1ae" providerId="AD" clId="Web-{587A3ADB-D446-DC5A-49DD-5E6757372150}" dt="2026-10-14T22:40:52.813" v="51" actId="20577"/>
          <ac:spMkLst>
            <pc:docMk/>
            <pc:sldMk cId="3716150069" sldId="294"/>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Records in each clinical table</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3D5A80"/>
            </a:solidFill>
            <a:effectLst/>
          </c:spPr>
          <c:invertIfNegative val="0"/>
          <c:dPt>
            <c:idx val="0"/>
            <c:invertIfNegative val="0"/>
            <c:bubble3D val="0"/>
            <c:extLst>
              <c:ext xmlns:c16="http://schemas.microsoft.com/office/drawing/2014/chart" uri="{C3380CC4-5D6E-409C-BE32-E72D297353CC}">
                <c16:uniqueId val="{00000001-2C8E-4C65-9996-8D9EDFB765B2}"/>
              </c:ext>
            </c:extLst>
          </c:dPt>
          <c:dPt>
            <c:idx val="1"/>
            <c:invertIfNegative val="0"/>
            <c:bubble3D val="0"/>
            <c:extLst>
              <c:ext xmlns:c16="http://schemas.microsoft.com/office/drawing/2014/chart" uri="{C3380CC4-5D6E-409C-BE32-E72D297353CC}">
                <c16:uniqueId val="{00000003-2C8E-4C65-9996-8D9EDFB765B2}"/>
              </c:ext>
            </c:extLst>
          </c:dPt>
          <c:dPt>
            <c:idx val="2"/>
            <c:invertIfNegative val="0"/>
            <c:bubble3D val="0"/>
            <c:extLst>
              <c:ext xmlns:c16="http://schemas.microsoft.com/office/drawing/2014/chart" uri="{C3380CC4-5D6E-409C-BE32-E72D297353CC}">
                <c16:uniqueId val="{00000005-2C8E-4C65-9996-8D9EDFB765B2}"/>
              </c:ext>
            </c:extLst>
          </c:dPt>
          <c:dPt>
            <c:idx val="3"/>
            <c:invertIfNegative val="0"/>
            <c:bubble3D val="0"/>
            <c:spPr>
              <a:solidFill>
                <a:srgbClr val="B03A2E"/>
              </a:solidFill>
              <a:effectLst/>
            </c:spPr>
            <c:extLst>
              <c:ext xmlns:c16="http://schemas.microsoft.com/office/drawing/2014/chart" uri="{C3380CC4-5D6E-409C-BE32-E72D297353CC}">
                <c16:uniqueId val="{00000007-2C8E-4C65-9996-8D9EDFB765B2}"/>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condition_occurrence</c:v>
                </c:pt>
                <c:pt idx="1">
                  <c:v>drug_exposure</c:v>
                </c:pt>
                <c:pt idx="2">
                  <c:v>visit_occurrence</c:v>
                </c:pt>
                <c:pt idx="3">
                  <c:v>measurement</c:v>
                </c:pt>
              </c:strCache>
            </c:strRef>
          </c:cat>
          <c:val>
            <c:numRef>
              <c:f>Sheet1!$B$2:$B$5</c:f>
              <c:numCache>
                <c:formatCode>General</c:formatCode>
                <c:ptCount val="4"/>
                <c:pt idx="0">
                  <c:v>160322</c:v>
                </c:pt>
                <c:pt idx="1">
                  <c:v>49542</c:v>
                </c:pt>
                <c:pt idx="2">
                  <c:v>47457</c:v>
                </c:pt>
                <c:pt idx="3">
                  <c:v>2858</c:v>
                </c:pt>
              </c:numCache>
            </c:numRef>
          </c:val>
          <c:extLst>
            <c:ext xmlns:c16="http://schemas.microsoft.com/office/drawing/2014/chart" uri="{C3380CC4-5D6E-409C-BE32-E72D297353CC}">
              <c16:uniqueId val="{00000008-2C8E-4C65-9996-8D9EDFB765B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Cohort records by claim type (cells below 2 hidden)</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Carrier (physician) claims</c:v>
                </c:pt>
                <c:pt idx="1">
                  <c:v>Outpatient claims</c:v>
                </c:pt>
                <c:pt idx="2">
                  <c:v>Inpatient claims</c:v>
                </c:pt>
              </c:strCache>
            </c:strRef>
          </c:cat>
          <c:val>
            <c:numRef>
              <c:f>Sheet1!$B$2:$B$4</c:f>
              <c:numCache>
                <c:formatCode>General</c:formatCode>
                <c:ptCount val="3"/>
                <c:pt idx="0">
                  <c:v>786</c:v>
                </c:pt>
                <c:pt idx="1">
                  <c:v>155</c:v>
                </c:pt>
                <c:pt idx="2">
                  <c:v>30</c:v>
                </c:pt>
              </c:numCache>
            </c:numRef>
          </c:val>
          <c:extLst>
            <c:ext xmlns:c16="http://schemas.microsoft.com/office/drawing/2014/chart" uri="{C3380CC4-5D6E-409C-BE32-E72D297353CC}">
              <c16:uniqueId val="{00000000-F531-497B-A413-0D35EDEFEAC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Records in synpuf-1k</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B017-4959-BE5F-F4064A10F24F}"/>
              </c:ext>
            </c:extLst>
          </c:dPt>
          <c:dPt>
            <c:idx val="1"/>
            <c:invertIfNegative val="0"/>
            <c:bubble3D val="0"/>
            <c:spPr>
              <a:solidFill>
                <a:srgbClr val="B03A2E"/>
              </a:solidFill>
              <a:effectLst/>
            </c:spPr>
            <c:extLst>
              <c:ext xmlns:c16="http://schemas.microsoft.com/office/drawing/2014/chart" uri="{C3380CC4-5D6E-409C-BE32-E72D297353CC}">
                <c16:uniqueId val="{00000003-B017-4959-BE5F-F4064A10F24F}"/>
              </c:ext>
            </c:extLst>
          </c:dPt>
          <c:dPt>
            <c:idx val="2"/>
            <c:invertIfNegative val="0"/>
            <c:bubble3D val="0"/>
            <c:spPr>
              <a:solidFill>
                <a:srgbClr val="B03A2E"/>
              </a:solidFill>
              <a:effectLst/>
            </c:spPr>
            <c:extLst>
              <c:ext xmlns:c16="http://schemas.microsoft.com/office/drawing/2014/chart" uri="{C3380CC4-5D6E-409C-BE32-E72D297353CC}">
                <c16:uniqueId val="{00000005-B017-4959-BE5F-F4064A10F24F}"/>
              </c:ext>
            </c:extLst>
          </c:dPt>
          <c:dPt>
            <c:idx val="3"/>
            <c:invertIfNegative val="0"/>
            <c:bubble3D val="0"/>
            <c:spPr>
              <a:solidFill>
                <a:srgbClr val="B03A2E"/>
              </a:solidFill>
              <a:effectLst/>
            </c:spPr>
            <c:extLst>
              <c:ext xmlns:c16="http://schemas.microsoft.com/office/drawing/2014/chart" uri="{C3380CC4-5D6E-409C-BE32-E72D297353CC}">
                <c16:uniqueId val="{00000007-B017-4959-BE5F-F4064A10F24F}"/>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Essential hypertension (in codelist)</c:v>
                </c:pt>
                <c:pt idx="1">
                  <c:v>Benign essential hypertension</c:v>
                </c:pt>
                <c:pt idx="2">
                  <c:v>Malignant essential hypertension</c:v>
                </c:pt>
                <c:pt idx="3">
                  <c:v>Hypertensive disorder</c:v>
                </c:pt>
              </c:strCache>
            </c:strRef>
          </c:cat>
          <c:val>
            <c:numRef>
              <c:f>Sheet1!$B$2:$B$5</c:f>
              <c:numCache>
                <c:formatCode>General</c:formatCode>
                <c:ptCount val="4"/>
                <c:pt idx="0">
                  <c:v>5617</c:v>
                </c:pt>
                <c:pt idx="1">
                  <c:v>4517</c:v>
                </c:pt>
                <c:pt idx="2">
                  <c:v>187</c:v>
                </c:pt>
                <c:pt idx="3">
                  <c:v>7</c:v>
                </c:pt>
              </c:numCache>
            </c:numRef>
          </c:val>
          <c:extLst>
            <c:ext xmlns:c16="http://schemas.microsoft.com/office/drawing/2014/chart" uri="{C3380CC4-5D6E-409C-BE32-E72D297353CC}">
              <c16:uniqueId val="{00000008-B017-4959-BE5F-F4064A10F24F}"/>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Warfarin oral tablet records by strength (generic and brand names combined)</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3D3F-4F94-9BB6-7CAC8101F7FB}"/>
              </c:ext>
            </c:extLst>
          </c:dPt>
          <c:dPt>
            <c:idx val="1"/>
            <c:invertIfNegative val="0"/>
            <c:bubble3D val="0"/>
            <c:spPr>
              <a:solidFill>
                <a:srgbClr val="B03A2E"/>
              </a:solidFill>
              <a:effectLst/>
            </c:spPr>
            <c:extLst>
              <c:ext xmlns:c16="http://schemas.microsoft.com/office/drawing/2014/chart" uri="{C3380CC4-5D6E-409C-BE32-E72D297353CC}">
                <c16:uniqueId val="{00000003-3D3F-4F94-9BB6-7CAC8101F7FB}"/>
              </c:ext>
            </c:extLst>
          </c:dPt>
          <c:dPt>
            <c:idx val="2"/>
            <c:invertIfNegative val="0"/>
            <c:bubble3D val="0"/>
            <c:spPr>
              <a:solidFill>
                <a:srgbClr val="B03A2E"/>
              </a:solidFill>
              <a:effectLst/>
            </c:spPr>
            <c:extLst>
              <c:ext xmlns:c16="http://schemas.microsoft.com/office/drawing/2014/chart" uri="{C3380CC4-5D6E-409C-BE32-E72D297353CC}">
                <c16:uniqueId val="{00000005-3D3F-4F94-9BB6-7CAC8101F7FB}"/>
              </c:ext>
            </c:extLst>
          </c:dPt>
          <c:dPt>
            <c:idx val="3"/>
            <c:invertIfNegative val="0"/>
            <c:bubble3D val="0"/>
            <c:spPr>
              <a:solidFill>
                <a:srgbClr val="B03A2E"/>
              </a:solidFill>
              <a:effectLst/>
            </c:spPr>
            <c:extLst>
              <c:ext xmlns:c16="http://schemas.microsoft.com/office/drawing/2014/chart" uri="{C3380CC4-5D6E-409C-BE32-E72D297353CC}">
                <c16:uniqueId val="{00000007-3D3F-4F94-9BB6-7CAC8101F7FB}"/>
              </c:ext>
            </c:extLst>
          </c:dPt>
          <c:dPt>
            <c:idx val="4"/>
            <c:invertIfNegative val="0"/>
            <c:bubble3D val="0"/>
            <c:spPr>
              <a:solidFill>
                <a:srgbClr val="B03A2E"/>
              </a:solidFill>
              <a:effectLst/>
            </c:spPr>
            <c:extLst>
              <c:ext xmlns:c16="http://schemas.microsoft.com/office/drawing/2014/chart" uri="{C3380CC4-5D6E-409C-BE32-E72D297353CC}">
                <c16:uniqueId val="{00000009-3D3F-4F94-9BB6-7CAC8101F7FB}"/>
              </c:ext>
            </c:extLst>
          </c:dPt>
          <c:dPt>
            <c:idx val="5"/>
            <c:invertIfNegative val="0"/>
            <c:bubble3D val="0"/>
            <c:spPr>
              <a:solidFill>
                <a:srgbClr val="B03A2E"/>
              </a:solidFill>
              <a:effectLst/>
            </c:spPr>
            <c:extLst>
              <c:ext xmlns:c16="http://schemas.microsoft.com/office/drawing/2014/chart" uri="{C3380CC4-5D6E-409C-BE32-E72D297353CC}">
                <c16:uniqueId val="{0000000B-3D3F-4F94-9BB6-7CAC8101F7FB}"/>
              </c:ext>
            </c:extLst>
          </c:dPt>
          <c:dPt>
            <c:idx val="6"/>
            <c:invertIfNegative val="0"/>
            <c:bubble3D val="0"/>
            <c:spPr>
              <a:solidFill>
                <a:srgbClr val="B03A2E"/>
              </a:solidFill>
              <a:effectLst/>
            </c:spPr>
            <c:extLst>
              <c:ext xmlns:c16="http://schemas.microsoft.com/office/drawing/2014/chart" uri="{C3380CC4-5D6E-409C-BE32-E72D297353CC}">
                <c16:uniqueId val="{0000000D-3D3F-4F94-9BB6-7CAC8101F7FB}"/>
              </c:ext>
            </c:extLst>
          </c:dPt>
          <c:dPt>
            <c:idx val="7"/>
            <c:invertIfNegative val="0"/>
            <c:bubble3D val="0"/>
            <c:spPr>
              <a:solidFill>
                <a:srgbClr val="B03A2E"/>
              </a:solidFill>
              <a:effectLst/>
            </c:spPr>
            <c:extLst>
              <c:ext xmlns:c16="http://schemas.microsoft.com/office/drawing/2014/chart" uri="{C3380CC4-5D6E-409C-BE32-E72D297353CC}">
                <c16:uniqueId val="{0000000F-3D3F-4F94-9BB6-7CAC8101F7FB}"/>
              </c:ext>
            </c:extLst>
          </c:dPt>
          <c:dPt>
            <c:idx val="8"/>
            <c:invertIfNegative val="0"/>
            <c:bubble3D val="0"/>
            <c:spPr>
              <a:solidFill>
                <a:srgbClr val="B03A2E"/>
              </a:solidFill>
              <a:effectLst/>
            </c:spPr>
            <c:extLst>
              <c:ext xmlns:c16="http://schemas.microsoft.com/office/drawing/2014/chart" uri="{C3380CC4-5D6E-409C-BE32-E72D297353CC}">
                <c16:uniqueId val="{00000011-3D3F-4F94-9BB6-7CAC8101F7FB}"/>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5 mg (in codelist)</c:v>
                </c:pt>
                <c:pt idx="1">
                  <c:v>4 mg</c:v>
                </c:pt>
                <c:pt idx="2">
                  <c:v>2 mg</c:v>
                </c:pt>
                <c:pt idx="3">
                  <c:v>2.5 mg</c:v>
                </c:pt>
                <c:pt idx="4">
                  <c:v>1 mg</c:v>
                </c:pt>
                <c:pt idx="5">
                  <c:v>7.5 mg</c:v>
                </c:pt>
                <c:pt idx="6">
                  <c:v>10 mg</c:v>
                </c:pt>
                <c:pt idx="7">
                  <c:v>5 mg Coumadin</c:v>
                </c:pt>
                <c:pt idx="8">
                  <c:v>3 mg</c:v>
                </c:pt>
              </c:strCache>
            </c:strRef>
          </c:cat>
          <c:val>
            <c:numRef>
              <c:f>Sheet1!$B$2:$B$10</c:f>
              <c:numCache>
                <c:formatCode>General</c:formatCode>
                <c:ptCount val="9"/>
                <c:pt idx="0">
                  <c:v>74</c:v>
                </c:pt>
                <c:pt idx="1">
                  <c:v>69</c:v>
                </c:pt>
                <c:pt idx="2">
                  <c:v>66</c:v>
                </c:pt>
                <c:pt idx="3">
                  <c:v>62</c:v>
                </c:pt>
                <c:pt idx="4">
                  <c:v>45</c:v>
                </c:pt>
                <c:pt idx="5">
                  <c:v>27</c:v>
                </c:pt>
                <c:pt idx="6">
                  <c:v>24</c:v>
                </c:pt>
                <c:pt idx="7">
                  <c:v>14</c:v>
                </c:pt>
                <c:pt idx="8">
                  <c:v>11</c:v>
                </c:pt>
              </c:numCache>
            </c:numRef>
          </c:val>
          <c:extLst>
            <c:ext xmlns:c16="http://schemas.microsoft.com/office/drawing/2014/chart" uri="{C3380CC4-5D6E-409C-BE32-E72D297353CC}">
              <c16:uniqueId val="{00000012-3D3F-4F94-9BB6-7CAC8101F7FB}"/>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Percentage of the cohort with each concept, 365 to 31 days before entry</a:t>
            </a:r>
          </a:p>
        </c:rich>
      </c:tx>
      <c:overlay val="0"/>
    </c:title>
    <c:autoTitleDeleted val="0"/>
    <c:plotArea>
      <c:layout/>
      <c:barChart>
        <c:barDir val="bar"/>
        <c:grouping val="clustered"/>
        <c:varyColors val="0"/>
        <c:ser>
          <c:idx val="0"/>
          <c:order val="0"/>
          <c:tx>
            <c:strRef>
              <c:f>Sheet1!$B$1</c:f>
              <c:strCache>
                <c:ptCount val="1"/>
                <c:pt idx="0">
                  <c:v>%</c:v>
                </c:pt>
              </c:strCache>
            </c:strRef>
          </c:tx>
          <c:spPr>
            <a:solidFill>
              <a:srgbClr val="C8702A"/>
            </a:solidFill>
            <a:effectLst/>
          </c:spPr>
          <c:invertIfNegative val="0"/>
          <c:dPt>
            <c:idx val="0"/>
            <c:invertIfNegative val="0"/>
            <c:bubble3D val="0"/>
            <c:extLst>
              <c:ext xmlns:c16="http://schemas.microsoft.com/office/drawing/2014/chart" uri="{C3380CC4-5D6E-409C-BE32-E72D297353CC}">
                <c16:uniqueId val="{00000001-291B-45B9-A67F-28C3F8E462F2}"/>
              </c:ext>
            </c:extLst>
          </c:dPt>
          <c:dPt>
            <c:idx val="1"/>
            <c:invertIfNegative val="0"/>
            <c:bubble3D val="0"/>
            <c:extLst>
              <c:ext xmlns:c16="http://schemas.microsoft.com/office/drawing/2014/chart" uri="{C3380CC4-5D6E-409C-BE32-E72D297353CC}">
                <c16:uniqueId val="{00000003-291B-45B9-A67F-28C3F8E462F2}"/>
              </c:ext>
            </c:extLst>
          </c:dPt>
          <c:dPt>
            <c:idx val="2"/>
            <c:invertIfNegative val="0"/>
            <c:bubble3D val="0"/>
            <c:spPr>
              <a:solidFill>
                <a:srgbClr val="B03A2E"/>
              </a:solidFill>
              <a:effectLst/>
            </c:spPr>
            <c:extLst>
              <c:ext xmlns:c16="http://schemas.microsoft.com/office/drawing/2014/chart" uri="{C3380CC4-5D6E-409C-BE32-E72D297353CC}">
                <c16:uniqueId val="{00000005-291B-45B9-A67F-28C3F8E462F2}"/>
              </c:ext>
            </c:extLst>
          </c:dPt>
          <c:dPt>
            <c:idx val="3"/>
            <c:invertIfNegative val="0"/>
            <c:bubble3D val="0"/>
            <c:spPr>
              <a:solidFill>
                <a:srgbClr val="8A5A2B"/>
              </a:solidFill>
              <a:effectLst/>
            </c:spPr>
            <c:extLst>
              <c:ext xmlns:c16="http://schemas.microsoft.com/office/drawing/2014/chart" uri="{C3380CC4-5D6E-409C-BE32-E72D297353CC}">
                <c16:uniqueId val="{00000007-291B-45B9-A67F-28C3F8E462F2}"/>
              </c:ext>
            </c:extLst>
          </c:dPt>
          <c:dPt>
            <c:idx val="4"/>
            <c:invertIfNegative val="0"/>
            <c:bubble3D val="0"/>
            <c:extLst>
              <c:ext xmlns:c16="http://schemas.microsoft.com/office/drawing/2014/chart" uri="{C3380CC4-5D6E-409C-BE32-E72D297353CC}">
                <c16:uniqueId val="{00000009-291B-45B9-A67F-28C3F8E462F2}"/>
              </c:ext>
            </c:extLst>
          </c:dPt>
          <c:dPt>
            <c:idx val="5"/>
            <c:invertIfNegative val="0"/>
            <c:bubble3D val="0"/>
            <c:spPr>
              <a:solidFill>
                <a:srgbClr val="8A5A2B"/>
              </a:solidFill>
              <a:effectLst/>
            </c:spPr>
            <c:extLst>
              <c:ext xmlns:c16="http://schemas.microsoft.com/office/drawing/2014/chart" uri="{C3380CC4-5D6E-409C-BE32-E72D297353CC}">
                <c16:uniqueId val="{0000000B-291B-45B9-A67F-28C3F8E462F2}"/>
              </c:ext>
            </c:extLst>
          </c:dPt>
          <c:dPt>
            <c:idx val="6"/>
            <c:invertIfNegative val="0"/>
            <c:bubble3D val="0"/>
            <c:spPr>
              <a:solidFill>
                <a:srgbClr val="8A5A2B"/>
              </a:solidFill>
              <a:effectLst/>
            </c:spPr>
            <c:extLst>
              <c:ext xmlns:c16="http://schemas.microsoft.com/office/drawing/2014/chart" uri="{C3380CC4-5D6E-409C-BE32-E72D297353CC}">
                <c16:uniqueId val="{0000000D-291B-45B9-A67F-28C3F8E462F2}"/>
              </c:ext>
            </c:extLst>
          </c:dPt>
          <c:dPt>
            <c:idx val="7"/>
            <c:invertIfNegative val="0"/>
            <c:bubble3D val="0"/>
            <c:spPr>
              <a:solidFill>
                <a:srgbClr val="8A5A2B"/>
              </a:solidFill>
              <a:effectLst/>
            </c:spPr>
            <c:extLst>
              <c:ext xmlns:c16="http://schemas.microsoft.com/office/drawing/2014/chart" uri="{C3380CC4-5D6E-409C-BE32-E72D297353CC}">
                <c16:uniqueId val="{0000000F-291B-45B9-A67F-28C3F8E462F2}"/>
              </c:ext>
            </c:extLst>
          </c:dPt>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Type 2 diabetes</c:v>
                </c:pt>
                <c:pt idx="1">
                  <c:v>Hyperlipidemia</c:v>
                </c:pt>
                <c:pt idx="2">
                  <c:v>Benign essential hypertension</c:v>
                </c:pt>
                <c:pt idx="3">
                  <c:v>hydrochlorothiazide</c:v>
                </c:pt>
                <c:pt idx="4">
                  <c:v>Atrial fibrillation</c:v>
                </c:pt>
                <c:pt idx="5">
                  <c:v>lisinopril</c:v>
                </c:pt>
                <c:pt idx="6">
                  <c:v>atenolol</c:v>
                </c:pt>
                <c:pt idx="7">
                  <c:v>amlodipine</c:v>
                </c:pt>
              </c:strCache>
            </c:strRef>
          </c:cat>
          <c:val>
            <c:numRef>
              <c:f>Sheet1!$B$2:$B$9</c:f>
              <c:numCache>
                <c:formatCode>General</c:formatCode>
                <c:ptCount val="8"/>
                <c:pt idx="0">
                  <c:v>26.2</c:v>
                </c:pt>
                <c:pt idx="1">
                  <c:v>24.1</c:v>
                </c:pt>
                <c:pt idx="2">
                  <c:v>23.4</c:v>
                </c:pt>
                <c:pt idx="3">
                  <c:v>16.7</c:v>
                </c:pt>
                <c:pt idx="4">
                  <c:v>13.5</c:v>
                </c:pt>
                <c:pt idx="5">
                  <c:v>10.6</c:v>
                </c:pt>
                <c:pt idx="6">
                  <c:v>6.6</c:v>
                </c:pt>
                <c:pt idx="7">
                  <c:v>5.2</c:v>
                </c:pt>
              </c:numCache>
            </c:numRef>
          </c:val>
          <c:extLst>
            <c:ext xmlns:c16="http://schemas.microsoft.com/office/drawing/2014/chart" uri="{C3380CC4-5D6E-409C-BE32-E72D297353CC}">
              <c16:uniqueId val="{00000010-291B-45B9-A67F-28C3F8E462F2}"/>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Percentage of people with each drug, 31 to 365 days after entry</a:t>
            </a:r>
          </a:p>
        </c:rich>
      </c:tx>
      <c:overlay val="0"/>
    </c:title>
    <c:autoTitleDeleted val="0"/>
    <c:plotArea>
      <c:layout/>
      <c:barChart>
        <c:barDir val="col"/>
        <c:grouping val="clustered"/>
        <c:varyColors val="0"/>
        <c:ser>
          <c:idx val="0"/>
          <c:order val="0"/>
          <c:tx>
            <c:strRef>
              <c:f>Sheet1!$B$1</c:f>
              <c:strCache>
                <c:ptCount val="1"/>
                <c:pt idx="0">
                  <c:v>Hypertension cohort</c:v>
                </c:pt>
              </c:strCache>
            </c:strRef>
          </c:tx>
          <c:spPr>
            <a:solidFill>
              <a:srgbClr val="C8702A"/>
            </a:solidFill>
            <a:effectLst/>
          </c:spPr>
          <c:invertIfNegative val="0"/>
          <c:dLbls>
            <c:numFmt formatCode="0&quot;%&quot;" sourceLinked="0"/>
            <c:spPr>
              <a:noFill/>
              <a:ln>
                <a:noFill/>
              </a:ln>
              <a:effectLst/>
            </c:spPr>
            <c:txPr>
              <a:bodyPr/>
              <a:lstStyle/>
              <a:p>
                <a:pPr>
                  <a:defRPr sz="10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hydrochlorothiazide</c:v>
                </c:pt>
                <c:pt idx="1">
                  <c:v>lisinopril</c:v>
                </c:pt>
                <c:pt idx="2">
                  <c:v>atenolol</c:v>
                </c:pt>
                <c:pt idx="3">
                  <c:v>amlodipine</c:v>
                </c:pt>
                <c:pt idx="4">
                  <c:v>metoprolol</c:v>
                </c:pt>
              </c:strCache>
            </c:strRef>
          </c:cat>
          <c:val>
            <c:numRef>
              <c:f>Sheet1!$B$2:$B$6</c:f>
              <c:numCache>
                <c:formatCode>General</c:formatCode>
                <c:ptCount val="5"/>
                <c:pt idx="0">
                  <c:v>39.6</c:v>
                </c:pt>
                <c:pt idx="1">
                  <c:v>26.7</c:v>
                </c:pt>
                <c:pt idx="2">
                  <c:v>18.7</c:v>
                </c:pt>
                <c:pt idx="3">
                  <c:v>15.5</c:v>
                </c:pt>
                <c:pt idx="4">
                  <c:v>15.1</c:v>
                </c:pt>
              </c:numCache>
            </c:numRef>
          </c:val>
          <c:extLst>
            <c:ext xmlns:c16="http://schemas.microsoft.com/office/drawing/2014/chart" uri="{C3380CC4-5D6E-409C-BE32-E72D297353CC}">
              <c16:uniqueId val="{00000000-9174-4772-8F83-82822353004A}"/>
            </c:ext>
          </c:extLst>
        </c:ser>
        <c:ser>
          <c:idx val="1"/>
          <c:order val="1"/>
          <c:tx>
            <c:strRef>
              <c:f>Sheet1!$C$1</c:f>
              <c:strCache>
                <c:ptCount val="1"/>
                <c:pt idx="0">
                  <c:v>Matched controls</c:v>
                </c:pt>
              </c:strCache>
            </c:strRef>
          </c:tx>
          <c:spPr>
            <a:solidFill>
              <a:srgbClr val="C9CFD6"/>
            </a:solidFill>
            <a:effectLst/>
          </c:spPr>
          <c:invertIfNegative val="0"/>
          <c:dLbls>
            <c:numFmt formatCode="0&quot;%&quot;" sourceLinked="0"/>
            <c:spPr>
              <a:noFill/>
              <a:ln>
                <a:noFill/>
              </a:ln>
              <a:effectLst/>
            </c:spPr>
            <c:txPr>
              <a:bodyPr/>
              <a:lstStyle/>
              <a:p>
                <a:pPr>
                  <a:defRPr sz="10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hydrochlorothiazide</c:v>
                </c:pt>
                <c:pt idx="1">
                  <c:v>lisinopril</c:v>
                </c:pt>
                <c:pt idx="2">
                  <c:v>atenolol</c:v>
                </c:pt>
                <c:pt idx="3">
                  <c:v>amlodipine</c:v>
                </c:pt>
                <c:pt idx="4">
                  <c:v>metoprolol</c:v>
                </c:pt>
              </c:strCache>
            </c:strRef>
          </c:cat>
          <c:val>
            <c:numRef>
              <c:f>Sheet1!$C$2:$C$6</c:f>
              <c:numCache>
                <c:formatCode>General</c:formatCode>
                <c:ptCount val="5"/>
                <c:pt idx="0">
                  <c:v>25.7</c:v>
                </c:pt>
                <c:pt idx="1">
                  <c:v>22.2</c:v>
                </c:pt>
                <c:pt idx="2">
                  <c:v>10.9</c:v>
                </c:pt>
                <c:pt idx="3">
                  <c:v>10.9</c:v>
                </c:pt>
                <c:pt idx="4">
                  <c:v>10.9</c:v>
                </c:pt>
              </c:numCache>
            </c:numRef>
          </c:val>
          <c:extLst>
            <c:ext xmlns:c16="http://schemas.microsoft.com/office/drawing/2014/chart" uri="{C3380CC4-5D6E-409C-BE32-E72D297353CC}">
              <c16:uniqueId val="{00000001-9174-4772-8F83-82822353004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55667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hypertension · per 100,000 person-years</a:t>
            </a:r>
          </a:p>
        </c:rich>
      </c:tx>
      <c:overlay val="0"/>
    </c:title>
    <c:autoTitleDeleted val="0"/>
    <c:plotArea>
      <c:layout/>
      <c:barChart>
        <c:barDir val="col"/>
        <c:grouping val="clustered"/>
        <c:varyColors val="0"/>
        <c:ser>
          <c:idx val="0"/>
          <c:order val="0"/>
          <c:tx>
            <c:strRef>
              <c:f>Sheet1!$B$1</c:f>
              <c:strCache>
                <c:ptCount val="1"/>
                <c:pt idx="0">
                  <c:v>hypertension</c:v>
                </c:pt>
              </c:strCache>
            </c:strRef>
          </c:tx>
          <c:spPr>
            <a:solidFill>
              <a:srgbClr val="6A4C93"/>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95148</c:v>
                </c:pt>
                <c:pt idx="1">
                  <c:v>41414</c:v>
                </c:pt>
                <c:pt idx="2">
                  <c:v>14313</c:v>
                </c:pt>
              </c:numCache>
            </c:numRef>
          </c:val>
          <c:extLst>
            <c:ext xmlns:c16="http://schemas.microsoft.com/office/drawing/2014/chart" uri="{C3380CC4-5D6E-409C-BE32-E72D297353CC}">
              <c16:uniqueId val="{00000000-5CD1-4683-90FB-EF780BA7D9A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user_of_warfarin · per 100,000 person-years</a:t>
            </a:r>
          </a:p>
        </c:rich>
      </c:tx>
      <c:overlay val="0"/>
    </c:title>
    <c:autoTitleDeleted val="0"/>
    <c:plotArea>
      <c:layout/>
      <c:barChart>
        <c:barDir val="col"/>
        <c:grouping val="clustered"/>
        <c:varyColors val="0"/>
        <c:ser>
          <c:idx val="0"/>
          <c:order val="0"/>
          <c:tx>
            <c:strRef>
              <c:f>Sheet1!$B$1</c:f>
              <c:strCache>
                <c:ptCount val="1"/>
                <c:pt idx="0">
                  <c:v>user_of_warfarin</c:v>
                </c:pt>
              </c:strCache>
            </c:strRef>
          </c:tx>
          <c:spPr>
            <a:solidFill>
              <a:srgbClr val="6A4C93"/>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3431</c:v>
                </c:pt>
                <c:pt idx="1">
                  <c:v>1987</c:v>
                </c:pt>
                <c:pt idx="2">
                  <c:v>1508</c:v>
                </c:pt>
              </c:numCache>
            </c:numRef>
          </c:val>
          <c:extLst>
            <c:ext xmlns:c16="http://schemas.microsoft.com/office/drawing/2014/chart" uri="{C3380CC4-5D6E-409C-BE32-E72D297353CC}">
              <c16:uniqueId val="{00000000-628B-4C1F-90B2-7C004A2BB01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hypertension · annual period prevalence</a:t>
            </a:r>
          </a:p>
        </c:rich>
      </c:tx>
      <c:overlay val="0"/>
    </c:title>
    <c:autoTitleDeleted val="0"/>
    <c:plotArea>
      <c:layout/>
      <c:barChart>
        <c:barDir val="col"/>
        <c:grouping val="clustered"/>
        <c:varyColors val="0"/>
        <c:ser>
          <c:idx val="0"/>
          <c:order val="0"/>
          <c:tx>
            <c:strRef>
              <c:f>Sheet1!$B$1</c:f>
              <c:strCache>
                <c:ptCount val="1"/>
                <c:pt idx="0">
                  <c:v>hypertension</c:v>
                </c:pt>
              </c:strCache>
            </c:strRef>
          </c:tx>
          <c:spPr>
            <a:solidFill>
              <a:srgbClr val="6A4C93"/>
            </a:solidFill>
            <a:effectLst/>
          </c:spPr>
          <c:invertIfNegative val="0"/>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58.4</c:v>
                </c:pt>
                <c:pt idx="1">
                  <c:v>71.900000000000006</c:v>
                </c:pt>
                <c:pt idx="2">
                  <c:v>76.599999999999994</c:v>
                </c:pt>
              </c:numCache>
            </c:numRef>
          </c:val>
          <c:extLst>
            <c:ext xmlns:c16="http://schemas.microsoft.com/office/drawing/2014/chart" uri="{C3380CC4-5D6E-409C-BE32-E72D297353CC}">
              <c16:uniqueId val="{00000000-DBC2-422C-AF42-BD477E26A20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user_of_warfarin · annual period prevalence</a:t>
            </a:r>
          </a:p>
        </c:rich>
      </c:tx>
      <c:overlay val="0"/>
    </c:title>
    <c:autoTitleDeleted val="0"/>
    <c:plotArea>
      <c:layout/>
      <c:barChart>
        <c:barDir val="col"/>
        <c:grouping val="clustered"/>
        <c:varyColors val="0"/>
        <c:ser>
          <c:idx val="0"/>
          <c:order val="0"/>
          <c:tx>
            <c:strRef>
              <c:f>Sheet1!$B$1</c:f>
              <c:strCache>
                <c:ptCount val="1"/>
                <c:pt idx="0">
                  <c:v>user_of_warfarin</c:v>
                </c:pt>
              </c:strCache>
            </c:strRef>
          </c:tx>
          <c:spPr>
            <a:solidFill>
              <a:srgbClr val="6A4C93"/>
            </a:solidFill>
            <a:effectLst/>
          </c:spPr>
          <c:invertIfNegative val="0"/>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3.3</c:v>
                </c:pt>
                <c:pt idx="1">
                  <c:v>2.4</c:v>
                </c:pt>
                <c:pt idx="2">
                  <c:v>2</c:v>
                </c:pt>
              </c:numCache>
            </c:numRef>
          </c:val>
          <c:extLst>
            <c:ext xmlns:c16="http://schemas.microsoft.com/office/drawing/2014/chart" uri="{C3380CC4-5D6E-409C-BE32-E72D297353CC}">
              <c16:uniqueId val="{00000000-B596-4F31-B97E-D2CFB3CAF45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max val="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B_0.xml><?xml version="1.0" encoding="utf-8"?>
<p188:cmLst xmlns:a="http://schemas.openxmlformats.org/drawingml/2006/main" xmlns:r="http://schemas.openxmlformats.org/officeDocument/2006/relationships" xmlns:p188="http://schemas.microsoft.com/office/powerpoint/2018/8/main">
  <p188:cm id="{2CEC444C-E54C-4651-AC51-A8EDC898A5E0}" authorId="{D3E9D250-4C5F-B35E-D121-ECBD25B313F1}" created="2026-10-12T12:55:01.720">
    <ac:txMkLst xmlns:ac="http://schemas.microsoft.com/office/drawing/2013/main/command">
      <pc:docMk xmlns:pc="http://schemas.microsoft.com/office/powerpoint/2013/main/command"/>
      <pc:sldMk xmlns:pc="http://schemas.microsoft.com/office/powerpoint/2013/main/command" cId="0" sldId="267"/>
      <ac:graphicFrameMk id="13" creationId="{00000000-0000-0000-0000-000000000000}"/>
      <ac:tblMk/>
      <ac:tcMk rowId="10001" colId="20000"/>
      <ac:txMk cp="31" len="6">
        <ac:context len="39" hash="4022644793"/>
      </ac:txMk>
    </ac:txMkLst>
    <p188:pos x="1377563" y="940242"/>
    <p188:txBody>
      <a:bodyPr/>
      <a:lstStyle/>
      <a:p>
        <a:r>
          <a:rPr lang="en-US"/>
          <a:t>Why is this concept, 312648, missing? It is a descendant of the 320128 (Essential Hypertension). </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D5269DE9-56BB-43AA-987F-9348D9FFE110}" authorId="{D3E9D250-4C5F-B35E-D121-ECBD25B313F1}" created="2026-10-12T13:03:15.700">
    <ac:txMkLst xmlns:ac="http://schemas.microsoft.com/office/drawing/2013/main/command">
      <pc:docMk xmlns:pc="http://schemas.microsoft.com/office/powerpoint/2013/main/command"/>
      <pc:sldMk xmlns:pc="http://schemas.microsoft.com/office/powerpoint/2013/main/command" cId="0" sldId="268"/>
      <ac:spMk id="14" creationId="{00000000-0000-0000-0000-000000000000}"/>
      <ac:txMk cp="154" len="68">
        <ac:context len="258" hash="3858507102"/>
      </ac:txMk>
    </ac:txMkLst>
    <p188:pos x="3613868" y="1025321"/>
    <p188:txBody>
      <a:bodyPr/>
      <a:lstStyle/>
      <a:p>
        <a:r>
          <a:rPr lang="en-US"/>
          <a:t>I would rephrase “. As defined, the cohort misses most warfarin dispensings.” to “All other Warfarin strength besides 5 mg are left out by design”</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5F6812E1-35D3-421E-9DC9-CFE4DA8FA63A}" authorId="{D3E9D250-4C5F-B35E-D121-ECBD25B313F1}" created="2026-10-12T14:27:21.987">
    <ac:deMkLst xmlns:ac="http://schemas.microsoft.com/office/drawing/2013/main/command">
      <pc:docMk xmlns:pc="http://schemas.microsoft.com/office/powerpoint/2013/main/command"/>
      <pc:sldMk xmlns:pc="http://schemas.microsoft.com/office/powerpoint/2013/main/command" cId="0" sldId="271"/>
      <ac:graphicFrameMk id="17" creationId="{00000000-0000-0000-0000-000000000000}"/>
    </ac:deMkLst>
    <p188:replyLst>
      <p188:reply id="{459C1825-F971-4F0B-A89F-F38A9E63E8E4}" authorId="{8A61005D-6F01-ECEB-992E-7E725DD4F9AD}" created="2026-10-14T16:49:53.859">
        <p188:txBody>
          <a:bodyPr/>
          <a:lstStyle/>
          <a:p>
            <a:r>
              <a:rPr lang="en-GB"/>
              <a:t>median days in cohort in this case would be determined by the drug exposure start date and drug exposure end date for that particular drug exposure, however it can be set in any number of ways.</a:t>
            </a:r>
          </a:p>
        </p188:txBody>
      </p188:reply>
    </p188:replyLst>
    <p188:txBody>
      <a:bodyPr/>
      <a:lstStyle/>
      <a:p>
        <a:r>
          <a:rPr lang="en-US"/>
          <a:t>Why 30-day dispensing? Don’t you use Drug_Era table for the Cohort Diagnostics? If yes, there should not be any 30-day episode.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E39920AB-E6F2-4401-903B-470D09893DD9}" authorId="{D3E9D250-4C5F-B35E-D121-ECBD25B313F1}" created="2026-10-12T05:42:38.533">
    <pc:sldMkLst xmlns:pc="http://schemas.microsoft.com/office/powerpoint/2013/main/command">
      <pc:docMk/>
      <pc:sldMk cId="0" sldId="265"/>
    </pc:sldMkLst>
    <p188:txBody>
      <a:bodyPr/>
      <a:lstStyle/>
      <a:p>
        <a:r>
          <a:rPr lang="en-US"/>
          <a:t>How do you know Carrier claims vs Outpatient, Inpatient claims. I don’t think this information is captured in OMOP CDM.</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996F44C0-F506-4C60-8FC9-5EB716C87048}" authorId="{D3E9D250-4C5F-B35E-D121-ECBD25B313F1}" created="2026-10-12T14:32:07.954">
    <ac:txMkLst xmlns:ac="http://schemas.microsoft.com/office/drawing/2013/main/command">
      <pc:docMk xmlns:pc="http://schemas.microsoft.com/office/powerpoint/2013/main/command"/>
      <pc:sldMk xmlns:pc="http://schemas.microsoft.com/office/powerpoint/2013/main/command" cId="0" sldId="272"/>
      <ac:spMk id="8" creationId="{00000000-0000-0000-0000-000000000000}"/>
      <ac:txMk cp="29" len="69">
        <ac:context len="99" hash="2195768478"/>
      </ac:txMk>
    </ac:txMkLst>
    <p188:pos x="6269603" y="234563"/>
    <p188:replyLst>
      <p188:reply id="{4D8F1FA0-32C4-4B29-8A6E-C56451145246}" authorId="{8A61005D-6F01-ECEB-992E-7E725DD4F9AD}" created="2026-10-14T16:51:32.582">
        <p188:txBody>
          <a:bodyPr/>
          <a:lstStyle/>
          <a:p>
            <a:r>
              <a:rPr lang="en-GB"/>
              <a:t>amended to different condition or drug code, showing that people with a code for hypertension have had other comorbidities in the year prior to entering the hypertension cohort</a:t>
            </a:r>
          </a:p>
        </p188:txBody>
      </p188:reply>
    </p188:replyLst>
    <p188:txBody>
      <a:bodyPr/>
      <a:lstStyle/>
      <a:p>
        <a:r>
          <a:rPr lang="en-US"/>
          <a:t>The subtitle is very confusing: 23% of the cohort had a related hypertension code in the year before entry. Not sure this mean. </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0B872054-4F93-444D-902C-F85B5953826F}" authorId="{D3E9D250-4C5F-B35E-D121-ECBD25B313F1}" created="2026-10-12T15:03:34.909">
    <pc:sldMkLst xmlns:pc="http://schemas.microsoft.com/office/powerpoint/2013/main/command">
      <pc:docMk/>
      <pc:sldMk cId="0" sldId="273"/>
    </pc:sldMkLst>
    <p188:replyLst>
      <p188:reply id="{6B398A46-361E-4D4F-82AC-328E26DDA6B4}" authorId="{8A61005D-6F01-ECEB-992E-7E725DD4F9AD}" created="2026-10-14T16:55:29.481">
        <p188:txBody>
          <a:bodyPr/>
          <a:lstStyle/>
          <a:p>
            <a:r>
              <a:rPr lang="en-GB"/>
              <a:t>this may be also due to the fact that the hypertension cohort concept list was not complete as it did not capture descendants or other listed orphan concepts so it did not fully capture the hypertension cohort. if we expand out concept list, it may reduce the discrepancy </a:t>
            </a:r>
          </a:p>
        </p188:txBody>
      </p188:reply>
    </p188:replyLst>
    <p188:txBody>
      <a:bodyPr/>
      <a:lstStyle/>
      <a:p>
        <a:r>
          <a:rPr lang="en-US"/>
          <a:t>26% of the population who do not have hypertension but taking Hydrochlorothiazide seems odd to me. Of course this is not real data. </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AC9E1BF3-C3AF-4643-856B-9D881AAC840F}" authorId="{D3E9D250-4C5F-B35E-D121-ECBD25B313F1}" created="2026-10-12T15:15:31.043">
    <ac:txMkLst xmlns:ac="http://schemas.microsoft.com/office/drawing/2013/main/command">
      <pc:docMk xmlns:pc="http://schemas.microsoft.com/office/powerpoint/2013/main/command"/>
      <pc:sldMk xmlns:pc="http://schemas.microsoft.com/office/powerpoint/2013/main/command" cId="0" sldId="277"/>
      <ac:spMk id="13" creationId="{00000000-0000-0000-0000-000000000000}"/>
      <ac:txMk cp="32" len="36">
        <ac:context len="292" hash="447116574"/>
      </ac:txMk>
    </ac:txMkLst>
    <p188:pos x="2662362" y="541616"/>
    <p188:txBody>
      <a:bodyPr/>
      <a:lstStyle/>
      <a:p>
        <a:r>
          <a:rPr lang="en-US"/>
          <a:t>“568 of the 728 hypertension entries “. Where are these numbers in the chart?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5569FF0-9A83-47FB-9287-F999571B3811}" type="datetimeFigureOut">
              <a:t>10/14/2026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BF4F209-A434-4ECB-8839-A35F1B34FC5C}" type="slidenum">
              <a:t>‹#›</a:t>
            </a:fld>
            <a:endParaRPr lang="en-GB"/>
          </a:p>
        </p:txBody>
      </p:sp>
    </p:spTree>
    <p:extLst>
      <p:ext uri="{BB962C8B-B14F-4D97-AF65-F5344CB8AC3E}">
        <p14:creationId xmlns:p14="http://schemas.microsoft.com/office/powerpoint/2010/main" val="79848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SLIDE 1 · TITLE
SAY
"This session shows how a clinical idea becomes a cohort in OMOP data. We'll build the two example cohorts that the next session evaluates with PhenotypeR: a condition cohort for hypertension and a drug cohort for warfarin."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2:30]  SLIDE 2 · TWO EXAMPLE COHORTS
SAY
"Both cohorts already exist in the PhenotypeR demonstration results for synpuf-1k, a small synthetic US claims database.
The first starts from a recorded condition: the standard concept Essential hypertension, concept 320128. In OMOP it is stored in the condition_occurrence table, and in claims data it usually comes from a diagnosis code on a claim.
The second starts from a recorded drug exposure: warfarin sodium 5 mg oral tablet, concept 40163554. It is stored in drug_exposure, and here it comes from pharmacy dispensings.
We are not asking whether warfarin treats hypertension, and the two cohorts are not a causal comparison. We use both to show the same workflow applied to two clinical domains. The question for both is whether the definition identifies the population we intended."
NOTE: Do not show cohort counts yet; they appear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2:00]  SLIDE 2 · TWO EXAMPLE COHORTS
SAY
"We'll use two cohorts that already exist in the PhenotypeR results for synpuf-1k.
The first is a condition cohort called hypertension. It includes anyone with a recorded diagnosis of Essential hypertension. Overlapping records are merged, and each person stays in the cohort until the end of their observation period. It contains 728 of the 1,000 people in the database.
The second is a drug cohort called user_of_warfarin. It includes anyone with a pharmacy dispensing of warfarin sodium 5 mg oral tablet. Each episode ends when the dispensing ends. It contains 63 people.
These counts tell us that the definitions ran. They don't tell us whether the definitions captured the patients we intended. That's what the four sections of the app help us check."
NOTE: synpuf-1k is synthetic US claims data. Say once that every number is a teaching example, not epidemiology.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7:30]  SLIDE 4 · CONCEPT SETS AND COHORT DEFINITIONS
Walk the table from top to bottom, then point to the key terms.
SAY
"The concept set answers the question of which clinical records count. For hypertension it is the standard concept Essential hypertension. For the drug cohort it is warfarin sodium 5 mg oral tablet.
The cohort definition then answers three further questions: when a person enters, how repeated or overlapping records are handled, and when the cohort episode ends. Overlapping records are merged in both cohorts. Hypertension episodes run to the end of the person's observation period, and warfarin episodes end when the exposure record ends.
Neither definition has a prior-observation rule, an age rule, a repeat-diagnosis rule or a requirement for clinical confirmation. These are deliberately simple cohorts. Simple definitions are not wrong, but they limit what each cohort can support."
ACCURACY: Do not describe either cohort as incident, first-ever, adult-only, restricted to particular years, including descendant concepts, or requiring treatment or a blood-pressure value. None of these rules appear in the attrition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9:00]  SLIDE 5 · WHAT EACH COHORT CAN SUPPORT
SAY
"The intended use has to match the definition. The hypertension cohort can support describing people with a recorded claim for essential hypertension; it should not automatically be called incident hypertension. The warfarin cohort can support describing people dispensed the selected 5 mg product; it should not automatically be called all warfarin use.
On the right are the five things PhenotypeR will test, coloured by the section of the R Shiny App where each is answered: whether the database suits the question, which source codes brought people in, whether anyone was excluded, whether the characteristics make clinical sense, and whether the concept set is broad enough for the label."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9:30]  SLIDE 6 · BOTH COHORTS RAN SUCCESSFULLY
SAY
"Both cohorts ran successfully. The hypertension cohort contains 728 of the 1,000 people in the database, and the warfarin cohort contains 63.
These numbers are outputs, not proof that either cohort is correct. The next session evaluates both cohorts with PhenotypeR, one section of the R Shiny App at a time."
NOTE: Do not comment on whether 728 is plausible; the next session opens with that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SLIDE 1 · TITLE
SAY
"In the previous session we built cohorts from concept sets. In this session we evaluate them with PhenotypeR. I'll take you through the R Shiny App section by section, using two example cohorts in a small synthetic database called synpuf-1k.
The app has four sections, and you'll see the same four colours throughout: blue for database diagnostics, teal for codelist diagnostics, orange for cohort diagnostics and purple for population diagnostics. In the second part I'll cover the optional LLM-supported inputs."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3:30]  SLIDE 3 · WHAT PHENOTYPER DOES
SAY
"PhenotypeR runs four families of diagnostics, and each one is a section of the app.
Database diagnostics summarise the data source: its size, the dates it covers, its demographics, the observation periods and how each clinical table is coded.
Codelist diagnostics show which concepts brought people into each cohort, and which related concepts are recorded in the data but missing from the codelist.
Cohort diagnostics report attrition and characteristics, and compare each cohort with age- and sex-matched controls and with other cohorts.
Population diagnostics estimate incidence and period prevalence in a sample of the database population.
On the right is what PhenotypeR does not do. It doesn't decide whether a cohort is valid; that's the researcher's job. It doesn't change your concept sets or cohort definitions; you make changes where the cohort was built and run the diagnostics again. It doesn't replace chart review or validation against a reference standard. And it doesn't need an LLM: the LLM functions are optional, and they send only cohort names to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4:30]  SLIDE 4 · RUNNING PHENOTYPER
SAY
"Running PhenotypeR takes two lines of R. phenotypeDiagnostics() takes a cohort table from an OMOP CDM reference and runs all four families. shinyDiagnostics() then builds the R Shiny App from the results.
Each family can also be run on its own with databaseDiagnostics(), codelistDiagnostics(), cohortDiagnostics() or populationDiagnostics().
The results are aggregated, and any count below minCellCount is hidden. That means the app can be shared without sharing patient-level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5:30]  SLIDE 5 · A MAP OF THE R SHINY APP
SAY
"This is the map we'll follow for the rest of Part A. Each coloured column is a menu in the app, and each box is a tab.
Database diagnostics has four tabs: Snapshot, Person, Observation periods and Clinical records.
Codelist diagnostics has Cohort code use and Orphan codes.
Cohort diagnostics has six: Cohort count, Cohort characteristics, Large scale characteristics, Compare large scale characteristics, Compare cohorts and Cohort survival.
Population diagnostics has Incidence and Period prevalence.
Most tabs give you a table and a plot. You choose the database and cohort in the coloured bar at the top, and every output has a download button."
&gt;&gt;&gt; SWITCH TO THE R SHINY APP. It should be open in its own browser window with synpuf-1k selected.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4:30]  SLIDE 3 · EXPECTATIONS FOR EACH COHORT
These are expectations, not results. Do not show any synpuf-1k numbers on this slide.
SAY
"We write expectations down before we look at any results. If we don't, it is very easy to see an unexpected number and invent an explanation afterwards.
We expect hypertension to be common, because this is an older claims population, and we expect diagnosis records to bring people in. Cardiovascular and metabolic conditions should be frequent. Claims data may not contain blood-pressure values, so we may not be able to confirm the diagnosis.
We expect the warfarin cohort to be much smaller, with pharmacy dispensings bringing people in. Conditions that need anticoagulation, such as atrial fibrillation and venous thromboembolism, should appear around the time of exposure. And because the concept names one 5 mg tablet, it may not represent all warfarin use.
Each expectation is tested in a specific section of the R Shiny App: size in Cohort count, entry concepts in Cohort code use, characteristics in Large scale characteristics, and frequency in Incidence and Prevalence."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6:00]  SLIDE 6 · DATABASE DIAGNOSTICS (SECTION OPENER)
SAY
"We start with the database, because no cohort can be judged without knowing where it came from. This section has four tabs. Snapshot gives the size, date range and versions. Person describes sex, year of birth and missing person-level fields. Observation periods show how long people are followed. Clinical records show how each clinical table is coded and what is missing.
For a researcher, this answers one question: can this database support my study period, my population and the data my definition needs?"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7:15]  SLIDE 7 · SNAPSHOT AND PERSON
CLICK IN THE R SHINY APP
1. Database diagnostics › Snapshot. Point at: 1,000 people; observation from 2008-01-01 to 2010-12-31; CDM 5.3; vocabulary v5.0 06-AUG-21.
2. Database diagnostics › Person. Point at: 498 women and 502 men; median year of birth 1935 (IQR 1928–1942); day of birth is always the 1st; provider and care site are missing for everyone.
SAY
"synpuf-1k is small: 1,000 people observed over three calendar years. The median year of birth is 1935, so most people are over 65 during the data. That matters later, because chronic conditions like hypertension will be common.
Provider and care site are missing for everyone, and the day of birth is always the first of the month. These are typical features of a synthetic, de-identified dataset. They remind us that the results describe a teaching dataset, not real patients."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 8:30]  SLIDE 8 · OBSERVATION PERIODS AND CLINICAL RECORDS
CLICK IN THE R SHINY APP
1. Database diagnostics › Observation periods. Point at: median duration 1,096 days; 1,048 periods for 1,000 people, so 48 people have a second period.
2. Database diagnostics › Clinical records. Point at each table: condition_occurrence 160,322 records coded in ICD-9-CM and mapped to SNOMED; drug_exposure 49,542 records, 94% from NDC pharmacy dispensings; measurement 2,858 records, with value_as_number missing for all of them.
SAY
"Most people are observed for the full three years. But three years is short. Someone diagnosed with hypertension years earlier will have their first record in 2008 simply because that's when the data begin. We'll see the effect of this in the cohort and population sections.
The clinical records tab shows what a definition can rely on. Diagnoses come from claims coded in ICD-9-CM, and drugs come from pharmacy dispensings. The measurement table has records, but none has a numeric value, and most are actually condition codes. So a definition that needs blood-pressure readings cannot work in this database. That's a limit of the data source, not of the phenotype."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9:00]  SLIDE 9 · CODELIST DIAGNOSTICS (SECTION OPENER)
SAY
"Next, the codelist. This section has two tabs. Cohort code use shows exactly which standard and source concepts brought people into the cohort. Orphan codes show concepts that are related to the codelist, appear in the data, but weren't included. The orphan codes tab needs ACHILLES results in the database.
For a researcher, this shows what a cohort label means in practice, and which concepts might need adding."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10:00]  SLIDE 10 · COHORT CODE USE: HYPERTENSION
CLICK IN THE R SHINY APP
Codelist diagnostics › Cohort code use. Cohort: hypertension. Point at the standard concept Essential hypertension (320128), the source concept Unspecified essential hypertension (44821949, source value 4019), and the 34 rows, one for each claim position.
SAY
"The label 'hypertension' sounds broad, but the table shows exactly what created the cohort. Every entry comes from one ICD-9-CM code, 401.9, 'unspecified essential hypertension', mapped to the standard concept Essential hypertension.
That code appears in 34 different positions on claims. Most records come from carrier claims, which are physician billing, followed by outpatient and a few inpatient claims. These are not 34 different diagnoses; they are the same code in different places on a claim.
So the most accurate description of this cohort is 'recorded essential hypertension'. It's a billing signal, with no blood-pressure confirmation."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11:00]  SLIDE 11 · COHORT CODE USE: WARFARIN
CLICK IN THE R SHINY APP
Codelist diagnostics › Cohort code use. Cohort: user_of_warfarin. Point at the single standard concept, warfarin sodium 5 MG Oral Tablet (40163554), the record type 'Prescription dispensed in pharmacy', and the 63 rows of source NDC codes. Most rows show '&lt;2' people.
SAY
"The warfarin cohort is the opposite pattern. It has many source codes: 63 NDC product codes from different manufacturers and pack sizes. But all of them map to a single standard concept: warfarin sodium 5 mg oral tablet.
So a long list of source codes does not mean a broad concept set. This cohort captures one strength of one formulation. If a study is specifically about 5 mg tablets, that may be fine. If the study is about any warfarin use, it's too narrow, because warfarin is prescribed in many strengths and doses are adjusted over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12:15]  SLIDE 12 · ORPHAN CODES: HYPERTENSION
CLICK IN THE R SHINY APP
Codelist diagnostics › Orphan codes. Codelist: hypertension. Point at Benign essential hypertension (312648, 4,517 records), Malignant essential hypertension (317898, 187 records) and Hypertensive disorder (316866, 7 records).
SAY
"Orphan codes are concepts that are related to the codelist in the vocabulary and recorded in the data, but not included in the codelist.
For hypertension, the largest is Benign essential hypertension, with 4,517 records. The concept we did include has about 5,600 records, so the missing concept is almost as common. In US claims, ICD-9 401.1 'benign' and 401.9 'unspecified' are largely a matter of billing habit rather than different diseases. Both are descendants of Essential hypertension, so including descendants would have captured them.
The table on the right suggests an action for each. Benign essential hypertension is likely to belong. Malignant essential hypertension depends on the study question. Hypertensive disorder is a broader parent concept and probably should be left out.
Two cautions. These counts are database records from ACHILLES, not people. And a related concept is not automatically an omission; a clinician reviews each one."
SOURCE NOTE: these figures come from the full PhenotypeR results file for synpuf-1k. Confirm the Orphan codes tab shows them in the deployed app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13:30]  SLIDE 13 · ORPHAN CODES: WARFARIN
CLICK IN THE R SHINY APP
Codelist diagnostics › Orphan codes. Codelist: user_of_warfarin. Point at the other strengths (2 mg, 4 mg, 2.5 mg, 1 mg, 10 mg, 7.5 mg, 3 mg) and the brand-name products (Coumadin, Jantoven).
SAY
"For warfarin, the orphan codes tab finds 21 related concepts. They are the other strengths of warfarin sodium oral tablet, from 1 mg to 10 mg, and brand-name products such as Coumadin and Jantoven. Even the branded 5 mg tablet, Coumadin 5 mg, is missing, with 14 records.
Together, the orphan concepts we can count account for at least 318 records, compared with 74 qualifying records in the cohort. In other words, the cohort misses most warfarin dispensing in this database.
For a study of any warfarin use, the concept set should start from the warfarin ingredient and include all its descendants. That's a change made in the cohort definition, after which PhenotypeR is run again."
NOTE: the 5 mg bar shows the cohort's qualifying records, and the other bars show ACHILLES record counts, so they are comparable only approximately. Eight more concepts, including the 6 mg tablet, have fewer than 5 records and are hidden.
SOURCE NOTE: from the full PhenotypeR results file; confirm in the deployed app.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14:00]  SLIDE 14 · COHORT DIAGNOSTICS (SECTION OPENER)
SAY
"The cohort section is the largest, with six tabs. Cohort count shows records, people and attrition. Cohort characteristics describe people at entry. Large scale characteristics list every concept recorded around entry. Compare large scale characteristics puts two cohorts side by side, most often the cohort and its age- and sex-matched controls. Compare cohorts shows overlap and timing between cohorts. Cohort survival estimates time to death.
For a researcher, this answers: do the people we selected look clinically coherent, and do the definition's rules behave as intended?"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 – 15:15]  SLIDE 15 · COHORT COUNT AND ATTRITION
CLICK IN THE R SHINY APP
Cohort diagnostics › Cohort count, then the Attrition or Flowchart view for both cohorts.
Hypertension: 5,617 initial records for 728 people; 4,211 after merging overlapping records; 733 after setting exit to the end of the observation period. No people excluded.
Warfarin: 74 initial records for 63 people; 73 after merging. No people excluded.
SAY
"Attrition shows each step of the cohort definition. The record counts fall a lot, from 5,617 to 733 for hypertension, but the number of people stays at 728 throughout. A person can contribute many records, and merging simply consolidates them into cohort episodes.
Attrition also shows what is not in the definitions. Neither cohort has an age rule, a prior-observation rule, a study window or a repeat-diagnosis rule. These are deliberately simple definitions. That's not wrong, but it limits what we can call them."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[15:15 – 16:45]  SLIDE 16 · COHORT CHARACTERISTICS
CLICK IN THE R SHINY APP
Cohort diagnostics › Cohort characteristics, with both cohorts selected. Note that the statistics are calculated by record, not by person.
SAY
"Both cohorts are old, with median ages of 73 and 74, as we'd expect from this database. The warfarin cohort is 62% female, which is plausible in a cohort of 63 people.
Two rows deserve attention. First, median prior observation: 152 days for hypertension against 398 for warfarin. Half of the hypertension cohort entered within about five months of the data starting. Without a prior-observation rule, people who had hypertension long before 2008 enter as soon as the data begin. 'First recorded' is not 'first diagnosed'.
Second, time in the cohort. Hypertension episodes run for a median of 926 days, because they last until the end of observation. Warfarin episodes last a median of 30 days, with an interquartile range of 30 to 30. That's one 30-day dispensing, not a course of anticoagulation, which normally lasts months or years.
Warfarin users also have more healthcare visits in the year before entry: a median of 15 against 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[16:45 – 18:00]  SLIDE 17 · LARGE SCALE CHARACTERISTICS
CLICK IN THE R SHINY APP
Cohort diagnostics › Large scale characteristics. Cohort: hypertension. Time window: -365 to -31. Show the top concepts, then search for Benign essential hypertension and hydrochlorothiazide.
SAY
"Large scale characteristics list every concept recorded in a time window relative to cohort entry. This is the year before people entered the hypertension cohort.
The comorbidities fit the clinical picture: type 2 diabetes in 26% and hyperlipidaemia in 24%.
But third on the list is Benign essential hypertension, at 23%. That's the orphan concept from the codelist section. Almost a quarter of people already had hypertension recorded under a different code before they entered the cohort. And one in six were already taking hydrochlorothiazide, with others on lisinopril, atenolol or amlodipine.
So entry into this cohort is not the onset of hypertension. It's a recorded-hypertension cohort, not an incident one. This is where the sections connect: the database told us look-back is short, the codelist told us a common code was missing, and here we see both effects."
NOTE: large scale characteristics are not available for the warfarin cohort in this results set.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 – 19:15]  SLIDE 18 · COMPARE LARGE SCALE CHARACTERISTICS
CLICK IN THE R SHINY APP
Cohort diagnostics › Compare large scale characteristics. Reference: hypertension. Comparator: hypertension_matched. Domain: drug era. Window: 31 to 365. Use the plot; points above the diagonal are more common in the cohort. Then switch the window to -365 to -31.
SAY
"PhenotypeR builds an age- and sex-matched control group from the same database, so we can ask whether the differences between the cohort and the controls make clinical sense.
They do. After entry, every main class of antihypertensive is more common in the cohort: hydrochlorothiazide 40% against 26%, atenolol 19% against 11%, amlodipine 15% against 11%.
Three details matter. Only 235 matched controls could be found, because with 73% of the database in the cohort there are few people without hypertension left. Before entry, amlodipine use is identical in both groups, at 5.2%, so the difference only appears after the diagnosis is recorded. And about 11% of controls take amlodipine too. A drug exposure alone cannot identify hypertension, because the same drugs are used for other conditions."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[19:15 – 20:30]  SLIDE 19 · COMPARE COHORTS
CLICK IN THE R SHINY APP
Cohort diagnostics › Compare cohorts. First Cohort overlap, with hypertension as the reference: 52 people with user_of_warfarin and 644 with type_2_diabetes. Then Cohort timing, plot view.
SAY
"Compare cohorts shows how many people two cohorts share, and how far apart their entries are.
52 people are in both the hypertension and the warfarin cohorts. Their warfarin entry comes a median of 229 days after their hypertension entry. That tells us the order of events, not the reason for the prescription. Nothing here says warfarin was prescribed because of hypertension.
The more striking result is type 2 diabetes. 644 people are in both cohorts, and the timing plot shows a sharp spike at zero: the two diagnoses are recorded a median of 6 days apart. That's unusual in real care, and it's most likely a feature of how the synthetic data were generated. It's a good reminder that an implausible pattern can come from the database, not the definition."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 21:15]  SLIDE 20 · COHORT SURVIVAL (can be skipped if short of time)
CLICK IN THE R SHINY APP
Cohort diagnostics › Cohort survival. Cohort: hypertension.
SAY
"Cohort survival estimates time from cohort entry to death, for a sample of the cohort and its matched controls. Here, 235 people in each group, with 8 deaths in the cohort sample and 13 among the controls. The restricted mean survival is 1,064 days against 1,041, and the confidence bands overlap.
With so few events, we can't draw any conclusion about mortality, and we shouldn't use it to judge this phenotype. In a larger database, this tab is useful for checking whether mortality matches what we'd expect for the condition."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 – 21:45]  SLIDE 21 · POPULATION DIAGNOSTICS (SECTION OPENER)
SAY
"The last section estimates how often each cohort occurs in the database population. Incidence gives new cohort entries per 100,000 person-years, by year, age group, sex and the prior observation required. Period prevalence gives the proportion of the population in the cohort during each year.
For a researcher, this shows whether the frequency is plausible, and whether changes over time come from the condition or from the data."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[21:45 – 23:00]  SLIDE 22 · INCIDENCE
CLICK IN THE R SHINY APP (optional)
Population diagnostics › Incidence, both cohorts.
SAY
"Incidence falls sharply in both cohorts. Hypertension goes from about 95,000 per 100,000 person-years in 2008 to about 14,000 in 2010. Warfarin goes from 3,431 to 1,508.
When two unrelated cohorts fall in the same way, the shared cause is the data. 568 of the 728 hypertension entries are in 2008, the first year of data. People who already had the condition, or were already on the drug, are recorded as new when the data begin.
So we should not call these incidence rates of disease. They are rates of first recorded entry within the available data. A cohort meant for incidence would need a period of prior observation with no record of the condition."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 23:45]  SLIDE 23 · PERIOD PREVALENCE
CLICK IN THE R SHINY APP (optional)
Population diagnostics › Period prevalence, both cohorts.
SAY
"Hypertension prevalence rises from 58% in 2008 to 77% in 2010. That's high, but explainable in an older claims population, and it rises because more people acquire a record each year. Warfarin prevalence is 2 to 3%, which fits a cohort limited to one 5 mg product."
&gt;&gt;&gt; SWITCH BACK TO POWERPOINT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[23:45 – 26:00]  SLIDE 24 · SUMMARY OF FINDINGS. Then about 4 minutes of buffer before Part B.
SAY
"Here is what each section told us.
Database: a small, older, synthetic claims database with three years of data and no numeric measurement values. Definitions can use diagnosis codes and dispensings, but not measured values.
Codelist: hypertension rests on one billing code and warfarin on one 5 mg product, and related concepts with many records are missing. The next step would be to review the orphan concepts and widen the concept sets if the study needs it.
Cohort: no one is excluded, many hypertension entries follow earlier hypertension records, and warfarin episodes last 30 days. The cohorts should be described as recorded, not incident, and as single dispensings, not treatment courses.
Population: rates fall from the first year of data, so we report first recorded entry, not disease incidence.
Neither cohort has failed. Both are usable, but only under labels that match their definitions: recorded essential hypertension, and user of warfarin sodium 5 mg oral tablet."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 30:30]  SLIDE 25 · LLM-SUPPORTED CONTEXT (SECTION OPENER)
SAY
"In Part B we look at three optional inputs that add context to the app: clinical descriptions, data source descriptions and cohort expectations. LLMs can help draft the first and the third. In every case, the diagnostics remain the evidence, and an expert reviews what the LLM produces."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[30:30 – 32:30]  SLIDE 26 · THREE INPUTS
SAY
"Each input is a file saved in a folder, and shinyDiagnostics() reads those folders when it builds the app.
A clinical description is a structured profile of the condition or exposure. It's created in the Clinical Description app, or drafted by an LLM through PhenotypeR. It's matched to a cohort by name, and it appears under Background › Clinical descriptions.
A data source description is a structured profile of the database, created in the Data Source Description app by the data custodian. It's matched by the data source acronym, which must equal the CDM name, and it appears under Background › Database descriptions.
Cohort expectations describe what we expect to see in each cohort. They're generated with getCohortExpectations() and an LLM, or written by a clinician. They appear in a 'Show cohort expectations' panel in six of the cohort diagnostics tabs."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 – 38:00]  SLIDE 29 · COHORT EXPECTATIONS
SAY
"getCohortExpectations() asks an LLM what we should expect to see for each cohort. It returns a table, and each type of expectation is shown in a specific tab of the app.
The clinical description and expected frequency appear in Cohort count. The median age and percentage male appear in Cohort characteristics. Comorbidities, signs and symptoms, and medications appear in Large scale characteristics and in Compare large scale characteristics. Overlap and timing with the other cohorts appear in Compare cohorts. And five-year survival appears in Cohort survival.
Expectations can also be written by hand. A clinician fills in a table with four columns: cohort name, estimate, value and source.
One clarification: the expectations are not a comparison cohort. They're text shown in a panel beside the observed results. The comparison cohort in the app is the age- and sex-matched control group."</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[32:30 – 34:30]  SLIDE 27 · THE CLINICAL DESCRIPTION APP
SAY
"The Clinical Description app is a form with two parts.
The metadata records the phenotype name, which must match the cohort name, along with the version, who created and last edited it, the dates, and the sources of information.
The clinical profile has seven sections: introduction and synonyms; clinical presentation and symptoms; epidemiology; assessment and diagnosis; therapeutic plan and treatment; complications and prognosis; and disqualifiers, meaning the differential diagnoses that shouldn't enter the cohort.
The 'Draft with AI' button fills the clinical profile using an LLM, but only when the app runs locally with an LLM connection set up. The hosted version is filled in by hand, or loaded from a JSON file. The download is enabled only once every required field is complete.
For our hypertension cohort, the disqualifiers section is where a clinician would note secondary hypertension and pregnancy-related hypertension, which a broader concept set could pull 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 – 36:00]  SLIDE 28 · THE DATA SOURCE DESCRIPTION APP
SAY
"The Data Source Description app records what reviewers need to know about the database. It has three sections: administrative details, such as the name, acronym, website and references; the data collected, covering geography, population, healthcare setting, coding, quality control, linkage, how deaths are captured and known limitations; and how the data were mapped to the OMOP CDM.
There's no LLM drafting in this app. The description should come from the people who know the data. The database diagnostics we saw earlier are a good way to check it. On the right are example entries for synpuf-1k, all taken from the database diagnostics: synthetic US claims, 1,000 mostly older people, ICD-9-CM and NDC coding, and limitations such as three years of follow-up and no numeric measurements.
The data source acronym must match the CDM name in the results, here synpuf-1k, or the description won't appear in the app."</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 – 40:00]  SLIDE 30 · ADDING CONTEXT TO THE R SHINY APP
SAY
"This is how the pieces come together. We create a chat object with the ellmer package, which works with several LLM providers. getCohortExpectations() takes that chat object and the PhenotypeR results, and saves a CSV of expectations. The clinical and data source descriptions are saved from the two description apps, or the clinical description is drafted with an LLM. Then shinyDiagnostics() takes the three folders together with the results.
Three practical points. Only cohort names are sent to the model by getCohortExpectations(); no counts and no patient data. Names must match: clinical descriptions match on cohort name, and data source descriptions match on the CDM name. And check the package version: the online documentation and the current code use different names for the clinical-description function, so confirm against the version installed for the practical."
VERSION NOTE (for you): the documentation article shows getClinicalDescription() and Word templates; the current GitHub code and the hosted description apps use draftClinicalDescription() and JSON files. Also, the current shinyDiagnostics() code copies database descriptions only when clinicalDescriptionsDir is supplied as well, so always pass both.</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[43:30 – 45:00]  SLIDE 33 · KEY MESSAGES
SAY
"Three messages to take away.
First, a cohort that runs is not yet ready for research. Our counts of 728 and 63 showed that the definitions ran, not what they captured.
Second, each section of the R Shiny App answers a different question. The database, codelist, cohort and population diagnostics together show what a cohort really contains.
Third, LLMs can draft context, but people make the decisions. Descriptions and expectations help interpretation, and every one needs expert review.
In the hands-on practical that follows, you'll work through the same R Shiny App yourselves."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949440" cy="2011680"/>
          </a:xfrm>
          <a:prstGeom prst="rect">
            <a:avLst/>
          </a:prstGeom>
          <a:noFill/>
          <a:ln/>
        </p:spPr>
        <p:txBody>
          <a:bodyPr wrap="square" rtlCol="0"/>
          <a:lstStyle>
            <a:lvl1pPr marL="0" indent="0" algn="l">
              <a:buNone/>
              <a:defRPr lang="en-US" sz="4600" b="1" dirty="0">
                <a:solidFill>
                  <a:srgbClr val="FFFFFF"/>
                </a:solidFill>
              </a:defRPr>
            </a:lvl1pPr>
          </a:lstStyle>
          <a:p>
            <a:pPr marL="0" indent="0" algn="l">
              <a:buNone/>
            </a:pPr>
            <a:endParaRPr lang="en-US" sz="4600" dirty="0"/>
          </a:p>
        </p:txBody>
      </p:sp>
      <p:sp>
        <p:nvSpPr>
          <p:cNvPr id="3" name="Text 0"/>
          <p:cNvSpPr>
            <a:spLocks noGrp="1"/>
          </p:cNvSpPr>
          <p:nvPr>
            <p:ph type="body" idx="101" hasCustomPrompt="1"/>
          </p:nvPr>
        </p:nvSpPr>
        <p:spPr>
          <a:xfrm>
            <a:off x="640080" y="4023360"/>
            <a:ext cx="6766560" cy="914400"/>
          </a:xfrm>
          <a:prstGeom prst="rect">
            <a:avLst/>
          </a:prstGeom>
          <a:noFill/>
          <a:ln/>
        </p:spPr>
        <p:txBody>
          <a:bodyPr wrap="square" rtlCol="0"/>
          <a:lstStyle>
            <a:lvl1pPr marL="0" indent="0" algn="l">
              <a:buNone/>
              <a:defRPr lang="en-US" sz="2000" dirty="0">
                <a:solidFill>
                  <a:srgbClr val="C9D6DF"/>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Database">
    <p:bg>
      <p:bgPr>
        <a:solidFill>
          <a:srgbClr val="3D5A8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Codelist">
    <p:bg>
      <p:bgPr>
        <a:solidFill>
          <a:srgbClr val="0E7C8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Cohort">
    <p:bg>
      <p:bgPr>
        <a:solidFill>
          <a:srgbClr val="C870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opulation">
    <p:bg>
      <p:bgPr>
        <a:solidFill>
          <a:srgbClr val="6A4C9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LLM">
    <p:bg>
      <p:bgPr>
        <a:solidFill>
          <a:srgbClr val="A23B7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91672" cy="530352"/>
          </a:xfrm>
          <a:prstGeom prst="rect">
            <a:avLst/>
          </a:prstGeom>
          <a:noFill/>
          <a:ln/>
        </p:spPr>
        <p:txBody>
          <a:bodyPr wrap="square" rtlCol="0"/>
          <a:lstStyle>
            <a:lvl1pPr marL="0" indent="0" algn="l">
              <a:buNone/>
              <a:defRPr lang="en-US" sz="2700" b="1" dirty="0">
                <a:solidFill>
                  <a:srgbClr val="0B2545"/>
                </a:solidFill>
              </a:defRPr>
            </a:lvl1pPr>
          </a:lstStyle>
          <a:p>
            <a:pPr marL="0" indent="0" algn="l">
              <a:buNone/>
            </a:pPr>
            <a:endParaRPr lang="en-US" sz="2700" dirty="0"/>
          </a:p>
        </p:txBody>
      </p:sp>
      <p:sp>
        <p:nvSpPr>
          <p:cNvPr id="3" name="Text 0"/>
          <p:cNvSpPr>
            <a:spLocks noGrp="1"/>
          </p:cNvSpPr>
          <p:nvPr>
            <p:ph type="body" idx="101" hasCustomPrompt="1"/>
          </p:nvPr>
        </p:nvSpPr>
        <p:spPr>
          <a:xfrm>
            <a:off x="548640" y="1097280"/>
            <a:ext cx="11091672" cy="457200"/>
          </a:xfrm>
          <a:prstGeom prst="rect">
            <a:avLst/>
          </a:prstGeom>
          <a:noFill/>
          <a:ln/>
        </p:spPr>
        <p:txBody>
          <a:bodyPr wrap="square" rtlCol="0"/>
          <a:lstStyle>
            <a:lvl1pPr marL="0" indent="0" algn="l">
              <a:buNone/>
              <a:defRPr lang="en-US" sz="1600" dirty="0">
                <a:solidFill>
                  <a:srgbClr val="556677"/>
                </a:solidFill>
              </a:defRPr>
            </a:lvl1pPr>
          </a:lstStyle>
          <a:p>
            <a:pPr marL="0" indent="0" algn="l">
              <a:buNone/>
            </a:pPr>
            <a:endParaRPr lang="en-US" sz="1600" dirty="0"/>
          </a:p>
        </p:txBody>
      </p:sp>
      <p:sp>
        <p:nvSpPr>
          <p:cNvPr id="4" name="Text 0"/>
          <p:cNvSpPr/>
          <p:nvPr/>
        </p:nvSpPr>
        <p:spPr>
          <a:xfrm>
            <a:off x="548640" y="6419088"/>
            <a:ext cx="5486400" cy="256032"/>
          </a:xfrm>
          <a:prstGeom prst="rect">
            <a:avLst/>
          </a:prstGeom>
          <a:noFill/>
          <a:ln/>
        </p:spPr>
        <p:txBody>
          <a:bodyPr wrap="square" lIns="0" tIns="0" rIns="0" bIns="0" rtlCol="0" anchor="ctr"/>
          <a:lstStyle/>
          <a:p>
            <a:pPr marL="0" indent="0">
              <a:buNone/>
            </a:pPr>
            <a:r>
              <a:rPr lang="en-US" sz="900" dirty="0">
                <a:solidFill>
                  <a:srgbClr val="8A97A5"/>
                </a:solidFill>
              </a:rPr>
              <a:t>PhenotypeR  ·  OHDSI Global Symposium 2026</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5.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6.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15_0.xml"/><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chart" Target="../charts/chart8.xml"/><Relationship Id="rId4" Type="http://schemas.openxmlformats.org/officeDocument/2006/relationships/chart" Target="../charts/chart7.xml"/></Relationships>
</file>

<file path=ppt/slides/_rels/slide2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hart" Target="../charts/char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hyperlink" Target="https://ohdsi.github.io/PhenotypeR/"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49808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OHDSI GLOBAL SYMPOSIUM 2026  ·  COMPLEX PHENOTYPING AT SCALE</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pPr marL="0" indent="0" algn="l">
              <a:buNone/>
            </a:pPr>
            <a:r>
              <a:rPr lang="en-US" sz="4600" b="1" dirty="0">
                <a:solidFill>
                  <a:srgbClr val="FFFFFF"/>
                </a:solidFill>
              </a:rPr>
              <a:t>From Clinical Idea to OMOP Cohort</a:t>
            </a:r>
            <a:endParaRPr lang="en-US" sz="4600" dirty="0"/>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pPr marL="0" indent="0" algn="l">
              <a:buNone/>
            </a:pPr>
            <a:r>
              <a:rPr lang="en-US" sz="2000">
                <a:solidFill>
                  <a:srgbClr val="C9D6DF"/>
                </a:solidFill>
              </a:rPr>
              <a:t>Designing the two example cohorts</a:t>
            </a:r>
            <a:endParaRPr lang="en-US" sz="2000">
              <a:ea typeface="Calibri"/>
              <a:cs typeface="Calibri"/>
            </a:endParaRPr>
          </a:p>
        </p:txBody>
      </p:sp>
      <p:sp>
        <p:nvSpPr>
          <p:cNvPr id="5" name="Cohort hypertension"/>
          <p:cNvSpPr/>
          <p:nvPr/>
        </p:nvSpPr>
        <p:spPr>
          <a:xfrm>
            <a:off x="8229600" y="1828800"/>
            <a:ext cx="3410712" cy="1143000"/>
          </a:xfrm>
          <a:prstGeom prst="roundRect">
            <a:avLst>
              <a:gd name="adj" fmla="val 8000"/>
            </a:avLst>
          </a:prstGeom>
          <a:solidFill>
            <a:srgbClr val="0E7C86"/>
          </a:solidFill>
          <a:ln w="12700">
            <a:solidFill>
              <a:srgbClr val="0E7C86"/>
            </a:solidFill>
            <a:prstDash val="solid"/>
          </a:ln>
        </p:spPr>
      </p:sp>
      <p:pic>
        <p:nvPicPr>
          <p:cNvPr id="6" name="Image 0" descr="preencoded.png"/>
          <p:cNvPicPr>
            <a:picLocks noChangeAspect="1"/>
          </p:cNvPicPr>
          <p:nvPr/>
        </p:nvPicPr>
        <p:blipFill>
          <a:blip r:embed="rId3"/>
          <a:stretch>
            <a:fillRect/>
          </a:stretch>
        </p:blipFill>
        <p:spPr>
          <a:xfrm>
            <a:off x="8503920" y="2212848"/>
            <a:ext cx="384048" cy="384048"/>
          </a:xfrm>
          <a:prstGeom prst="rect">
            <a:avLst/>
          </a:prstGeom>
        </p:spPr>
      </p:pic>
      <p:sp>
        <p:nvSpPr>
          <p:cNvPr id="7" name="Text 4"/>
          <p:cNvSpPr txBox="1"/>
          <p:nvPr/>
        </p:nvSpPr>
        <p:spPr>
          <a:xfrm>
            <a:off x="9098280" y="1828800"/>
            <a:ext cx="2468880" cy="1143000"/>
          </a:xfrm>
          <a:prstGeom prst="rect">
            <a:avLst/>
          </a:prstGeom>
          <a:noFill/>
          <a:ln/>
        </p:spPr>
        <p:txBody>
          <a:bodyPr wrap="square" lIns="0" tIns="0" rIns="0" bIns="0" rtlCol="0" anchor="ctr"/>
          <a:lstStyle/>
          <a:p>
            <a:pPr marL="0" indent="0">
              <a:buNone/>
            </a:pPr>
            <a:r>
              <a:rPr lang="en-US" sz="1000" b="1" kern="0" spc="100" dirty="0">
                <a:solidFill>
                  <a:srgbClr val="FFFFFF"/>
                </a:solidFill>
              </a:rPr>
              <a:t>CONDITION COHORT</a:t>
            </a:r>
            <a:endParaRPr lang="en-US" sz="1000" dirty="0"/>
          </a:p>
          <a:p>
            <a:pPr marL="0" indent="0">
              <a:buNone/>
            </a:pPr>
            <a:r>
              <a:rPr lang="en-US" sz="1700" b="1" dirty="0">
                <a:solidFill>
                  <a:srgbClr val="FFFFFF"/>
                </a:solidFill>
                <a:latin typeface="Courier New" pitchFamily="34" charset="0"/>
                <a:ea typeface="Courier New" pitchFamily="34" charset="-122"/>
                <a:cs typeface="Courier New" pitchFamily="34" charset="-120"/>
              </a:rPr>
              <a:t>hypertension</a:t>
            </a:r>
            <a:endParaRPr lang="en-US" sz="1000" dirty="0"/>
          </a:p>
        </p:txBody>
      </p:sp>
      <p:sp>
        <p:nvSpPr>
          <p:cNvPr id="8" name="Cohort user_of_warfarin"/>
          <p:cNvSpPr/>
          <p:nvPr/>
        </p:nvSpPr>
        <p:spPr>
          <a:xfrm>
            <a:off x="8229600" y="3200400"/>
            <a:ext cx="3410712" cy="1143000"/>
          </a:xfrm>
          <a:prstGeom prst="roundRect">
            <a:avLst>
              <a:gd name="adj" fmla="val 8000"/>
            </a:avLst>
          </a:prstGeom>
          <a:solidFill>
            <a:srgbClr val="C8702A"/>
          </a:solidFill>
          <a:ln w="12700">
            <a:solidFill>
              <a:srgbClr val="C8702A"/>
            </a:solidFill>
            <a:prstDash val="solid"/>
          </a:ln>
        </p:spPr>
      </p:sp>
      <p:pic>
        <p:nvPicPr>
          <p:cNvPr id="9" name="Image 1" descr="preencoded.png"/>
          <p:cNvPicPr>
            <a:picLocks noChangeAspect="1"/>
          </p:cNvPicPr>
          <p:nvPr/>
        </p:nvPicPr>
        <p:blipFill>
          <a:blip r:embed="rId4"/>
          <a:stretch>
            <a:fillRect/>
          </a:stretch>
        </p:blipFill>
        <p:spPr>
          <a:xfrm>
            <a:off x="8503920" y="3584448"/>
            <a:ext cx="384048" cy="384048"/>
          </a:xfrm>
          <a:prstGeom prst="rect">
            <a:avLst/>
          </a:prstGeom>
        </p:spPr>
      </p:pic>
      <p:sp>
        <p:nvSpPr>
          <p:cNvPr id="10" name="Text 6"/>
          <p:cNvSpPr txBox="1"/>
          <p:nvPr/>
        </p:nvSpPr>
        <p:spPr>
          <a:xfrm>
            <a:off x="9098280" y="3200400"/>
            <a:ext cx="2468880" cy="1143000"/>
          </a:xfrm>
          <a:prstGeom prst="rect">
            <a:avLst/>
          </a:prstGeom>
          <a:noFill/>
          <a:ln/>
        </p:spPr>
        <p:txBody>
          <a:bodyPr wrap="square" lIns="0" tIns="0" rIns="0" bIns="0" rtlCol="0" anchor="ctr"/>
          <a:lstStyle/>
          <a:p>
            <a:pPr marL="0" indent="0">
              <a:buNone/>
            </a:pPr>
            <a:r>
              <a:rPr lang="en-US" sz="1000" b="1" kern="0" spc="100" dirty="0">
                <a:solidFill>
                  <a:srgbClr val="FFFFFF"/>
                </a:solidFill>
              </a:rPr>
              <a:t>DRUG COHORT</a:t>
            </a:r>
            <a:endParaRPr lang="en-US" sz="1000" dirty="0"/>
          </a:p>
          <a:p>
            <a:pPr marL="0" indent="0">
              <a:buNone/>
            </a:pPr>
            <a:r>
              <a:rPr lang="en-US" sz="1700" b="1" dirty="0">
                <a:solidFill>
                  <a:srgbClr val="FFFFFF"/>
                </a:solidFill>
                <a:latin typeface="Courier New" pitchFamily="34" charset="0"/>
                <a:ea typeface="Courier New" pitchFamily="34" charset="-122"/>
                <a:cs typeface="Courier New" pitchFamily="34" charset="-120"/>
              </a:rPr>
              <a:t>user_of_warfarin</a:t>
            </a:r>
            <a:endParaRPr lang="en-US" sz="1000" dirty="0"/>
          </a:p>
        </p:txBody>
      </p:sp>
    </p:spTree>
    <p:extLst>
      <p:ext uri="{BB962C8B-B14F-4D97-AF65-F5344CB8AC3E}">
        <p14:creationId xmlns:p14="http://schemas.microsoft.com/office/powerpoint/2010/main" val="2048632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THE WORKED EXAMPLE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Two Example Cohorts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One cohort starts from a </a:t>
            </a:r>
            <a:r>
              <a:rPr lang="en-US" sz="1600" b="1" dirty="0">
                <a:solidFill>
                  <a:srgbClr val="0E7C86"/>
                </a:solidFill>
              </a:rPr>
              <a:t>condition record</a:t>
            </a:r>
            <a:r>
              <a:rPr lang="en-US" sz="1600" dirty="0">
                <a:solidFill>
                  <a:srgbClr val="556677"/>
                </a:solidFill>
              </a:rPr>
              <a:t> and the other from a </a:t>
            </a:r>
            <a:r>
              <a:rPr lang="en-US" sz="1600" b="1" dirty="0">
                <a:solidFill>
                  <a:srgbClr val="C8702A"/>
                </a:solidFill>
              </a:rPr>
              <a:t>drug record</a:t>
            </a:r>
            <a:endParaRPr lang="en-US" sz="1600" dirty="0"/>
          </a:p>
        </p:txBody>
      </p:sp>
      <p:sp>
        <p:nvSpPr>
          <p:cNvPr id="5" name="Cohort hypertension"/>
          <p:cNvSpPr/>
          <p:nvPr/>
        </p:nvSpPr>
        <p:spPr>
          <a:xfrm>
            <a:off x="548640" y="1783080"/>
            <a:ext cx="5449824" cy="2926080"/>
          </a:xfrm>
          <a:prstGeom prst="roundRect">
            <a:avLst>
              <a:gd name="adj" fmla="val 3125"/>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sp>
      <p:sp>
        <p:nvSpPr>
          <p:cNvPr id="6" name="Shape 4"/>
          <p:cNvSpPr/>
          <p:nvPr/>
        </p:nvSpPr>
        <p:spPr>
          <a:xfrm>
            <a:off x="822960" y="2057400"/>
            <a:ext cx="603504" cy="603504"/>
          </a:xfrm>
          <a:prstGeom prst="ellipse">
            <a:avLst/>
          </a:prstGeom>
          <a:solidFill>
            <a:srgbClr val="0E7C86"/>
          </a:solidFill>
          <a:ln w="12700">
            <a:solidFill>
              <a:srgbClr val="0E7C86"/>
            </a:solidFill>
            <a:prstDash val="solid"/>
          </a:ln>
        </p:spPr>
      </p:sp>
      <p:pic>
        <p:nvPicPr>
          <p:cNvPr id="7" name="Image 0" descr="preencoded.png"/>
          <p:cNvPicPr>
            <a:picLocks noChangeAspect="1"/>
          </p:cNvPicPr>
          <p:nvPr/>
        </p:nvPicPr>
        <p:blipFill>
          <a:blip r:embed="rId3"/>
          <a:stretch>
            <a:fillRect/>
          </a:stretch>
        </p:blipFill>
        <p:spPr>
          <a:xfrm>
            <a:off x="987552" y="2221992"/>
            <a:ext cx="274320" cy="274320"/>
          </a:xfrm>
          <a:prstGeom prst="rect">
            <a:avLst/>
          </a:prstGeom>
        </p:spPr>
      </p:pic>
      <p:sp>
        <p:nvSpPr>
          <p:cNvPr id="8" name="Text 5"/>
          <p:cNvSpPr txBox="1"/>
          <p:nvPr/>
        </p:nvSpPr>
        <p:spPr>
          <a:xfrm>
            <a:off x="1600200" y="2002536"/>
            <a:ext cx="4169664" cy="731520"/>
          </a:xfrm>
          <a:prstGeom prst="rect">
            <a:avLst/>
          </a:prstGeom>
          <a:noFill/>
          <a:ln/>
        </p:spPr>
        <p:txBody>
          <a:bodyPr wrap="square" lIns="0" tIns="0" rIns="0" bIns="0" rtlCol="0" anchor="ctr"/>
          <a:lstStyle/>
          <a:p>
            <a:pPr marL="0" indent="0">
              <a:buNone/>
            </a:pPr>
            <a:r>
              <a:rPr lang="en-US" sz="1050" b="1" kern="0" spc="100" dirty="0">
                <a:solidFill>
                  <a:srgbClr val="0E7C86"/>
                </a:solidFill>
              </a:rPr>
              <a:t>CONDITION COHORT</a:t>
            </a:r>
            <a:endParaRPr lang="en-US" sz="1050" dirty="0"/>
          </a:p>
          <a:p>
            <a:pPr marL="0" indent="0">
              <a:buNone/>
            </a:pPr>
            <a:r>
              <a:rPr lang="en-US" sz="2000" b="1" dirty="0">
                <a:solidFill>
                  <a:srgbClr val="0B2545"/>
                </a:solidFill>
                <a:latin typeface="Courier New" pitchFamily="34" charset="0"/>
                <a:ea typeface="Courier New" pitchFamily="34" charset="-122"/>
                <a:cs typeface="Courier New" pitchFamily="34" charset="-120"/>
              </a:rPr>
              <a:t>hypertension</a:t>
            </a:r>
            <a:endParaRPr lang="en-US" sz="1050" dirty="0"/>
          </a:p>
        </p:txBody>
      </p:sp>
      <p:sp>
        <p:nvSpPr>
          <p:cNvPr id="9" name="Text 6"/>
          <p:cNvSpPr txBox="1"/>
          <p:nvPr/>
        </p:nvSpPr>
        <p:spPr>
          <a:xfrm>
            <a:off x="822960" y="2971800"/>
            <a:ext cx="1737360" cy="365760"/>
          </a:xfrm>
          <a:prstGeom prst="rect">
            <a:avLst/>
          </a:prstGeom>
          <a:noFill/>
          <a:ln/>
        </p:spPr>
        <p:txBody>
          <a:bodyPr wrap="square" lIns="0" tIns="0" rIns="0" bIns="0" rtlCol="0" anchor="ctr"/>
          <a:lstStyle/>
          <a:p>
            <a:pPr marL="0" indent="0">
              <a:buNone/>
            </a:pPr>
            <a:r>
              <a:rPr lang="en-US" sz="1300" dirty="0">
                <a:solidFill>
                  <a:srgbClr val="556677"/>
                </a:solidFill>
              </a:rPr>
              <a:t>Concept</a:t>
            </a:r>
            <a:endParaRPr lang="en-US" sz="1300" dirty="0"/>
          </a:p>
        </p:txBody>
      </p:sp>
      <p:sp>
        <p:nvSpPr>
          <p:cNvPr id="10" name="Text 7"/>
          <p:cNvSpPr txBox="1"/>
          <p:nvPr/>
        </p:nvSpPr>
        <p:spPr>
          <a:xfrm>
            <a:off x="2560320" y="2971800"/>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Essential hypertension</a:t>
            </a:r>
            <a:endParaRPr lang="en-US" sz="1400" dirty="0"/>
          </a:p>
        </p:txBody>
      </p:sp>
      <p:sp>
        <p:nvSpPr>
          <p:cNvPr id="11" name="Text 8"/>
          <p:cNvSpPr txBox="1"/>
          <p:nvPr/>
        </p:nvSpPr>
        <p:spPr>
          <a:xfrm>
            <a:off x="822960" y="3374136"/>
            <a:ext cx="1737360" cy="365760"/>
          </a:xfrm>
          <a:prstGeom prst="rect">
            <a:avLst/>
          </a:prstGeom>
          <a:noFill/>
          <a:ln/>
        </p:spPr>
        <p:txBody>
          <a:bodyPr wrap="square" lIns="0" tIns="0" rIns="0" bIns="0" rtlCol="0" anchor="ctr"/>
          <a:lstStyle/>
          <a:p>
            <a:pPr marL="0" indent="0">
              <a:buNone/>
            </a:pPr>
            <a:r>
              <a:rPr lang="en-US" sz="1300" dirty="0">
                <a:solidFill>
                  <a:srgbClr val="556677"/>
                </a:solidFill>
              </a:rPr>
              <a:t>OMOP concept ID</a:t>
            </a:r>
            <a:endParaRPr lang="en-US" sz="1300" dirty="0"/>
          </a:p>
        </p:txBody>
      </p:sp>
      <p:sp>
        <p:nvSpPr>
          <p:cNvPr id="12" name="Text 9"/>
          <p:cNvSpPr txBox="1"/>
          <p:nvPr/>
        </p:nvSpPr>
        <p:spPr>
          <a:xfrm>
            <a:off x="2560320" y="3374136"/>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320128</a:t>
            </a:r>
            <a:endParaRPr lang="en-US" sz="1400" dirty="0"/>
          </a:p>
        </p:txBody>
      </p:sp>
      <p:sp>
        <p:nvSpPr>
          <p:cNvPr id="13" name="Text 10"/>
          <p:cNvSpPr txBox="1"/>
          <p:nvPr/>
        </p:nvSpPr>
        <p:spPr>
          <a:xfrm>
            <a:off x="822960" y="3776472"/>
            <a:ext cx="1737360" cy="365760"/>
          </a:xfrm>
          <a:prstGeom prst="rect">
            <a:avLst/>
          </a:prstGeom>
          <a:noFill/>
          <a:ln/>
        </p:spPr>
        <p:txBody>
          <a:bodyPr wrap="square" lIns="0" tIns="0" rIns="0" bIns="0" rtlCol="0" anchor="ctr"/>
          <a:lstStyle/>
          <a:p>
            <a:pPr marL="0" indent="0">
              <a:buNone/>
            </a:pPr>
            <a:r>
              <a:rPr lang="en-US" sz="1300" dirty="0">
                <a:solidFill>
                  <a:srgbClr val="556677"/>
                </a:solidFill>
              </a:rPr>
              <a:t>Recorded in</a:t>
            </a:r>
            <a:endParaRPr lang="en-US" sz="1300" dirty="0"/>
          </a:p>
        </p:txBody>
      </p:sp>
      <p:sp>
        <p:nvSpPr>
          <p:cNvPr id="14" name="Text 11"/>
          <p:cNvSpPr txBox="1"/>
          <p:nvPr/>
        </p:nvSpPr>
        <p:spPr>
          <a:xfrm>
            <a:off x="2560320" y="3776472"/>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condition_occurrence</a:t>
            </a:r>
            <a:endParaRPr lang="en-US" sz="1400" dirty="0"/>
          </a:p>
        </p:txBody>
      </p:sp>
      <p:sp>
        <p:nvSpPr>
          <p:cNvPr id="15" name="Text 12"/>
          <p:cNvSpPr txBox="1"/>
          <p:nvPr/>
        </p:nvSpPr>
        <p:spPr>
          <a:xfrm>
            <a:off x="822960" y="4178808"/>
            <a:ext cx="1737360" cy="365760"/>
          </a:xfrm>
          <a:prstGeom prst="rect">
            <a:avLst/>
          </a:prstGeom>
          <a:noFill/>
          <a:ln/>
        </p:spPr>
        <p:txBody>
          <a:bodyPr wrap="square" lIns="0" tIns="0" rIns="0" bIns="0" rtlCol="0" anchor="ctr"/>
          <a:lstStyle/>
          <a:p>
            <a:pPr marL="0" indent="0">
              <a:buNone/>
            </a:pPr>
            <a:r>
              <a:rPr lang="en-US" sz="1300" dirty="0">
                <a:solidFill>
                  <a:srgbClr val="556677"/>
                </a:solidFill>
              </a:rPr>
              <a:t>Typical source</a:t>
            </a:r>
            <a:endParaRPr lang="en-US" sz="1300" dirty="0"/>
          </a:p>
        </p:txBody>
      </p:sp>
      <p:sp>
        <p:nvSpPr>
          <p:cNvPr id="16" name="Text 13"/>
          <p:cNvSpPr txBox="1"/>
          <p:nvPr/>
        </p:nvSpPr>
        <p:spPr>
          <a:xfrm>
            <a:off x="2560320" y="4178808"/>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A diagnosis code on a claim</a:t>
            </a:r>
            <a:endParaRPr lang="en-US" sz="1400" dirty="0"/>
          </a:p>
        </p:txBody>
      </p:sp>
      <p:sp>
        <p:nvSpPr>
          <p:cNvPr id="17" name="Cohort user_of_warfarin"/>
          <p:cNvSpPr/>
          <p:nvPr/>
        </p:nvSpPr>
        <p:spPr>
          <a:xfrm>
            <a:off x="6190488" y="1783080"/>
            <a:ext cx="5449824" cy="2926080"/>
          </a:xfrm>
          <a:prstGeom prst="roundRect">
            <a:avLst>
              <a:gd name="adj" fmla="val 3125"/>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sp>
      <p:sp>
        <p:nvSpPr>
          <p:cNvPr id="18" name="Shape 15"/>
          <p:cNvSpPr/>
          <p:nvPr/>
        </p:nvSpPr>
        <p:spPr>
          <a:xfrm>
            <a:off x="6464808" y="2057400"/>
            <a:ext cx="603504" cy="603504"/>
          </a:xfrm>
          <a:prstGeom prst="ellipse">
            <a:avLst/>
          </a:prstGeom>
          <a:solidFill>
            <a:srgbClr val="C8702A"/>
          </a:solidFill>
          <a:ln w="12700">
            <a:solidFill>
              <a:srgbClr val="C8702A"/>
            </a:solidFill>
            <a:prstDash val="solid"/>
          </a:ln>
        </p:spPr>
      </p:sp>
      <p:pic>
        <p:nvPicPr>
          <p:cNvPr id="19" name="Image 1" descr="preencoded.png"/>
          <p:cNvPicPr>
            <a:picLocks noChangeAspect="1"/>
          </p:cNvPicPr>
          <p:nvPr/>
        </p:nvPicPr>
        <p:blipFill>
          <a:blip r:embed="rId4"/>
          <a:stretch>
            <a:fillRect/>
          </a:stretch>
        </p:blipFill>
        <p:spPr>
          <a:xfrm>
            <a:off x="6629400" y="2221992"/>
            <a:ext cx="274320" cy="274320"/>
          </a:xfrm>
          <a:prstGeom prst="rect">
            <a:avLst/>
          </a:prstGeom>
        </p:spPr>
      </p:pic>
      <p:sp>
        <p:nvSpPr>
          <p:cNvPr id="20" name="Text 16"/>
          <p:cNvSpPr txBox="1"/>
          <p:nvPr/>
        </p:nvSpPr>
        <p:spPr>
          <a:xfrm>
            <a:off x="7242048" y="2002536"/>
            <a:ext cx="4169664" cy="731520"/>
          </a:xfrm>
          <a:prstGeom prst="rect">
            <a:avLst/>
          </a:prstGeom>
          <a:noFill/>
          <a:ln/>
        </p:spPr>
        <p:txBody>
          <a:bodyPr wrap="square" lIns="0" tIns="0" rIns="0" bIns="0" rtlCol="0" anchor="ctr"/>
          <a:lstStyle/>
          <a:p>
            <a:pPr marL="0" indent="0">
              <a:buNone/>
            </a:pPr>
            <a:r>
              <a:rPr lang="en-US" sz="1050" b="1" kern="0" spc="100" dirty="0">
                <a:solidFill>
                  <a:srgbClr val="C8702A"/>
                </a:solidFill>
              </a:rPr>
              <a:t>DRUG COHORT</a:t>
            </a:r>
            <a:endParaRPr lang="en-US" sz="1050" dirty="0"/>
          </a:p>
          <a:p>
            <a:pPr marL="0" indent="0">
              <a:buNone/>
            </a:pPr>
            <a:r>
              <a:rPr lang="en-US" sz="2000" b="1" dirty="0">
                <a:solidFill>
                  <a:srgbClr val="0B2545"/>
                </a:solidFill>
                <a:latin typeface="Courier New" pitchFamily="34" charset="0"/>
                <a:ea typeface="Courier New" pitchFamily="34" charset="-122"/>
                <a:cs typeface="Courier New" pitchFamily="34" charset="-120"/>
              </a:rPr>
              <a:t>user_of_warfarin</a:t>
            </a:r>
            <a:endParaRPr lang="en-US" sz="1050" dirty="0"/>
          </a:p>
        </p:txBody>
      </p:sp>
      <p:sp>
        <p:nvSpPr>
          <p:cNvPr id="21" name="Text 17"/>
          <p:cNvSpPr txBox="1"/>
          <p:nvPr/>
        </p:nvSpPr>
        <p:spPr>
          <a:xfrm>
            <a:off x="6464808" y="2971800"/>
            <a:ext cx="1737360" cy="365760"/>
          </a:xfrm>
          <a:prstGeom prst="rect">
            <a:avLst/>
          </a:prstGeom>
          <a:noFill/>
          <a:ln/>
        </p:spPr>
        <p:txBody>
          <a:bodyPr wrap="square" lIns="0" tIns="0" rIns="0" bIns="0" rtlCol="0" anchor="ctr"/>
          <a:lstStyle/>
          <a:p>
            <a:pPr marL="0" indent="0">
              <a:buNone/>
            </a:pPr>
            <a:r>
              <a:rPr lang="en-US" sz="1300" dirty="0">
                <a:solidFill>
                  <a:srgbClr val="556677"/>
                </a:solidFill>
              </a:rPr>
              <a:t>Concept</a:t>
            </a:r>
            <a:endParaRPr lang="en-US" sz="1300" dirty="0"/>
          </a:p>
        </p:txBody>
      </p:sp>
      <p:sp>
        <p:nvSpPr>
          <p:cNvPr id="22" name="Text 18"/>
          <p:cNvSpPr txBox="1"/>
          <p:nvPr/>
        </p:nvSpPr>
        <p:spPr>
          <a:xfrm>
            <a:off x="8202168" y="2971800"/>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warfarin sodium 5 MG Oral Tablet</a:t>
            </a:r>
            <a:endParaRPr lang="en-US" sz="1400" dirty="0"/>
          </a:p>
        </p:txBody>
      </p:sp>
      <p:sp>
        <p:nvSpPr>
          <p:cNvPr id="23" name="Text 19"/>
          <p:cNvSpPr txBox="1"/>
          <p:nvPr/>
        </p:nvSpPr>
        <p:spPr>
          <a:xfrm>
            <a:off x="6464808" y="3374136"/>
            <a:ext cx="1737360" cy="365760"/>
          </a:xfrm>
          <a:prstGeom prst="rect">
            <a:avLst/>
          </a:prstGeom>
          <a:noFill/>
          <a:ln/>
        </p:spPr>
        <p:txBody>
          <a:bodyPr wrap="square" lIns="0" tIns="0" rIns="0" bIns="0" rtlCol="0" anchor="ctr"/>
          <a:lstStyle/>
          <a:p>
            <a:pPr marL="0" indent="0">
              <a:buNone/>
            </a:pPr>
            <a:r>
              <a:rPr lang="en-US" sz="1300" dirty="0">
                <a:solidFill>
                  <a:srgbClr val="556677"/>
                </a:solidFill>
              </a:rPr>
              <a:t>OMOP concept ID</a:t>
            </a:r>
            <a:endParaRPr lang="en-US" sz="1300" dirty="0"/>
          </a:p>
        </p:txBody>
      </p:sp>
      <p:sp>
        <p:nvSpPr>
          <p:cNvPr id="24" name="Text 20"/>
          <p:cNvSpPr txBox="1"/>
          <p:nvPr/>
        </p:nvSpPr>
        <p:spPr>
          <a:xfrm>
            <a:off x="8202168" y="3374136"/>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40163554</a:t>
            </a:r>
            <a:endParaRPr lang="en-US" sz="1400" dirty="0"/>
          </a:p>
        </p:txBody>
      </p:sp>
      <p:sp>
        <p:nvSpPr>
          <p:cNvPr id="25" name="Text 21"/>
          <p:cNvSpPr txBox="1"/>
          <p:nvPr/>
        </p:nvSpPr>
        <p:spPr>
          <a:xfrm>
            <a:off x="6464808" y="3776472"/>
            <a:ext cx="1737360" cy="365760"/>
          </a:xfrm>
          <a:prstGeom prst="rect">
            <a:avLst/>
          </a:prstGeom>
          <a:noFill/>
          <a:ln/>
        </p:spPr>
        <p:txBody>
          <a:bodyPr wrap="square" lIns="0" tIns="0" rIns="0" bIns="0" rtlCol="0" anchor="ctr"/>
          <a:lstStyle/>
          <a:p>
            <a:pPr marL="0" indent="0">
              <a:buNone/>
            </a:pPr>
            <a:r>
              <a:rPr lang="en-US" sz="1300" dirty="0">
                <a:solidFill>
                  <a:srgbClr val="556677"/>
                </a:solidFill>
              </a:rPr>
              <a:t>Recorded in</a:t>
            </a:r>
            <a:endParaRPr lang="en-US" sz="1300" dirty="0"/>
          </a:p>
        </p:txBody>
      </p:sp>
      <p:sp>
        <p:nvSpPr>
          <p:cNvPr id="26" name="Text 22"/>
          <p:cNvSpPr txBox="1"/>
          <p:nvPr/>
        </p:nvSpPr>
        <p:spPr>
          <a:xfrm>
            <a:off x="8202168" y="3776472"/>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drug_exposure</a:t>
            </a:r>
            <a:endParaRPr lang="en-US" sz="1400" dirty="0"/>
          </a:p>
        </p:txBody>
      </p:sp>
      <p:sp>
        <p:nvSpPr>
          <p:cNvPr id="27" name="Text 23"/>
          <p:cNvSpPr txBox="1"/>
          <p:nvPr/>
        </p:nvSpPr>
        <p:spPr>
          <a:xfrm>
            <a:off x="6464808" y="4178808"/>
            <a:ext cx="1737360" cy="365760"/>
          </a:xfrm>
          <a:prstGeom prst="rect">
            <a:avLst/>
          </a:prstGeom>
          <a:noFill/>
          <a:ln/>
        </p:spPr>
        <p:txBody>
          <a:bodyPr wrap="square" lIns="0" tIns="0" rIns="0" bIns="0" rtlCol="0" anchor="ctr"/>
          <a:lstStyle/>
          <a:p>
            <a:pPr marL="0" indent="0">
              <a:buNone/>
            </a:pPr>
            <a:r>
              <a:rPr lang="en-US" sz="1300" dirty="0">
                <a:solidFill>
                  <a:srgbClr val="556677"/>
                </a:solidFill>
              </a:rPr>
              <a:t>Typical source</a:t>
            </a:r>
            <a:endParaRPr lang="en-US" sz="1300" dirty="0"/>
          </a:p>
        </p:txBody>
      </p:sp>
      <p:sp>
        <p:nvSpPr>
          <p:cNvPr id="28" name="Text 24"/>
          <p:cNvSpPr txBox="1"/>
          <p:nvPr/>
        </p:nvSpPr>
        <p:spPr>
          <a:xfrm>
            <a:off x="8202168" y="4178808"/>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A pharmacy dispensing</a:t>
            </a:r>
            <a:endParaRPr lang="en-US" sz="1400" dirty="0"/>
          </a:p>
        </p:txBody>
      </p:sp>
      <p:sp>
        <p:nvSpPr>
          <p:cNvPr id="29" name="Text 25"/>
          <p:cNvSpPr txBox="1"/>
          <p:nvPr/>
        </p:nvSpPr>
        <p:spPr>
          <a:xfrm>
            <a:off x="548640" y="4892040"/>
            <a:ext cx="11091672" cy="777240"/>
          </a:xfrm>
          <a:prstGeom prst="rect">
            <a:avLst/>
          </a:prstGeom>
          <a:noFill/>
          <a:ln/>
        </p:spPr>
        <p:txBody>
          <a:bodyPr wrap="square" lIns="0" tIns="0" rIns="0" bIns="0" rtlCol="0" anchor="ctr"/>
          <a:lstStyle/>
          <a:p>
            <a:pPr marL="0" indent="0">
              <a:buNone/>
            </a:pPr>
            <a:r>
              <a:rPr lang="en-US" sz="1500" b="1">
                <a:solidFill>
                  <a:srgbClr val="0B2545"/>
                </a:solidFill>
              </a:rPr>
              <a:t>The aim is to check whether each definition identifies the population we intended</a:t>
            </a:r>
            <a:endParaRPr lang="en-US" sz="1500">
              <a:ea typeface="Calibri"/>
              <a:cs typeface="Calibri"/>
            </a:endParaRPr>
          </a:p>
        </p:txBody>
      </p:sp>
      <p:sp>
        <p:nvSpPr>
          <p:cNvPr id="30" name="Text 26"/>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1"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1490415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THE WORKED EXAMPLE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Two Example Cohorts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condition cohort and a drug cohort, both already built in </a:t>
            </a:r>
            <a:r>
              <a:rPr lang="en-US" sz="1600" b="1" dirty="0">
                <a:solidFill>
                  <a:srgbClr val="0B2545"/>
                </a:solidFill>
              </a:rPr>
              <a:t>synpuf-1k</a:t>
            </a:r>
            <a:endParaRPr lang="en-US" sz="1600" dirty="0"/>
          </a:p>
        </p:txBody>
      </p:sp>
      <p:sp>
        <p:nvSpPr>
          <p:cNvPr id="5" name="Cohort hypertension"/>
          <p:cNvSpPr/>
          <p:nvPr/>
        </p:nvSpPr>
        <p:spPr>
          <a:xfrm>
            <a:off x="548640" y="1783080"/>
            <a:ext cx="5449824" cy="2514600"/>
          </a:xfrm>
          <a:prstGeom prst="roundRect">
            <a:avLst>
              <a:gd name="adj" fmla="val 3636"/>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6" name="Text 4"/>
          <p:cNvSpPr txBox="1"/>
          <p:nvPr/>
        </p:nvSpPr>
        <p:spPr>
          <a:xfrm>
            <a:off x="822960" y="2011680"/>
            <a:ext cx="2743200" cy="274320"/>
          </a:xfrm>
          <a:prstGeom prst="rect">
            <a:avLst/>
          </a:prstGeom>
          <a:noFill/>
          <a:ln/>
        </p:spPr>
        <p:txBody>
          <a:bodyPr wrap="square" lIns="0" tIns="0" rIns="0" bIns="0" rtlCol="0" anchor="ctr"/>
          <a:lstStyle/>
          <a:p>
            <a:pPr marL="0" indent="0">
              <a:buNone/>
            </a:pPr>
            <a:r>
              <a:rPr lang="en-US" sz="1050" b="1" kern="0" spc="100" dirty="0">
                <a:solidFill>
                  <a:srgbClr val="0E7C86"/>
                </a:solidFill>
              </a:rPr>
              <a:t>CONDITION COHORT</a:t>
            </a:r>
            <a:endParaRPr lang="en-US" sz="1050" dirty="0"/>
          </a:p>
        </p:txBody>
      </p:sp>
      <p:sp>
        <p:nvSpPr>
          <p:cNvPr id="7" name="Text 5"/>
          <p:cNvSpPr txBox="1"/>
          <p:nvPr/>
        </p:nvSpPr>
        <p:spPr>
          <a:xfrm>
            <a:off x="822960" y="2286000"/>
            <a:ext cx="3291840" cy="45720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hypertension</a:t>
            </a:r>
            <a:endParaRPr lang="en-US" sz="2000" dirty="0"/>
          </a:p>
        </p:txBody>
      </p:sp>
      <p:sp>
        <p:nvSpPr>
          <p:cNvPr id="8" name="Text 6"/>
          <p:cNvSpPr txBox="1"/>
          <p:nvPr/>
        </p:nvSpPr>
        <p:spPr>
          <a:xfrm>
            <a:off x="4023360" y="1965960"/>
            <a:ext cx="1737360" cy="1097280"/>
          </a:xfrm>
          <a:prstGeom prst="rect">
            <a:avLst/>
          </a:prstGeom>
          <a:noFill/>
          <a:ln/>
        </p:spPr>
        <p:txBody>
          <a:bodyPr wrap="square" lIns="0" tIns="0" rIns="0" bIns="0" rtlCol="0" anchor="t"/>
          <a:lstStyle/>
          <a:p>
            <a:pPr marL="0" indent="0" algn="r">
              <a:buNone/>
            </a:pPr>
            <a:r>
              <a:rPr lang="en-US" sz="4400" b="1" dirty="0">
                <a:solidFill>
                  <a:srgbClr val="0E7C86"/>
                </a:solidFill>
              </a:rPr>
              <a:t>728</a:t>
            </a:r>
            <a:endParaRPr lang="en-US" sz="4400" dirty="0"/>
          </a:p>
          <a:p>
            <a:pPr marL="0" indent="0" algn="r">
              <a:buNone/>
            </a:pPr>
            <a:r>
              <a:rPr lang="en-US" sz="1200" dirty="0">
                <a:solidFill>
                  <a:srgbClr val="556677"/>
                </a:solidFill>
              </a:rPr>
              <a:t>of 1,000 people</a:t>
            </a:r>
            <a:endParaRPr lang="en-US" sz="4400" dirty="0"/>
          </a:p>
        </p:txBody>
      </p:sp>
      <p:sp>
        <p:nvSpPr>
          <p:cNvPr id="9" name="Text 7"/>
          <p:cNvSpPr txBox="1"/>
          <p:nvPr/>
        </p:nvSpPr>
        <p:spPr>
          <a:xfrm>
            <a:off x="822960" y="3108960"/>
            <a:ext cx="4901184" cy="1051560"/>
          </a:xfrm>
          <a:prstGeom prst="rect">
            <a:avLst/>
          </a:prstGeom>
          <a:noFill/>
          <a:ln/>
        </p:spPr>
        <p:txBody>
          <a:bodyPr wrap="square" lIns="0" tIns="0" rIns="0" bIns="0" rtlCol="0" anchor="t"/>
          <a:lstStyle/>
          <a:p>
            <a:pPr marL="0" indent="0">
              <a:buNone/>
            </a:pPr>
            <a:r>
              <a:rPr lang="en-US" sz="1500" dirty="0">
                <a:solidFill>
                  <a:srgbClr val="16263A"/>
                </a:solidFill>
              </a:rPr>
              <a:t>People with a recorded diagnosis of Essential hypertension (concept 320128). Overlapping records are merged, and each episode runs to the end of the person's observation period.</a:t>
            </a:r>
            <a:endParaRPr lang="en-US" sz="1500" dirty="0"/>
          </a:p>
        </p:txBody>
      </p:sp>
      <p:sp>
        <p:nvSpPr>
          <p:cNvPr id="10" name="Cohort user_of_warfarin"/>
          <p:cNvSpPr/>
          <p:nvPr/>
        </p:nvSpPr>
        <p:spPr>
          <a:xfrm>
            <a:off x="6190488" y="1783080"/>
            <a:ext cx="5449824" cy="2514600"/>
          </a:xfrm>
          <a:prstGeom prst="roundRect">
            <a:avLst>
              <a:gd name="adj" fmla="val 3636"/>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11" name="Text 9"/>
          <p:cNvSpPr txBox="1"/>
          <p:nvPr/>
        </p:nvSpPr>
        <p:spPr>
          <a:xfrm>
            <a:off x="6464808" y="2011680"/>
            <a:ext cx="2743200" cy="274320"/>
          </a:xfrm>
          <a:prstGeom prst="rect">
            <a:avLst/>
          </a:prstGeom>
          <a:noFill/>
          <a:ln/>
        </p:spPr>
        <p:txBody>
          <a:bodyPr wrap="square" lIns="0" tIns="0" rIns="0" bIns="0" rtlCol="0" anchor="ctr"/>
          <a:lstStyle/>
          <a:p>
            <a:pPr marL="0" indent="0">
              <a:buNone/>
            </a:pPr>
            <a:r>
              <a:rPr lang="en-US" sz="1050" b="1" kern="0" spc="100" dirty="0">
                <a:solidFill>
                  <a:srgbClr val="C8702A"/>
                </a:solidFill>
              </a:rPr>
              <a:t>DRUG COHORT</a:t>
            </a:r>
            <a:endParaRPr lang="en-US" sz="1050" dirty="0"/>
          </a:p>
        </p:txBody>
      </p:sp>
      <p:sp>
        <p:nvSpPr>
          <p:cNvPr id="12" name="Text 10"/>
          <p:cNvSpPr txBox="1"/>
          <p:nvPr/>
        </p:nvSpPr>
        <p:spPr>
          <a:xfrm>
            <a:off x="6464808" y="2286000"/>
            <a:ext cx="3291840" cy="45720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user_of_warfarin</a:t>
            </a:r>
            <a:endParaRPr lang="en-US" sz="2000" dirty="0"/>
          </a:p>
        </p:txBody>
      </p:sp>
      <p:sp>
        <p:nvSpPr>
          <p:cNvPr id="13" name="Text 11"/>
          <p:cNvSpPr txBox="1"/>
          <p:nvPr/>
        </p:nvSpPr>
        <p:spPr>
          <a:xfrm>
            <a:off x="9665208" y="1965960"/>
            <a:ext cx="1737360" cy="1097280"/>
          </a:xfrm>
          <a:prstGeom prst="rect">
            <a:avLst/>
          </a:prstGeom>
          <a:noFill/>
          <a:ln/>
        </p:spPr>
        <p:txBody>
          <a:bodyPr wrap="square" lIns="0" tIns="0" rIns="0" bIns="0" rtlCol="0" anchor="t"/>
          <a:lstStyle/>
          <a:p>
            <a:pPr marL="0" indent="0" algn="r">
              <a:buNone/>
            </a:pPr>
            <a:r>
              <a:rPr lang="en-US" sz="4400" b="1" dirty="0">
                <a:solidFill>
                  <a:srgbClr val="C8702A"/>
                </a:solidFill>
              </a:rPr>
              <a:t>63</a:t>
            </a:r>
            <a:endParaRPr lang="en-US" sz="4400" dirty="0"/>
          </a:p>
          <a:p>
            <a:pPr marL="0" indent="0" algn="r">
              <a:buNone/>
            </a:pPr>
            <a:r>
              <a:rPr lang="en-US" sz="1200" dirty="0">
                <a:solidFill>
                  <a:srgbClr val="556677"/>
                </a:solidFill>
              </a:rPr>
              <a:t>of 1,000 people</a:t>
            </a:r>
            <a:endParaRPr lang="en-US" sz="4400" dirty="0"/>
          </a:p>
        </p:txBody>
      </p:sp>
      <p:sp>
        <p:nvSpPr>
          <p:cNvPr id="14" name="Text 12"/>
          <p:cNvSpPr txBox="1"/>
          <p:nvPr/>
        </p:nvSpPr>
        <p:spPr>
          <a:xfrm>
            <a:off x="6464808" y="3108960"/>
            <a:ext cx="4901184" cy="1051560"/>
          </a:xfrm>
          <a:prstGeom prst="rect">
            <a:avLst/>
          </a:prstGeom>
          <a:noFill/>
          <a:ln/>
        </p:spPr>
        <p:txBody>
          <a:bodyPr wrap="square" lIns="0" tIns="0" rIns="0" bIns="0" rtlCol="0" anchor="t"/>
          <a:lstStyle/>
          <a:p>
            <a:pPr marL="0" indent="0">
              <a:buNone/>
            </a:pPr>
            <a:r>
              <a:rPr lang="en-US" sz="1500" dirty="0">
                <a:solidFill>
                  <a:srgbClr val="16263A"/>
                </a:solidFill>
              </a:rPr>
              <a:t>People with a pharmacy dispensing of warfarin sodium 5 mg oral tablet (concept 40163554). Overlapping records are merged, and each episode ends when the dispensing ends.</a:t>
            </a:r>
            <a:endParaRPr lang="en-US" sz="1500" dirty="0"/>
          </a:p>
        </p:txBody>
      </p:sp>
      <p:sp>
        <p:nvSpPr>
          <p:cNvPr id="15" name="Text 13"/>
          <p:cNvSpPr txBox="1"/>
          <p:nvPr/>
        </p:nvSpPr>
        <p:spPr>
          <a:xfrm>
            <a:off x="548640" y="4617720"/>
            <a:ext cx="11091672" cy="822960"/>
          </a:xfrm>
          <a:prstGeom prst="rect">
            <a:avLst/>
          </a:prstGeom>
          <a:noFill/>
          <a:ln/>
        </p:spPr>
        <p:txBody>
          <a:bodyPr wrap="square" lIns="0" tIns="0" rIns="0" bIns="0" rtlCol="0" anchor="ctr"/>
          <a:lstStyle/>
          <a:p>
            <a:r>
              <a:rPr lang="en-US" sz="1600" b="1">
                <a:solidFill>
                  <a:srgbClr val="0B2545"/>
                </a:solidFill>
              </a:rPr>
              <a:t>A cohort count shows that a definition ran.</a:t>
            </a:r>
            <a:endParaRPr lang="en-US" sz="1600">
              <a:solidFill>
                <a:srgbClr val="16263A"/>
              </a:solidFill>
            </a:endParaRPr>
          </a:p>
          <a:p>
            <a:r>
              <a:rPr lang="en-US" sz="1600">
                <a:solidFill>
                  <a:srgbClr val="16263A"/>
                </a:solidFill>
              </a:rPr>
              <a:t>It does not show that the definition captured the patients we intended. </a:t>
            </a:r>
          </a:p>
          <a:p>
            <a:r>
              <a:rPr lang="en-US" sz="1600">
                <a:solidFill>
                  <a:srgbClr val="16263A"/>
                </a:solidFill>
              </a:rPr>
              <a:t>The rest of this session shows how each section of the R Shiny </a:t>
            </a:r>
            <a:r>
              <a:rPr lang="en-US" sz="1600" dirty="0">
                <a:solidFill>
                  <a:srgbClr val="16263A"/>
                </a:solidFill>
              </a:rPr>
              <a:t>App helps us check.</a:t>
            </a:r>
            <a:endParaRPr lang="en-US" sz="1600">
              <a:ea typeface="Calibri"/>
              <a:cs typeface="Calibri"/>
            </a:endParaRPr>
          </a:p>
        </p:txBody>
      </p:sp>
      <p:sp>
        <p:nvSpPr>
          <p:cNvPr id="16" name="Text 14"/>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CONCEPT SET AND COHORT DEFINITION</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Concept Sets and Cohort Definitions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concept set defines </a:t>
            </a:r>
            <a:r>
              <a:rPr lang="en-US" sz="1600" b="1" dirty="0">
                <a:solidFill>
                  <a:srgbClr val="0B2545"/>
                </a:solidFill>
              </a:rPr>
              <a:t>which records count</a:t>
            </a:r>
            <a:r>
              <a:rPr lang="en-US" sz="1600" dirty="0">
                <a:solidFill>
                  <a:srgbClr val="556677"/>
                </a:solidFill>
              </a:rPr>
              <a:t>; the cohort definition turns them into </a:t>
            </a:r>
            <a:r>
              <a:rPr lang="en-US" sz="1600" b="1" dirty="0">
                <a:solidFill>
                  <a:srgbClr val="0B2545"/>
                </a:solidFill>
              </a:rPr>
              <a:t>periods of time</a:t>
            </a:r>
            <a:endParaRPr lang="en-US" sz="1600" dirty="0"/>
          </a:p>
        </p:txBody>
      </p:sp>
      <p:graphicFrame>
        <p:nvGraphicFramePr>
          <p:cNvPr id="5" name="Table 0"/>
          <p:cNvGraphicFramePr>
            <a:graphicFrameLocks noGrp="1"/>
          </p:cNvGraphicFramePr>
          <p:nvPr/>
        </p:nvGraphicFramePr>
        <p:xfrm>
          <a:off x="548640" y="1783080"/>
          <a:ext cx="6949440" cy="3698240"/>
        </p:xfrm>
        <a:graphic>
          <a:graphicData uri="http://schemas.openxmlformats.org/drawingml/2006/table">
            <a:tbl>
              <a:tblPr/>
              <a:tblGrid>
                <a:gridCol w="20116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57200">
                <a:tc>
                  <a:txBody>
                    <a:bodyPr/>
                    <a:lstStyle/>
                    <a:p>
                      <a:pPr marL="0" indent="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latin typeface="Courier New" pitchFamily="34" charset="0"/>
                          <a:ea typeface="Courier New" pitchFamily="34" charset="-122"/>
                          <a:cs typeface="Courier New" pitchFamily="34" charset="-120"/>
                        </a:rPr>
                        <a:t>hypertension</a:t>
                      </a:r>
                      <a:endParaRPr lang="en-US" sz="1300" dirty="0">
                        <a:latin typeface="Courier New" charset="0"/>
                        <a:ea typeface="Courier New" charset="0"/>
                        <a:cs typeface="Courier New"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300" b="1" dirty="0">
                          <a:solidFill>
                            <a:srgbClr val="FFFFFF"/>
                          </a:solidFill>
                          <a:latin typeface="Courier New" pitchFamily="34" charset="0"/>
                          <a:ea typeface="Courier New" pitchFamily="34" charset="-122"/>
                          <a:cs typeface="Courier New" pitchFamily="34" charset="-120"/>
                        </a:rPr>
                        <a:t>user_of_warfarin</a:t>
                      </a:r>
                      <a:endParaRPr lang="en-US" sz="1300" dirty="0">
                        <a:latin typeface="Courier New" charset="0"/>
                        <a:ea typeface="Courier New" charset="0"/>
                        <a:cs typeface="Courier New"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OMOP domain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Drug exposure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Standard concept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Essential hypertension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warfarin sodium 5 MG Oral Tablet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Concept ID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320128</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40163554</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Qualifying event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A recorded diagnosis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A pharmacy dispensing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Record handling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Overlapping records merged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Overlapping records merged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Cohort exit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End of the observation period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End of the exposure record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Inclusion rules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Key terms"/>
          <p:cNvSpPr/>
          <p:nvPr/>
        </p:nvSpPr>
        <p:spPr>
          <a:xfrm>
            <a:off x="7818120" y="1783080"/>
            <a:ext cx="3822192" cy="3657600"/>
          </a:xfrm>
          <a:prstGeom prst="roundRect">
            <a:avLst>
              <a:gd name="adj" fmla="val 2500"/>
            </a:avLst>
          </a:prstGeom>
          <a:solidFill>
            <a:srgbClr val="EEF3F6"/>
          </a:solidFill>
          <a:ln w="12700">
            <a:solidFill>
              <a:srgbClr val="EEF3F6"/>
            </a:solidFill>
            <a:prstDash val="solid"/>
          </a:ln>
        </p:spPr>
      </p:sp>
      <p:sp>
        <p:nvSpPr>
          <p:cNvPr id="7" name="Text 4"/>
          <p:cNvSpPr txBox="1"/>
          <p:nvPr/>
        </p:nvSpPr>
        <p:spPr>
          <a:xfrm>
            <a:off x="8046720" y="1938528"/>
            <a:ext cx="3383280" cy="274320"/>
          </a:xfrm>
          <a:prstGeom prst="rect">
            <a:avLst/>
          </a:prstGeom>
          <a:noFill/>
          <a:ln/>
        </p:spPr>
        <p:txBody>
          <a:bodyPr wrap="square" lIns="0" tIns="0" rIns="0" bIns="0" rtlCol="0" anchor="ctr"/>
          <a:lstStyle/>
          <a:p>
            <a:pPr marL="0" indent="0">
              <a:buNone/>
            </a:pPr>
            <a:r>
              <a:rPr lang="en-US" sz="1050" b="1" kern="0" spc="200" dirty="0">
                <a:solidFill>
                  <a:srgbClr val="0B2545"/>
                </a:solidFill>
              </a:rPr>
              <a:t>KEY TERMS</a:t>
            </a:r>
            <a:endParaRPr lang="en-US" sz="1050" dirty="0"/>
          </a:p>
        </p:txBody>
      </p:sp>
      <p:sp>
        <p:nvSpPr>
          <p:cNvPr id="8" name="Text 5"/>
          <p:cNvSpPr txBox="1"/>
          <p:nvPr/>
        </p:nvSpPr>
        <p:spPr>
          <a:xfrm>
            <a:off x="8046720" y="2286000"/>
            <a:ext cx="3429000" cy="3017520"/>
          </a:xfrm>
          <a:prstGeom prst="rect">
            <a:avLst/>
          </a:prstGeom>
          <a:noFill/>
          <a:ln/>
        </p:spPr>
        <p:txBody>
          <a:bodyPr wrap="square" lIns="0" tIns="0" rIns="0" bIns="0" rtlCol="0" anchor="t"/>
          <a:lstStyle/>
          <a:p>
            <a:pPr marL="0" indent="0">
              <a:spcAft>
                <a:spcPts val="1000"/>
              </a:spcAft>
              <a:buNone/>
            </a:pPr>
            <a:r>
              <a:rPr lang="en-US" sz="1300" b="1" dirty="0">
                <a:solidFill>
                  <a:srgbClr val="0B2545"/>
                </a:solidFill>
              </a:rPr>
              <a:t>Concept  </a:t>
            </a:r>
            <a:r>
              <a:rPr lang="en-US" sz="1300" dirty="0">
                <a:solidFill>
                  <a:srgbClr val="16263A"/>
                </a:solidFill>
              </a:rPr>
              <a:t>one standard clinical meaning in the OMOP vocabulary</a:t>
            </a:r>
            <a:endParaRPr lang="en-US" sz="1300" dirty="0"/>
          </a:p>
          <a:p>
            <a:pPr marL="0" indent="0">
              <a:spcAft>
                <a:spcPts val="1000"/>
              </a:spcAft>
              <a:buNone/>
            </a:pPr>
            <a:r>
              <a:rPr lang="en-US" sz="1300" b="1" dirty="0">
                <a:solidFill>
                  <a:srgbClr val="0B2545"/>
                </a:solidFill>
              </a:rPr>
              <a:t>Concept set  </a:t>
            </a:r>
            <a:r>
              <a:rPr lang="en-US" sz="1300" dirty="0">
                <a:solidFill>
                  <a:srgbClr val="16263A"/>
                </a:solidFill>
              </a:rPr>
              <a:t>the concepts accepted for a definition</a:t>
            </a:r>
            <a:endParaRPr lang="en-US" sz="1300" dirty="0"/>
          </a:p>
          <a:p>
            <a:pPr marL="0" indent="0">
              <a:spcAft>
                <a:spcPts val="1000"/>
              </a:spcAft>
              <a:buNone/>
            </a:pPr>
            <a:r>
              <a:rPr lang="en-US" sz="1300" b="1" dirty="0">
                <a:solidFill>
                  <a:srgbClr val="0B2545"/>
                </a:solidFill>
              </a:rPr>
              <a:t>Qualifying event  </a:t>
            </a:r>
            <a:r>
              <a:rPr lang="en-US" sz="1300" dirty="0">
                <a:solidFill>
                  <a:srgbClr val="16263A"/>
                </a:solidFill>
              </a:rPr>
              <a:t>a matching record that can trigger entry</a:t>
            </a:r>
            <a:endParaRPr lang="en-US" sz="1300" dirty="0"/>
          </a:p>
          <a:p>
            <a:pPr marL="0" indent="0">
              <a:spcAft>
                <a:spcPts val="1000"/>
              </a:spcAft>
              <a:buNone/>
            </a:pPr>
            <a:r>
              <a:rPr lang="en-US" sz="1300" b="1" dirty="0">
                <a:solidFill>
                  <a:srgbClr val="0B2545"/>
                </a:solidFill>
              </a:rPr>
              <a:t>Cohort  </a:t>
            </a:r>
            <a:r>
              <a:rPr lang="en-US" sz="1300" dirty="0">
                <a:solidFill>
                  <a:srgbClr val="16263A"/>
                </a:solidFill>
              </a:rPr>
              <a:t>people, each with defined periods of membership</a:t>
            </a:r>
            <a:endParaRPr lang="en-US" sz="1300" dirty="0"/>
          </a:p>
          <a:p>
            <a:pPr marL="0" indent="0">
              <a:spcAft>
                <a:spcPts val="1000"/>
              </a:spcAft>
              <a:buNone/>
            </a:pPr>
            <a:r>
              <a:rPr lang="en-US" sz="1300" b="1" dirty="0">
                <a:solidFill>
                  <a:srgbClr val="0B2545"/>
                </a:solidFill>
              </a:rPr>
              <a:t>Attrition  </a:t>
            </a:r>
            <a:r>
              <a:rPr lang="en-US" sz="1300" dirty="0">
                <a:solidFill>
                  <a:srgbClr val="16263A"/>
                </a:solidFill>
              </a:rPr>
              <a:t>how records and people change as each rule applies</a:t>
            </a:r>
            <a:endParaRPr lang="en-US" sz="1300" dirty="0"/>
          </a:p>
        </p:txBody>
      </p:sp>
      <p:sp>
        <p:nvSpPr>
          <p:cNvPr id="9" name="Text 6"/>
          <p:cNvSpPr txBox="1"/>
          <p:nvPr/>
        </p:nvSpPr>
        <p:spPr>
          <a:xfrm>
            <a:off x="548640" y="5577840"/>
            <a:ext cx="11091672" cy="548640"/>
          </a:xfrm>
          <a:prstGeom prst="rect">
            <a:avLst/>
          </a:prstGeom>
          <a:noFill/>
          <a:ln/>
        </p:spPr>
        <p:txBody>
          <a:bodyPr wrap="square" lIns="0" tIns="0" rIns="0" bIns="0" rtlCol="0" anchor="ctr"/>
          <a:lstStyle/>
          <a:p>
            <a:pPr marL="0" indent="0">
              <a:buNone/>
            </a:pPr>
            <a:r>
              <a:rPr lang="en-US" sz="1350" i="1" dirty="0">
                <a:solidFill>
                  <a:srgbClr val="0B2545"/>
                </a:solidFill>
              </a:rPr>
              <a:t>Neither definition has a prior-observation, age, repeat-diagnosis or clinical-confirmation rule. Simple definitions are not wrong, but they limit what each cohort can support.</a:t>
            </a:r>
            <a:endParaRPr lang="en-US" sz="13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2689781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FIT FOR PURPOSE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What Each Cohort Can Support</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The intended use has to </a:t>
            </a:r>
            <a:r>
              <a:rPr lang="en-US" sz="1600" b="1" dirty="0">
                <a:solidFill>
                  <a:srgbClr val="0B2545"/>
                </a:solidFill>
              </a:rPr>
              <a:t>match the definition</a:t>
            </a:r>
            <a:endParaRPr lang="en-US" sz="1600" dirty="0"/>
          </a:p>
        </p:txBody>
      </p:sp>
      <p:sp>
        <p:nvSpPr>
          <p:cNvPr id="5" name="Use hypertension"/>
          <p:cNvSpPr/>
          <p:nvPr/>
        </p:nvSpPr>
        <p:spPr>
          <a:xfrm>
            <a:off x="548640" y="1783080"/>
            <a:ext cx="5486400" cy="1508760"/>
          </a:xfrm>
          <a:prstGeom prst="roundRect">
            <a:avLst>
              <a:gd name="adj" fmla="val 4848"/>
            </a:avLst>
          </a:prstGeom>
          <a:solidFill>
            <a:srgbClr val="FFFFFF"/>
          </a:solidFill>
          <a:ln w="19050">
            <a:solidFill>
              <a:srgbClr val="0E7C86"/>
            </a:solidFill>
            <a:prstDash val="solid"/>
          </a:ln>
        </p:spPr>
      </p:sp>
      <p:sp>
        <p:nvSpPr>
          <p:cNvPr id="6" name="Text 4"/>
          <p:cNvSpPr txBox="1"/>
          <p:nvPr/>
        </p:nvSpPr>
        <p:spPr>
          <a:xfrm>
            <a:off x="822960" y="1874520"/>
            <a:ext cx="5029200" cy="1325880"/>
          </a:xfrm>
          <a:prstGeom prst="rect">
            <a:avLst/>
          </a:prstGeom>
          <a:noFill/>
          <a:ln/>
        </p:spPr>
        <p:txBody>
          <a:bodyPr wrap="square" lIns="0" tIns="0" rIns="0" bIns="0" rtlCol="0" anchor="ctr"/>
          <a:lstStyle/>
          <a:p>
            <a:pPr marL="0" indent="0">
              <a:buNone/>
            </a:pPr>
            <a:r>
              <a:rPr lang="en-US" sz="1400" b="1" dirty="0">
                <a:solidFill>
                  <a:srgbClr val="0E7C86"/>
                </a:solidFill>
                <a:latin typeface="Courier New" pitchFamily="34" charset="0"/>
                <a:ea typeface="Courier New" pitchFamily="34" charset="-122"/>
                <a:cs typeface="Courier New" pitchFamily="34" charset="-120"/>
              </a:rPr>
              <a:t>hypertension</a:t>
            </a:r>
            <a:endParaRPr lang="en-US" sz="1400" dirty="0"/>
          </a:p>
          <a:p>
            <a:pPr marL="0" indent="0">
              <a:buNone/>
            </a:pPr>
            <a:r>
              <a:rPr lang="en-US" sz="1500" b="1" dirty="0">
                <a:solidFill>
                  <a:srgbClr val="0B2545"/>
                </a:solidFill>
              </a:rPr>
              <a:t>Describes people with a recorded claim for essential </a:t>
            </a:r>
            <a:r>
              <a:rPr lang="en-US" sz="1500" b="1">
                <a:solidFill>
                  <a:srgbClr val="0B2545"/>
                </a:solidFill>
              </a:rPr>
              <a:t>hypertension</a:t>
            </a:r>
            <a:endParaRPr lang="en-US" sz="1400"/>
          </a:p>
          <a:p>
            <a:pPr marL="0" indent="0">
              <a:buNone/>
            </a:pPr>
            <a:r>
              <a:rPr lang="en-US" sz="1300" i="1">
                <a:solidFill>
                  <a:srgbClr val="556677"/>
                </a:solidFill>
              </a:rPr>
              <a:t>It is not automatically “incident hypertension”</a:t>
            </a:r>
            <a:endParaRPr lang="en-US" sz="1400" dirty="0"/>
          </a:p>
        </p:txBody>
      </p:sp>
      <p:sp>
        <p:nvSpPr>
          <p:cNvPr id="7" name="Use user_of_warfarin"/>
          <p:cNvSpPr/>
          <p:nvPr/>
        </p:nvSpPr>
        <p:spPr>
          <a:xfrm>
            <a:off x="548640" y="3474720"/>
            <a:ext cx="5486400" cy="1508760"/>
          </a:xfrm>
          <a:prstGeom prst="roundRect">
            <a:avLst>
              <a:gd name="adj" fmla="val 4848"/>
            </a:avLst>
          </a:prstGeom>
          <a:solidFill>
            <a:srgbClr val="FFFFFF"/>
          </a:solidFill>
          <a:ln w="19050">
            <a:solidFill>
              <a:srgbClr val="C8702A"/>
            </a:solidFill>
            <a:prstDash val="solid"/>
          </a:ln>
        </p:spPr>
      </p:sp>
      <p:sp>
        <p:nvSpPr>
          <p:cNvPr id="8" name="Text 6"/>
          <p:cNvSpPr txBox="1"/>
          <p:nvPr/>
        </p:nvSpPr>
        <p:spPr>
          <a:xfrm>
            <a:off x="822960" y="3566160"/>
            <a:ext cx="5029200" cy="1325880"/>
          </a:xfrm>
          <a:prstGeom prst="rect">
            <a:avLst/>
          </a:prstGeom>
          <a:noFill/>
          <a:ln/>
        </p:spPr>
        <p:txBody>
          <a:bodyPr wrap="square" lIns="0" tIns="0" rIns="0" bIns="0" rtlCol="0" anchor="ctr"/>
          <a:lstStyle/>
          <a:p>
            <a:pPr marL="0" indent="0">
              <a:buNone/>
            </a:pPr>
            <a:r>
              <a:rPr lang="en-US" sz="1400" b="1" dirty="0" err="1">
                <a:solidFill>
                  <a:srgbClr val="C8702A"/>
                </a:solidFill>
                <a:latin typeface="Courier New"/>
                <a:ea typeface="Courier New" pitchFamily="34" charset="-122"/>
                <a:cs typeface="Courier New"/>
              </a:rPr>
              <a:t>user_of_warfarin</a:t>
            </a:r>
            <a:endParaRPr lang="en-US" sz="1400" dirty="0" err="1">
              <a:latin typeface="Courier New"/>
              <a:cs typeface="Courier New"/>
            </a:endParaRPr>
          </a:p>
          <a:p>
            <a:pPr marL="0" indent="0">
              <a:buNone/>
            </a:pPr>
            <a:r>
              <a:rPr lang="en-US" sz="1500" b="1" dirty="0">
                <a:solidFill>
                  <a:srgbClr val="0B2545"/>
                </a:solidFill>
              </a:rPr>
              <a:t>Describes people with a dispensing of warfarin sodium 5 mg </a:t>
            </a:r>
            <a:r>
              <a:rPr lang="en-US" sz="1500" b="1">
                <a:solidFill>
                  <a:srgbClr val="0B2545"/>
                </a:solidFill>
              </a:rPr>
              <a:t>oral tablet</a:t>
            </a:r>
            <a:endParaRPr lang="en-US" sz="1400"/>
          </a:p>
          <a:p>
            <a:pPr marL="0" indent="0">
              <a:buNone/>
            </a:pPr>
            <a:r>
              <a:rPr lang="en-US" sz="1300" i="1">
                <a:solidFill>
                  <a:srgbClr val="556677"/>
                </a:solidFill>
              </a:rPr>
              <a:t>It is not automatically “all warfarin use”</a:t>
            </a:r>
            <a:endParaRPr lang="en-US" sz="1400" dirty="0"/>
          </a:p>
        </p:txBody>
      </p:sp>
      <p:sp>
        <p:nvSpPr>
          <p:cNvPr id="9" name="Text 7"/>
          <p:cNvSpPr txBox="1"/>
          <p:nvPr/>
        </p:nvSpPr>
        <p:spPr>
          <a:xfrm>
            <a:off x="6355080" y="1783080"/>
            <a:ext cx="5285232" cy="274320"/>
          </a:xfrm>
          <a:prstGeom prst="rect">
            <a:avLst/>
          </a:prstGeom>
          <a:noFill/>
          <a:ln/>
        </p:spPr>
        <p:txBody>
          <a:bodyPr wrap="square" lIns="0" tIns="0" rIns="0" bIns="0" rtlCol="0" anchor="ctr"/>
          <a:lstStyle/>
          <a:p>
            <a:pPr marL="0" indent="0">
              <a:buNone/>
            </a:pPr>
            <a:r>
              <a:rPr lang="en-US" sz="1050" b="1" kern="0" spc="100" dirty="0">
                <a:solidFill>
                  <a:srgbClr val="556677"/>
                </a:solidFill>
              </a:rPr>
              <a:t>WHAT PHENOTYPER WILL TEST</a:t>
            </a:r>
            <a:endParaRPr lang="en-US" sz="1050" dirty="0"/>
          </a:p>
        </p:txBody>
      </p:sp>
      <p:sp>
        <p:nvSpPr>
          <p:cNvPr id="10" name="Shape 8"/>
          <p:cNvSpPr/>
          <p:nvPr/>
        </p:nvSpPr>
        <p:spPr>
          <a:xfrm>
            <a:off x="6355080" y="2148840"/>
            <a:ext cx="5285232" cy="530352"/>
          </a:xfrm>
          <a:prstGeom prst="roundRect">
            <a:avLst>
              <a:gd name="adj" fmla="val 10345"/>
            </a:avLst>
          </a:prstGeom>
          <a:solidFill>
            <a:srgbClr val="EAF0F7"/>
          </a:solidFill>
          <a:ln w="12700">
            <a:solidFill>
              <a:srgbClr val="EAF0F7"/>
            </a:solidFill>
            <a:prstDash val="solid"/>
          </a:ln>
        </p:spPr>
      </p:sp>
      <p:sp>
        <p:nvSpPr>
          <p:cNvPr id="11" name="Text 9"/>
          <p:cNvSpPr txBox="1"/>
          <p:nvPr/>
        </p:nvSpPr>
        <p:spPr>
          <a:xfrm>
            <a:off x="6537960" y="2148840"/>
            <a:ext cx="1188720" cy="530352"/>
          </a:xfrm>
          <a:prstGeom prst="rect">
            <a:avLst/>
          </a:prstGeom>
          <a:noFill/>
          <a:ln/>
        </p:spPr>
        <p:txBody>
          <a:bodyPr wrap="square" lIns="0" tIns="0" rIns="0" bIns="0" rtlCol="0" anchor="ctr"/>
          <a:lstStyle/>
          <a:p>
            <a:pPr marL="0" indent="0">
              <a:buNone/>
            </a:pPr>
            <a:r>
              <a:rPr lang="en-US" sz="1200" b="1" dirty="0">
                <a:solidFill>
                  <a:srgbClr val="3D5A80"/>
                </a:solidFill>
              </a:rPr>
              <a:t>Database</a:t>
            </a:r>
            <a:endParaRPr lang="en-US" sz="1200" dirty="0"/>
          </a:p>
        </p:txBody>
      </p:sp>
      <p:sp>
        <p:nvSpPr>
          <p:cNvPr id="12" name="Text 10"/>
          <p:cNvSpPr txBox="1"/>
          <p:nvPr/>
        </p:nvSpPr>
        <p:spPr>
          <a:xfrm>
            <a:off x="7726680" y="2148840"/>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database suits the question</a:t>
            </a:r>
            <a:endParaRPr lang="en-US" sz="1350" dirty="0"/>
          </a:p>
        </p:txBody>
      </p:sp>
      <p:sp>
        <p:nvSpPr>
          <p:cNvPr id="13" name="Shape 11"/>
          <p:cNvSpPr/>
          <p:nvPr/>
        </p:nvSpPr>
        <p:spPr>
          <a:xfrm>
            <a:off x="6355080" y="2770632"/>
            <a:ext cx="5285232" cy="530352"/>
          </a:xfrm>
          <a:prstGeom prst="roundRect">
            <a:avLst>
              <a:gd name="adj" fmla="val 10345"/>
            </a:avLst>
          </a:prstGeom>
          <a:solidFill>
            <a:srgbClr val="E4F2F3"/>
          </a:solidFill>
          <a:ln w="12700">
            <a:solidFill>
              <a:srgbClr val="E4F2F3"/>
            </a:solidFill>
            <a:prstDash val="solid"/>
          </a:ln>
        </p:spPr>
      </p:sp>
      <p:sp>
        <p:nvSpPr>
          <p:cNvPr id="14" name="Text 12"/>
          <p:cNvSpPr txBox="1"/>
          <p:nvPr/>
        </p:nvSpPr>
        <p:spPr>
          <a:xfrm>
            <a:off x="6537960" y="2770632"/>
            <a:ext cx="1188720" cy="530352"/>
          </a:xfrm>
          <a:prstGeom prst="rect">
            <a:avLst/>
          </a:prstGeom>
          <a:noFill/>
          <a:ln/>
        </p:spPr>
        <p:txBody>
          <a:bodyPr wrap="square" lIns="0" tIns="0" rIns="0" bIns="0" rtlCol="0" anchor="ctr"/>
          <a:lstStyle/>
          <a:p>
            <a:pPr marL="0" indent="0">
              <a:buNone/>
            </a:pPr>
            <a:r>
              <a:rPr lang="en-US" sz="1200" b="1" dirty="0">
                <a:solidFill>
                  <a:srgbClr val="0E7C86"/>
                </a:solidFill>
              </a:rPr>
              <a:t>Codelist</a:t>
            </a:r>
            <a:endParaRPr lang="en-US" sz="1200" dirty="0"/>
          </a:p>
        </p:txBody>
      </p:sp>
      <p:sp>
        <p:nvSpPr>
          <p:cNvPr id="15" name="Text 13"/>
          <p:cNvSpPr txBox="1"/>
          <p:nvPr/>
        </p:nvSpPr>
        <p:spPr>
          <a:xfrm>
            <a:off x="7726680" y="2770632"/>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Which source codes brought people in</a:t>
            </a:r>
            <a:endParaRPr lang="en-US" sz="1350" dirty="0"/>
          </a:p>
        </p:txBody>
      </p:sp>
      <p:sp>
        <p:nvSpPr>
          <p:cNvPr id="16" name="Shape 14"/>
          <p:cNvSpPr/>
          <p:nvPr/>
        </p:nvSpPr>
        <p:spPr>
          <a:xfrm>
            <a:off x="6355080" y="3392424"/>
            <a:ext cx="5285232" cy="530352"/>
          </a:xfrm>
          <a:prstGeom prst="roundRect">
            <a:avLst>
              <a:gd name="adj" fmla="val 10345"/>
            </a:avLst>
          </a:prstGeom>
          <a:solidFill>
            <a:srgbClr val="FBF0E5"/>
          </a:solidFill>
          <a:ln w="12700">
            <a:solidFill>
              <a:srgbClr val="FBF0E5"/>
            </a:solidFill>
            <a:prstDash val="solid"/>
          </a:ln>
        </p:spPr>
      </p:sp>
      <p:sp>
        <p:nvSpPr>
          <p:cNvPr id="17" name="Text 15"/>
          <p:cNvSpPr txBox="1"/>
          <p:nvPr/>
        </p:nvSpPr>
        <p:spPr>
          <a:xfrm>
            <a:off x="6537960" y="3392424"/>
            <a:ext cx="1188720" cy="530352"/>
          </a:xfrm>
          <a:prstGeom prst="rect">
            <a:avLst/>
          </a:prstGeom>
          <a:noFill/>
          <a:ln/>
        </p:spPr>
        <p:txBody>
          <a:bodyPr wrap="square" lIns="0" tIns="0" rIns="0" bIns="0" rtlCol="0" anchor="ctr"/>
          <a:lstStyle/>
          <a:p>
            <a:pPr marL="0" indent="0">
              <a:buNone/>
            </a:pPr>
            <a:r>
              <a:rPr lang="en-US" sz="1200" b="1" dirty="0">
                <a:solidFill>
                  <a:srgbClr val="C8702A"/>
                </a:solidFill>
              </a:rPr>
              <a:t>Cohort</a:t>
            </a:r>
            <a:endParaRPr lang="en-US" sz="1200" dirty="0"/>
          </a:p>
        </p:txBody>
      </p:sp>
      <p:sp>
        <p:nvSpPr>
          <p:cNvPr id="18" name="Text 16"/>
          <p:cNvSpPr txBox="1"/>
          <p:nvPr/>
        </p:nvSpPr>
        <p:spPr>
          <a:xfrm>
            <a:off x="7726680" y="3392424"/>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anyone was excluded</a:t>
            </a:r>
            <a:endParaRPr lang="en-US" sz="1350" dirty="0"/>
          </a:p>
        </p:txBody>
      </p:sp>
      <p:sp>
        <p:nvSpPr>
          <p:cNvPr id="19" name="Shape 17"/>
          <p:cNvSpPr/>
          <p:nvPr/>
        </p:nvSpPr>
        <p:spPr>
          <a:xfrm>
            <a:off x="6355080" y="4014216"/>
            <a:ext cx="5285232" cy="530352"/>
          </a:xfrm>
          <a:prstGeom prst="roundRect">
            <a:avLst>
              <a:gd name="adj" fmla="val 10345"/>
            </a:avLst>
          </a:prstGeom>
          <a:solidFill>
            <a:srgbClr val="FBF0E5"/>
          </a:solidFill>
          <a:ln w="12700">
            <a:solidFill>
              <a:srgbClr val="FBF0E5"/>
            </a:solidFill>
            <a:prstDash val="solid"/>
          </a:ln>
        </p:spPr>
      </p:sp>
      <p:sp>
        <p:nvSpPr>
          <p:cNvPr id="20" name="Text 18"/>
          <p:cNvSpPr txBox="1"/>
          <p:nvPr/>
        </p:nvSpPr>
        <p:spPr>
          <a:xfrm>
            <a:off x="6537960" y="4014216"/>
            <a:ext cx="1188720" cy="530352"/>
          </a:xfrm>
          <a:prstGeom prst="rect">
            <a:avLst/>
          </a:prstGeom>
          <a:noFill/>
          <a:ln/>
        </p:spPr>
        <p:txBody>
          <a:bodyPr wrap="square" lIns="0" tIns="0" rIns="0" bIns="0" rtlCol="0" anchor="ctr"/>
          <a:lstStyle/>
          <a:p>
            <a:pPr marL="0" indent="0">
              <a:buNone/>
            </a:pPr>
            <a:r>
              <a:rPr lang="en-US" sz="1200" b="1" dirty="0">
                <a:solidFill>
                  <a:srgbClr val="C8702A"/>
                </a:solidFill>
              </a:rPr>
              <a:t>Cohort</a:t>
            </a:r>
            <a:endParaRPr lang="en-US" sz="1200" dirty="0"/>
          </a:p>
        </p:txBody>
      </p:sp>
      <p:sp>
        <p:nvSpPr>
          <p:cNvPr id="21" name="Text 19"/>
          <p:cNvSpPr txBox="1"/>
          <p:nvPr/>
        </p:nvSpPr>
        <p:spPr>
          <a:xfrm>
            <a:off x="7726680" y="4014216"/>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characteristics make clinical sense</a:t>
            </a:r>
            <a:endParaRPr lang="en-US" sz="1350" dirty="0"/>
          </a:p>
        </p:txBody>
      </p:sp>
      <p:sp>
        <p:nvSpPr>
          <p:cNvPr id="22" name="Shape 20"/>
          <p:cNvSpPr/>
          <p:nvPr/>
        </p:nvSpPr>
        <p:spPr>
          <a:xfrm>
            <a:off x="6355080" y="4636008"/>
            <a:ext cx="5285232" cy="530352"/>
          </a:xfrm>
          <a:prstGeom prst="roundRect">
            <a:avLst>
              <a:gd name="adj" fmla="val 10345"/>
            </a:avLst>
          </a:prstGeom>
          <a:solidFill>
            <a:srgbClr val="E4F2F3"/>
          </a:solidFill>
          <a:ln w="12700">
            <a:solidFill>
              <a:srgbClr val="E4F2F3"/>
            </a:solidFill>
            <a:prstDash val="solid"/>
          </a:ln>
        </p:spPr>
      </p:sp>
      <p:sp>
        <p:nvSpPr>
          <p:cNvPr id="23" name="Text 21"/>
          <p:cNvSpPr txBox="1"/>
          <p:nvPr/>
        </p:nvSpPr>
        <p:spPr>
          <a:xfrm>
            <a:off x="6537960" y="4636008"/>
            <a:ext cx="1188720" cy="530352"/>
          </a:xfrm>
          <a:prstGeom prst="rect">
            <a:avLst/>
          </a:prstGeom>
          <a:noFill/>
          <a:ln/>
        </p:spPr>
        <p:txBody>
          <a:bodyPr wrap="square" lIns="0" tIns="0" rIns="0" bIns="0" rtlCol="0" anchor="ctr"/>
          <a:lstStyle/>
          <a:p>
            <a:pPr marL="0" indent="0">
              <a:buNone/>
            </a:pPr>
            <a:r>
              <a:rPr lang="en-US" sz="1200" b="1" dirty="0">
                <a:solidFill>
                  <a:srgbClr val="0E7C86"/>
                </a:solidFill>
              </a:rPr>
              <a:t>Codelist</a:t>
            </a:r>
            <a:endParaRPr lang="en-US" sz="1200" dirty="0"/>
          </a:p>
        </p:txBody>
      </p:sp>
      <p:sp>
        <p:nvSpPr>
          <p:cNvPr id="24" name="Text 22"/>
          <p:cNvSpPr txBox="1"/>
          <p:nvPr/>
        </p:nvSpPr>
        <p:spPr>
          <a:xfrm>
            <a:off x="7726680" y="4636008"/>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concept set is broad enough for the label</a:t>
            </a:r>
            <a:endParaRPr lang="en-US" sz="1350" dirty="0"/>
          </a:p>
        </p:txBody>
      </p:sp>
      <p:sp>
        <p:nvSpPr>
          <p:cNvPr id="25" name="Text 23"/>
          <p:cNvSpPr txBox="1"/>
          <p:nvPr/>
        </p:nvSpPr>
        <p:spPr>
          <a:xfrm>
            <a:off x="548640" y="5394960"/>
            <a:ext cx="11091672" cy="502920"/>
          </a:xfrm>
          <a:prstGeom prst="rect">
            <a:avLst/>
          </a:prstGeom>
          <a:noFill/>
          <a:ln/>
        </p:spPr>
        <p:txBody>
          <a:bodyPr wrap="square" lIns="0" tIns="0" rIns="0" bIns="0" rtlCol="0" anchor="ctr"/>
          <a:lstStyle/>
          <a:p>
            <a:r>
              <a:rPr lang="en-US" sz="1450" b="1" dirty="0">
                <a:solidFill>
                  <a:srgbClr val="0B2545"/>
                </a:solidFill>
              </a:rPr>
              <a:t>The next part of the </a:t>
            </a:r>
            <a:r>
              <a:rPr lang="en-US" sz="1450" b="1" dirty="0" err="1">
                <a:solidFill>
                  <a:srgbClr val="0B2545"/>
                </a:solidFill>
              </a:rPr>
              <a:t>seuses</a:t>
            </a:r>
            <a:r>
              <a:rPr lang="en-US" sz="1450" b="1" dirty="0">
                <a:solidFill>
                  <a:srgbClr val="0B2545"/>
                </a:solidFill>
              </a:rPr>
              <a:t> </a:t>
            </a:r>
            <a:r>
              <a:rPr lang="en-US" sz="1450" b="1" dirty="0" err="1">
                <a:solidFill>
                  <a:srgbClr val="0B2545"/>
                </a:solidFill>
              </a:rPr>
              <a:t>PhenotypeR</a:t>
            </a:r>
            <a:r>
              <a:rPr lang="en-US" sz="1450" b="1" dirty="0">
                <a:solidFill>
                  <a:srgbClr val="0B2545"/>
                </a:solidFill>
              </a:rPr>
              <a:t> to test these assumptions, one section of the R Shiny App at a time</a:t>
            </a:r>
            <a:endParaRPr lang="en-US" sz="1450" dirty="0"/>
          </a:p>
        </p:txBody>
      </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5</a:t>
            </a:fld>
            <a:endParaRPr lang="en-US"/>
          </a:p>
        </p:txBody>
      </p:sp>
    </p:spTree>
    <p:extLst>
      <p:ext uri="{BB962C8B-B14F-4D97-AF65-F5344CB8AC3E}">
        <p14:creationId xmlns:p14="http://schemas.microsoft.com/office/powerpoint/2010/main" val="1862423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097280"/>
            <a:ext cx="548640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RESULT</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r>
              <a:rPr lang="en-US"/>
              <a:t>Both Cohorts Created </a:t>
            </a:r>
            <a:endParaRPr lang="en-US" sz="4600">
              <a:ea typeface="Calibri"/>
              <a:cs typeface="Calibri"/>
            </a:endParaRPr>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r>
              <a:rPr lang="en-US"/>
              <a:t>A count shows that a definition ran. It does not show that the definition </a:t>
            </a:r>
            <a:r>
              <a:rPr lang="en-US" sz="2000">
                <a:solidFill>
                  <a:srgbClr val="C9D6DF"/>
                </a:solidFill>
              </a:rPr>
              <a:t>captured the patients we intended</a:t>
            </a:r>
            <a:r>
              <a:rPr lang="en-US"/>
              <a:t>.</a:t>
            </a:r>
            <a:endParaRPr lang="en-US" sz="2000"/>
          </a:p>
        </p:txBody>
      </p:sp>
      <p:sp>
        <p:nvSpPr>
          <p:cNvPr id="5" name="Shape 3"/>
          <p:cNvSpPr/>
          <p:nvPr/>
        </p:nvSpPr>
        <p:spPr>
          <a:xfrm>
            <a:off x="8229600" y="1371600"/>
            <a:ext cx="3410712" cy="1783080"/>
          </a:xfrm>
          <a:prstGeom prst="roundRect">
            <a:avLst>
              <a:gd name="adj" fmla="val 6154"/>
            </a:avLst>
          </a:prstGeom>
          <a:solidFill>
            <a:srgbClr val="0E7C86"/>
          </a:solidFill>
          <a:ln w="12700">
            <a:solidFill>
              <a:srgbClr val="0E7C86"/>
            </a:solidFill>
            <a:prstDash val="solid"/>
          </a:ln>
        </p:spPr>
      </p:sp>
      <p:sp>
        <p:nvSpPr>
          <p:cNvPr id="6" name="Text 4"/>
          <p:cNvSpPr txBox="1"/>
          <p:nvPr/>
        </p:nvSpPr>
        <p:spPr>
          <a:xfrm>
            <a:off x="8503920" y="1554480"/>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hypertension</a:t>
            </a:r>
            <a:endParaRPr lang="en-US" sz="1300" dirty="0"/>
          </a:p>
        </p:txBody>
      </p:sp>
      <p:sp>
        <p:nvSpPr>
          <p:cNvPr id="7" name="Text 5"/>
          <p:cNvSpPr txBox="1"/>
          <p:nvPr/>
        </p:nvSpPr>
        <p:spPr>
          <a:xfrm>
            <a:off x="8503920" y="1847088"/>
            <a:ext cx="2926080" cy="822960"/>
          </a:xfrm>
          <a:prstGeom prst="rect">
            <a:avLst/>
          </a:prstGeom>
          <a:noFill/>
          <a:ln/>
        </p:spPr>
        <p:txBody>
          <a:bodyPr wrap="square" lIns="0" tIns="0" rIns="0" bIns="0" rtlCol="0" anchor="ctr"/>
          <a:lstStyle/>
          <a:p>
            <a:pPr marL="0" indent="0">
              <a:buNone/>
            </a:pPr>
            <a:r>
              <a:rPr lang="en-US" sz="5000" b="1" dirty="0">
                <a:solidFill>
                  <a:srgbClr val="FFFFFF"/>
                </a:solidFill>
              </a:rPr>
              <a:t>728</a:t>
            </a:r>
            <a:endParaRPr lang="en-US" sz="5000" dirty="0"/>
          </a:p>
        </p:txBody>
      </p:sp>
      <p:sp>
        <p:nvSpPr>
          <p:cNvPr id="8" name="Text 6"/>
          <p:cNvSpPr txBox="1"/>
          <p:nvPr/>
        </p:nvSpPr>
        <p:spPr>
          <a:xfrm>
            <a:off x="8503920" y="2697480"/>
            <a:ext cx="2926080" cy="320040"/>
          </a:xfrm>
          <a:prstGeom prst="rect">
            <a:avLst/>
          </a:prstGeom>
          <a:noFill/>
          <a:ln/>
        </p:spPr>
        <p:txBody>
          <a:bodyPr wrap="square" lIns="0" tIns="0" rIns="0" bIns="0" rtlCol="0" anchor="ctr"/>
          <a:lstStyle/>
          <a:p>
            <a:pPr marL="0" indent="0">
              <a:buNone/>
            </a:pPr>
            <a:r>
              <a:rPr lang="en-US" sz="1300" dirty="0">
                <a:solidFill>
                  <a:srgbClr val="FFFFFF"/>
                </a:solidFill>
              </a:rPr>
              <a:t>people of 1,000</a:t>
            </a:r>
            <a:endParaRPr lang="en-US" sz="1300" dirty="0"/>
          </a:p>
        </p:txBody>
      </p:sp>
      <p:sp>
        <p:nvSpPr>
          <p:cNvPr id="9" name="Shape 7"/>
          <p:cNvSpPr/>
          <p:nvPr/>
        </p:nvSpPr>
        <p:spPr>
          <a:xfrm>
            <a:off x="8229600" y="3337560"/>
            <a:ext cx="3410712" cy="1783080"/>
          </a:xfrm>
          <a:prstGeom prst="roundRect">
            <a:avLst>
              <a:gd name="adj" fmla="val 6154"/>
            </a:avLst>
          </a:prstGeom>
          <a:solidFill>
            <a:srgbClr val="C8702A"/>
          </a:solidFill>
          <a:ln w="12700">
            <a:solidFill>
              <a:srgbClr val="C8702A"/>
            </a:solidFill>
            <a:prstDash val="solid"/>
          </a:ln>
        </p:spPr>
      </p:sp>
      <p:sp>
        <p:nvSpPr>
          <p:cNvPr id="10" name="Text 8"/>
          <p:cNvSpPr txBox="1"/>
          <p:nvPr/>
        </p:nvSpPr>
        <p:spPr>
          <a:xfrm>
            <a:off x="8503920" y="3520440"/>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user_of_warfarin</a:t>
            </a:r>
            <a:endParaRPr lang="en-US" sz="1300" dirty="0"/>
          </a:p>
        </p:txBody>
      </p:sp>
      <p:sp>
        <p:nvSpPr>
          <p:cNvPr id="11" name="Text 9"/>
          <p:cNvSpPr txBox="1"/>
          <p:nvPr/>
        </p:nvSpPr>
        <p:spPr>
          <a:xfrm>
            <a:off x="8503920" y="3813048"/>
            <a:ext cx="2926080" cy="822960"/>
          </a:xfrm>
          <a:prstGeom prst="rect">
            <a:avLst/>
          </a:prstGeom>
          <a:noFill/>
          <a:ln/>
        </p:spPr>
        <p:txBody>
          <a:bodyPr wrap="square" lIns="0" tIns="0" rIns="0" bIns="0" rtlCol="0" anchor="ctr"/>
          <a:lstStyle/>
          <a:p>
            <a:pPr marL="0" indent="0">
              <a:buNone/>
            </a:pPr>
            <a:r>
              <a:rPr lang="en-US" sz="5000" b="1" dirty="0">
                <a:solidFill>
                  <a:srgbClr val="FFFFFF"/>
                </a:solidFill>
              </a:rPr>
              <a:t>63</a:t>
            </a:r>
            <a:endParaRPr lang="en-US" sz="5000" dirty="0"/>
          </a:p>
        </p:txBody>
      </p:sp>
      <p:sp>
        <p:nvSpPr>
          <p:cNvPr id="12" name="Text 10"/>
          <p:cNvSpPr txBox="1"/>
          <p:nvPr/>
        </p:nvSpPr>
        <p:spPr>
          <a:xfrm>
            <a:off x="8503920" y="4663440"/>
            <a:ext cx="2926080" cy="320040"/>
          </a:xfrm>
          <a:prstGeom prst="rect">
            <a:avLst/>
          </a:prstGeom>
          <a:noFill/>
          <a:ln/>
        </p:spPr>
        <p:txBody>
          <a:bodyPr wrap="square" lIns="0" tIns="0" rIns="0" bIns="0" rtlCol="0" anchor="ctr"/>
          <a:lstStyle/>
          <a:p>
            <a:pPr marL="0" indent="0">
              <a:buNone/>
            </a:pPr>
            <a:r>
              <a:rPr lang="en-US" sz="1300" dirty="0">
                <a:solidFill>
                  <a:srgbClr val="FFFFFF"/>
                </a:solidFill>
              </a:rPr>
              <a:t>people of 1,000</a:t>
            </a:r>
            <a:endParaRPr lang="en-US" sz="1300" dirty="0"/>
          </a:p>
        </p:txBody>
      </p:sp>
      <p:sp>
        <p:nvSpPr>
          <p:cNvPr id="13" name="Text 11"/>
          <p:cNvSpPr txBox="1"/>
          <p:nvPr/>
        </p:nvSpPr>
        <p:spPr>
          <a:xfrm>
            <a:off x="640080" y="5577840"/>
            <a:ext cx="7315200" cy="411480"/>
          </a:xfrm>
          <a:prstGeom prst="rect">
            <a:avLst/>
          </a:prstGeom>
          <a:noFill/>
          <a:ln/>
        </p:spPr>
        <p:txBody>
          <a:bodyPr wrap="square" lIns="0" tIns="0" rIns="0" bIns="0" rtlCol="0" anchor="ctr"/>
          <a:lstStyle/>
          <a:p>
            <a:pPr marL="0" indent="0">
              <a:buNone/>
            </a:pPr>
            <a:r>
              <a:rPr lang="en-US" sz="1600" b="1" dirty="0">
                <a:solidFill>
                  <a:srgbClr val="8FC1C6"/>
                </a:solidFill>
              </a:rPr>
              <a:t>Next: evaluating both cohorts with PhenotypeR</a:t>
            </a:r>
            <a:endParaRPr lang="en-US" sz="1600" dirty="0"/>
          </a:p>
        </p:txBody>
      </p:sp>
    </p:spTree>
    <p:extLst>
      <p:ext uri="{BB962C8B-B14F-4D97-AF65-F5344CB8AC3E}">
        <p14:creationId xmlns:p14="http://schemas.microsoft.com/office/powerpoint/2010/main" val="371615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49808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OHDSI GLOBAL SYMPOSIUM 2026  ·  COMPLEX PHENOTYPING AT SCALE</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pPr marL="0" indent="0" algn="l">
              <a:buNone/>
            </a:pPr>
            <a:r>
              <a:rPr lang="en-US" sz="4600" b="1" dirty="0">
                <a:solidFill>
                  <a:srgbClr val="FFFFFF"/>
                </a:solidFill>
              </a:rPr>
              <a:t>PhenotypeR: Evaluating Cohorts in OMOP Data</a:t>
            </a:r>
            <a:endParaRPr lang="en-US" sz="4600" dirty="0"/>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pPr marL="0" indent="0" algn="l">
              <a:buNone/>
            </a:pPr>
            <a:r>
              <a:rPr lang="en-US" sz="2000" dirty="0">
                <a:solidFill>
                  <a:srgbClr val="C9D6DF"/>
                </a:solidFill>
              </a:rPr>
              <a:t>A guided tour of the R Shiny App, using two example cohorts in synpuf-1k</a:t>
            </a:r>
            <a:endParaRPr lang="en-US" sz="2000" dirty="0"/>
          </a:p>
        </p:txBody>
      </p:sp>
      <p:sp>
        <p:nvSpPr>
          <p:cNvPr id="5" name="Section Database"/>
          <p:cNvSpPr/>
          <p:nvPr/>
        </p:nvSpPr>
        <p:spPr>
          <a:xfrm>
            <a:off x="8503920" y="1143000"/>
            <a:ext cx="3136392" cy="932688"/>
          </a:xfrm>
          <a:prstGeom prst="roundRect">
            <a:avLst>
              <a:gd name="adj" fmla="val 9804"/>
            </a:avLst>
          </a:prstGeom>
          <a:solidFill>
            <a:srgbClr val="3D5A80"/>
          </a:solidFill>
          <a:ln w="12700">
            <a:solidFill>
              <a:srgbClr val="3D5A80"/>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778240" y="1426464"/>
            <a:ext cx="365760" cy="365760"/>
          </a:xfrm>
          <a:prstGeom prst="rect">
            <a:avLst/>
          </a:prstGeom>
        </p:spPr>
      </p:pic>
      <p:sp>
        <p:nvSpPr>
          <p:cNvPr id="7" name="Text 4"/>
          <p:cNvSpPr txBox="1"/>
          <p:nvPr/>
        </p:nvSpPr>
        <p:spPr>
          <a:xfrm>
            <a:off x="9372600" y="1143000"/>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01  Database diagnostics</a:t>
            </a:r>
            <a:endParaRPr lang="en-US" sz="1500" dirty="0"/>
          </a:p>
        </p:txBody>
      </p:sp>
      <p:sp>
        <p:nvSpPr>
          <p:cNvPr id="8" name="Section Codelist"/>
          <p:cNvSpPr/>
          <p:nvPr/>
        </p:nvSpPr>
        <p:spPr>
          <a:xfrm>
            <a:off x="8503920" y="2258568"/>
            <a:ext cx="3136392" cy="932688"/>
          </a:xfrm>
          <a:prstGeom prst="roundRect">
            <a:avLst>
              <a:gd name="adj" fmla="val 9804"/>
            </a:avLst>
          </a:prstGeom>
          <a:solidFill>
            <a:srgbClr val="0E7C86"/>
          </a:solidFill>
          <a:ln w="12700">
            <a:solidFill>
              <a:srgbClr val="0E7C86"/>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8778240" y="2542032"/>
            <a:ext cx="365760" cy="365760"/>
          </a:xfrm>
          <a:prstGeom prst="rect">
            <a:avLst/>
          </a:prstGeom>
        </p:spPr>
      </p:pic>
      <p:sp>
        <p:nvSpPr>
          <p:cNvPr id="10" name="Text 6"/>
          <p:cNvSpPr txBox="1"/>
          <p:nvPr/>
        </p:nvSpPr>
        <p:spPr>
          <a:xfrm>
            <a:off x="9372600" y="2258568"/>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02  Codelist diagnostics</a:t>
            </a:r>
            <a:endParaRPr lang="en-US" sz="1500" dirty="0"/>
          </a:p>
        </p:txBody>
      </p:sp>
      <p:sp>
        <p:nvSpPr>
          <p:cNvPr id="11" name="Section Cohort"/>
          <p:cNvSpPr/>
          <p:nvPr/>
        </p:nvSpPr>
        <p:spPr>
          <a:xfrm>
            <a:off x="8503920" y="3374136"/>
            <a:ext cx="3136392" cy="932688"/>
          </a:xfrm>
          <a:prstGeom prst="roundRect">
            <a:avLst>
              <a:gd name="adj" fmla="val 9804"/>
            </a:avLst>
          </a:prstGeom>
          <a:solidFill>
            <a:srgbClr val="C8702A"/>
          </a:solidFill>
          <a:ln w="12700">
            <a:solidFill>
              <a:srgbClr val="C8702A"/>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8778240" y="3657600"/>
            <a:ext cx="365760" cy="365760"/>
          </a:xfrm>
          <a:prstGeom prst="rect">
            <a:avLst/>
          </a:prstGeom>
        </p:spPr>
      </p:pic>
      <p:sp>
        <p:nvSpPr>
          <p:cNvPr id="13" name="Text 8"/>
          <p:cNvSpPr txBox="1"/>
          <p:nvPr/>
        </p:nvSpPr>
        <p:spPr>
          <a:xfrm>
            <a:off x="9372600" y="3374136"/>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03  Cohort diagnostics</a:t>
            </a:r>
            <a:endParaRPr lang="en-US" sz="1500" dirty="0"/>
          </a:p>
        </p:txBody>
      </p:sp>
      <p:sp>
        <p:nvSpPr>
          <p:cNvPr id="14" name="Section Population"/>
          <p:cNvSpPr/>
          <p:nvPr/>
        </p:nvSpPr>
        <p:spPr>
          <a:xfrm>
            <a:off x="8503920" y="4489704"/>
            <a:ext cx="3136392" cy="932688"/>
          </a:xfrm>
          <a:prstGeom prst="roundRect">
            <a:avLst>
              <a:gd name="adj" fmla="val 9804"/>
            </a:avLst>
          </a:prstGeom>
          <a:solidFill>
            <a:srgbClr val="6A4C93"/>
          </a:solidFill>
          <a:ln w="12700">
            <a:solidFill>
              <a:srgbClr val="6A4C93"/>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778240" y="4773168"/>
            <a:ext cx="365760" cy="365760"/>
          </a:xfrm>
          <a:prstGeom prst="rect">
            <a:avLst/>
          </a:prstGeom>
        </p:spPr>
      </p:pic>
      <p:sp>
        <p:nvSpPr>
          <p:cNvPr id="16" name="Text 10"/>
          <p:cNvSpPr txBox="1"/>
          <p:nvPr/>
        </p:nvSpPr>
        <p:spPr>
          <a:xfrm>
            <a:off x="9372600" y="4489704"/>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04  Population diagnostics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WHAT PHENOTYPER IS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What PhenotypeR Does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Four diagnostic families, each shown in its own section of the R Shiny App</a:t>
            </a:r>
            <a:endParaRPr lang="en-US" sz="1600" dirty="0"/>
          </a:p>
        </p:txBody>
      </p:sp>
      <p:sp>
        <p:nvSpPr>
          <p:cNvPr id="5" name="Text 3"/>
          <p:cNvSpPr txBox="1"/>
          <p:nvPr/>
        </p:nvSpPr>
        <p:spPr>
          <a:xfrm>
            <a:off x="548640" y="1737360"/>
            <a:ext cx="6675120" cy="320040"/>
          </a:xfrm>
          <a:prstGeom prst="rect">
            <a:avLst/>
          </a:prstGeom>
          <a:noFill/>
          <a:ln/>
        </p:spPr>
        <p:txBody>
          <a:bodyPr wrap="square" lIns="0" tIns="0" rIns="0" bIns="0" rtlCol="0" anchor="ctr"/>
          <a:lstStyle/>
          <a:p>
            <a:pPr marL="0" indent="0">
              <a:buNone/>
            </a:pPr>
            <a:r>
              <a:rPr lang="en-US" sz="1500" b="1" dirty="0">
                <a:solidFill>
                  <a:srgbClr val="0B2545"/>
                </a:solidFill>
              </a:rPr>
              <a:t>PhenotypeR does</a:t>
            </a:r>
            <a:endParaRPr lang="en-US" sz="1500" dirty="0"/>
          </a:p>
        </p:txBody>
      </p:sp>
      <p:sp>
        <p:nvSpPr>
          <p:cNvPr id="6" name="Shape 4"/>
          <p:cNvSpPr/>
          <p:nvPr/>
        </p:nvSpPr>
        <p:spPr>
          <a:xfrm>
            <a:off x="548640" y="2148840"/>
            <a:ext cx="6675120" cy="786384"/>
          </a:xfrm>
          <a:prstGeom prst="roundRect">
            <a:avLst>
              <a:gd name="adj" fmla="val 9302"/>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731520" y="2148840"/>
            <a:ext cx="1325880" cy="786384"/>
          </a:xfrm>
          <a:prstGeom prst="rect">
            <a:avLst/>
          </a:prstGeom>
          <a:noFill/>
          <a:ln/>
        </p:spPr>
        <p:txBody>
          <a:bodyPr wrap="square" lIns="0" tIns="0" rIns="0" bIns="0" rtlCol="0" anchor="ctr"/>
          <a:lstStyle/>
          <a:p>
            <a:pPr marL="0" indent="0">
              <a:buNone/>
            </a:pPr>
            <a:r>
              <a:rPr lang="en-US" sz="1350" b="1" dirty="0">
                <a:solidFill>
                  <a:srgbClr val="3D5A80"/>
                </a:solidFill>
              </a:rPr>
              <a:t>Database</a:t>
            </a:r>
            <a:endParaRPr lang="en-US" sz="1350" dirty="0"/>
          </a:p>
        </p:txBody>
      </p:sp>
      <p:sp>
        <p:nvSpPr>
          <p:cNvPr id="8" name="Text 6"/>
          <p:cNvSpPr txBox="1"/>
          <p:nvPr/>
        </p:nvSpPr>
        <p:spPr>
          <a:xfrm>
            <a:off x="1965981" y="2341880"/>
            <a:ext cx="5039360" cy="481584"/>
          </a:xfrm>
          <a:prstGeom prst="rect">
            <a:avLst/>
          </a:prstGeom>
          <a:noFill/>
          <a:ln/>
        </p:spPr>
        <p:txBody>
          <a:bodyPr wrap="square" lIns="0" tIns="0" rIns="0" bIns="0" rtlCol="0" anchor="ctr"/>
          <a:lstStyle/>
          <a:p>
            <a:pPr marL="0" indent="0">
              <a:buNone/>
            </a:pPr>
            <a:r>
              <a:rPr lang="en-US" sz="1250">
                <a:solidFill>
                  <a:srgbClr val="16263A"/>
                </a:solidFill>
              </a:rPr>
              <a:t>Summarizes</a:t>
            </a:r>
            <a:r>
              <a:rPr lang="en-US" sz="1250" dirty="0">
                <a:solidFill>
                  <a:srgbClr val="16263A"/>
                </a:solidFill>
              </a:rPr>
              <a:t> the data source: its size, the dates covered, the demographics, observation periods and how each clinical table is coded</a:t>
            </a:r>
            <a:endParaRPr lang="en-US" sz="1250" dirty="0"/>
          </a:p>
        </p:txBody>
      </p:sp>
      <p:sp>
        <p:nvSpPr>
          <p:cNvPr id="9" name="Shape 7"/>
          <p:cNvSpPr/>
          <p:nvPr/>
        </p:nvSpPr>
        <p:spPr>
          <a:xfrm>
            <a:off x="548640" y="3044952"/>
            <a:ext cx="6675120" cy="786384"/>
          </a:xfrm>
          <a:prstGeom prst="roundRect">
            <a:avLst>
              <a:gd name="adj" fmla="val 9302"/>
            </a:avLst>
          </a:prstGeom>
          <a:solidFill>
            <a:srgbClr val="E4F2F3"/>
          </a:solidFill>
          <a:ln w="12700">
            <a:solidFill>
              <a:srgbClr val="E4F2F3"/>
            </a:solidFill>
            <a:prstDash val="solid"/>
          </a:ln>
        </p:spPr>
        <p:txBody>
          <a:bodyPr/>
          <a:lstStyle/>
          <a:p>
            <a:endParaRPr lang="en-US"/>
          </a:p>
        </p:txBody>
      </p:sp>
      <p:sp>
        <p:nvSpPr>
          <p:cNvPr id="10" name="Text 8"/>
          <p:cNvSpPr txBox="1"/>
          <p:nvPr/>
        </p:nvSpPr>
        <p:spPr>
          <a:xfrm>
            <a:off x="731520" y="3044952"/>
            <a:ext cx="1325880" cy="786384"/>
          </a:xfrm>
          <a:prstGeom prst="rect">
            <a:avLst/>
          </a:prstGeom>
          <a:noFill/>
          <a:ln/>
        </p:spPr>
        <p:txBody>
          <a:bodyPr wrap="square" lIns="0" tIns="0" rIns="0" bIns="0" rtlCol="0" anchor="ctr"/>
          <a:lstStyle/>
          <a:p>
            <a:pPr marL="0" indent="0">
              <a:buNone/>
            </a:pPr>
            <a:r>
              <a:rPr lang="en-US" sz="1350" b="1" dirty="0">
                <a:solidFill>
                  <a:srgbClr val="0E7C86"/>
                </a:solidFill>
              </a:rPr>
              <a:t>Codelist</a:t>
            </a:r>
            <a:endParaRPr lang="en-US" sz="1350" dirty="0"/>
          </a:p>
        </p:txBody>
      </p:sp>
      <p:sp>
        <p:nvSpPr>
          <p:cNvPr id="11" name="Text 9"/>
          <p:cNvSpPr txBox="1"/>
          <p:nvPr/>
        </p:nvSpPr>
        <p:spPr>
          <a:xfrm>
            <a:off x="1955821" y="3177032"/>
            <a:ext cx="5039360" cy="501904"/>
          </a:xfrm>
          <a:prstGeom prst="rect">
            <a:avLst/>
          </a:prstGeom>
          <a:noFill/>
          <a:ln/>
        </p:spPr>
        <p:txBody>
          <a:bodyPr wrap="square" lIns="0" tIns="0" rIns="0" bIns="0" rtlCol="0" anchor="ctr"/>
          <a:lstStyle/>
          <a:p>
            <a:pPr marL="0" indent="0">
              <a:buNone/>
            </a:pPr>
            <a:r>
              <a:rPr lang="en-US" sz="1250" dirty="0">
                <a:solidFill>
                  <a:srgbClr val="16263A"/>
                </a:solidFill>
              </a:rPr>
              <a:t>Shows which concepts brought people into each cohort, and which related concepts are recorded in the data but missing from the </a:t>
            </a:r>
            <a:r>
              <a:rPr lang="en-US" sz="1250" dirty="0" err="1">
                <a:solidFill>
                  <a:srgbClr val="16263A"/>
                </a:solidFill>
              </a:rPr>
              <a:t>codelist</a:t>
            </a:r>
            <a:endParaRPr lang="en-US" sz="1250" dirty="0" err="1"/>
          </a:p>
        </p:txBody>
      </p:sp>
      <p:sp>
        <p:nvSpPr>
          <p:cNvPr id="12" name="Shape 10"/>
          <p:cNvSpPr/>
          <p:nvPr/>
        </p:nvSpPr>
        <p:spPr>
          <a:xfrm>
            <a:off x="548640" y="3941064"/>
            <a:ext cx="6675120" cy="786384"/>
          </a:xfrm>
          <a:prstGeom prst="roundRect">
            <a:avLst>
              <a:gd name="adj" fmla="val 9302"/>
            </a:avLst>
          </a:prstGeom>
          <a:solidFill>
            <a:srgbClr val="FBF0E5"/>
          </a:solidFill>
          <a:ln w="12700">
            <a:solidFill>
              <a:srgbClr val="FBF0E5"/>
            </a:solidFill>
            <a:prstDash val="solid"/>
          </a:ln>
        </p:spPr>
        <p:txBody>
          <a:bodyPr/>
          <a:lstStyle/>
          <a:p>
            <a:endParaRPr lang="en-US"/>
          </a:p>
        </p:txBody>
      </p:sp>
      <p:sp>
        <p:nvSpPr>
          <p:cNvPr id="13" name="Text 11"/>
          <p:cNvSpPr txBox="1"/>
          <p:nvPr/>
        </p:nvSpPr>
        <p:spPr>
          <a:xfrm>
            <a:off x="731520" y="3941064"/>
            <a:ext cx="1325880" cy="786384"/>
          </a:xfrm>
          <a:prstGeom prst="rect">
            <a:avLst/>
          </a:prstGeom>
          <a:noFill/>
          <a:ln/>
        </p:spPr>
        <p:txBody>
          <a:bodyPr wrap="square" lIns="0" tIns="0" rIns="0" bIns="0" rtlCol="0" anchor="ctr"/>
          <a:lstStyle/>
          <a:p>
            <a:pPr marL="0" indent="0">
              <a:buNone/>
            </a:pPr>
            <a:r>
              <a:rPr lang="en-US" sz="1350" b="1" dirty="0">
                <a:solidFill>
                  <a:srgbClr val="C8702A"/>
                </a:solidFill>
              </a:rPr>
              <a:t>Cohort</a:t>
            </a:r>
            <a:endParaRPr lang="en-US" sz="1350" dirty="0"/>
          </a:p>
        </p:txBody>
      </p:sp>
      <p:sp>
        <p:nvSpPr>
          <p:cNvPr id="14" name="Text 12"/>
          <p:cNvSpPr txBox="1"/>
          <p:nvPr/>
        </p:nvSpPr>
        <p:spPr>
          <a:xfrm>
            <a:off x="1965960" y="4052824"/>
            <a:ext cx="5039360" cy="562864"/>
          </a:xfrm>
          <a:prstGeom prst="rect">
            <a:avLst/>
          </a:prstGeom>
          <a:noFill/>
          <a:ln/>
        </p:spPr>
        <p:txBody>
          <a:bodyPr wrap="square" lIns="0" tIns="0" rIns="0" bIns="0" rtlCol="0" anchor="ctr"/>
          <a:lstStyle/>
          <a:p>
            <a:r>
              <a:rPr lang="en-US" sz="1250" dirty="0">
                <a:solidFill>
                  <a:srgbClr val="16263A"/>
                </a:solidFill>
              </a:rPr>
              <a:t>Reports attrition and characteristics and compares each cohort with age- and </a:t>
            </a:r>
            <a:r>
              <a:rPr lang="en-US" sz="1250">
                <a:solidFill>
                  <a:srgbClr val="16263A"/>
                </a:solidFill>
              </a:rPr>
              <a:t>sex-matched controls and with other cohorts</a:t>
            </a:r>
            <a:endParaRPr lang="en-US" sz="1250"/>
          </a:p>
        </p:txBody>
      </p:sp>
      <p:sp>
        <p:nvSpPr>
          <p:cNvPr id="15" name="Shape 13"/>
          <p:cNvSpPr/>
          <p:nvPr/>
        </p:nvSpPr>
        <p:spPr>
          <a:xfrm>
            <a:off x="548640" y="4837176"/>
            <a:ext cx="6675120" cy="786384"/>
          </a:xfrm>
          <a:prstGeom prst="roundRect">
            <a:avLst>
              <a:gd name="adj" fmla="val 9302"/>
            </a:avLst>
          </a:prstGeom>
          <a:solidFill>
            <a:srgbClr val="F1ECF7"/>
          </a:solidFill>
          <a:ln w="12700">
            <a:solidFill>
              <a:srgbClr val="F1ECF7"/>
            </a:solidFill>
            <a:prstDash val="solid"/>
          </a:ln>
        </p:spPr>
        <p:txBody>
          <a:bodyPr/>
          <a:lstStyle/>
          <a:p>
            <a:endParaRPr lang="en-US"/>
          </a:p>
        </p:txBody>
      </p:sp>
      <p:sp>
        <p:nvSpPr>
          <p:cNvPr id="16" name="Text 14"/>
          <p:cNvSpPr txBox="1"/>
          <p:nvPr/>
        </p:nvSpPr>
        <p:spPr>
          <a:xfrm>
            <a:off x="731520" y="4837176"/>
            <a:ext cx="1325880" cy="786384"/>
          </a:xfrm>
          <a:prstGeom prst="rect">
            <a:avLst/>
          </a:prstGeom>
          <a:noFill/>
          <a:ln/>
        </p:spPr>
        <p:txBody>
          <a:bodyPr wrap="square" lIns="0" tIns="0" rIns="0" bIns="0" rtlCol="0" anchor="ctr"/>
          <a:lstStyle/>
          <a:p>
            <a:pPr marL="0" indent="0">
              <a:buNone/>
            </a:pPr>
            <a:r>
              <a:rPr lang="en-US" sz="1350" b="1" dirty="0">
                <a:solidFill>
                  <a:srgbClr val="6A4C93"/>
                </a:solidFill>
              </a:rPr>
              <a:t>Population</a:t>
            </a:r>
            <a:endParaRPr lang="en-US" sz="1350" dirty="0"/>
          </a:p>
        </p:txBody>
      </p:sp>
      <p:sp>
        <p:nvSpPr>
          <p:cNvPr id="17" name="Text 15"/>
          <p:cNvSpPr txBox="1"/>
          <p:nvPr/>
        </p:nvSpPr>
        <p:spPr>
          <a:xfrm>
            <a:off x="1965960" y="4948936"/>
            <a:ext cx="5039360" cy="552704"/>
          </a:xfrm>
          <a:prstGeom prst="rect">
            <a:avLst/>
          </a:prstGeom>
          <a:noFill/>
          <a:ln/>
        </p:spPr>
        <p:txBody>
          <a:bodyPr wrap="square" lIns="0" tIns="0" rIns="0" bIns="0" rtlCol="0" anchor="ctr"/>
          <a:lstStyle/>
          <a:p>
            <a:pPr marL="0" indent="0">
              <a:buNone/>
            </a:pPr>
            <a:r>
              <a:rPr lang="en-US" sz="1250" dirty="0">
                <a:solidFill>
                  <a:srgbClr val="16263A"/>
                </a:solidFill>
              </a:rPr>
              <a:t>Estimates the incidence and period prevalence of each cohort in a sample of </a:t>
            </a:r>
            <a:r>
              <a:rPr lang="en-US" sz="1250">
                <a:solidFill>
                  <a:srgbClr val="16263A"/>
                </a:solidFill>
              </a:rPr>
              <a:t>the database population</a:t>
            </a:r>
            <a:endParaRPr lang="en-US" sz="1250"/>
          </a:p>
        </p:txBody>
      </p:sp>
      <p:sp>
        <p:nvSpPr>
          <p:cNvPr id="18" name="Text 16"/>
          <p:cNvSpPr txBox="1"/>
          <p:nvPr/>
        </p:nvSpPr>
        <p:spPr>
          <a:xfrm>
            <a:off x="7589520" y="1737360"/>
            <a:ext cx="4050792" cy="320040"/>
          </a:xfrm>
          <a:prstGeom prst="rect">
            <a:avLst/>
          </a:prstGeom>
          <a:noFill/>
          <a:ln/>
        </p:spPr>
        <p:txBody>
          <a:bodyPr wrap="square" lIns="0" tIns="0" rIns="0" bIns="0" rtlCol="0" anchor="ctr"/>
          <a:lstStyle/>
          <a:p>
            <a:pPr marL="0" indent="0">
              <a:buNone/>
            </a:pPr>
            <a:r>
              <a:rPr lang="en-US" sz="1500" b="1" dirty="0">
                <a:solidFill>
                  <a:srgbClr val="B03A2E"/>
                </a:solidFill>
              </a:rPr>
              <a:t>PhenotypeR does not</a:t>
            </a:r>
            <a:endParaRPr lang="en-US" sz="1500" dirty="0"/>
          </a:p>
        </p:txBody>
      </p:sp>
      <p:sp>
        <p:nvSpPr>
          <p:cNvPr id="19" name="Shape 17"/>
          <p:cNvSpPr/>
          <p:nvPr/>
        </p:nvSpPr>
        <p:spPr>
          <a:xfrm>
            <a:off x="7589520" y="2148840"/>
            <a:ext cx="4050792" cy="3474720"/>
          </a:xfrm>
          <a:prstGeom prst="roundRect">
            <a:avLst>
              <a:gd name="adj" fmla="val 2105"/>
            </a:avLst>
          </a:prstGeom>
          <a:solidFill>
            <a:srgbClr val="F7F9FB"/>
          </a:solidFill>
          <a:ln w="12700">
            <a:solidFill>
              <a:srgbClr val="DCE3E9"/>
            </a:solidFill>
            <a:prstDash val="solid"/>
          </a:ln>
        </p:spPr>
        <p:txBody>
          <a:bodyPr/>
          <a:lstStyle/>
          <a:p>
            <a:endParaRPr lang="en-US"/>
          </a:p>
        </p:txBody>
      </p:sp>
      <p:sp>
        <p:nvSpPr>
          <p:cNvPr id="20" name="Text 18"/>
          <p:cNvSpPr txBox="1"/>
          <p:nvPr/>
        </p:nvSpPr>
        <p:spPr>
          <a:xfrm>
            <a:off x="7818120" y="2418080"/>
            <a:ext cx="3657600" cy="3073400"/>
          </a:xfrm>
          <a:prstGeom prst="rect">
            <a:avLst/>
          </a:prstGeom>
          <a:noFill/>
          <a:ln/>
        </p:spPr>
        <p:txBody>
          <a:bodyPr wrap="square" lIns="0" tIns="0" rIns="0" bIns="0" rtlCol="0" anchor="t"/>
          <a:lstStyle/>
          <a:p>
            <a:pPr marL="177800" indent="-177800">
              <a:spcAft>
                <a:spcPts val="900"/>
              </a:spcAft>
              <a:buSzPct val="100000"/>
              <a:buChar char="•"/>
            </a:pPr>
            <a:r>
              <a:rPr lang="en-US" sz="1400">
                <a:solidFill>
                  <a:srgbClr val="16263A"/>
                </a:solidFill>
              </a:rPr>
              <a:t>It does not decide whether a cohort is valid. The researcher interprets the results against the study question.</a:t>
            </a:r>
            <a:endParaRPr lang="en-US" sz="1400"/>
          </a:p>
          <a:p>
            <a:pPr marL="177800" indent="-177800">
              <a:spcAft>
                <a:spcPts val="900"/>
              </a:spcAft>
              <a:buSzPct val="100000"/>
              <a:buChar char="•"/>
            </a:pPr>
            <a:r>
              <a:rPr lang="en-US" sz="1400" dirty="0">
                <a:solidFill>
                  <a:srgbClr val="16263A"/>
                </a:solidFill>
              </a:rPr>
              <a:t>It does not change concept sets or cohort definitions. Changes are made where the cohort was built, and the diagnostics are run again.</a:t>
            </a:r>
            <a:endParaRPr lang="en-US" sz="1400" dirty="0"/>
          </a:p>
          <a:p>
            <a:pPr marL="177800" indent="-177800">
              <a:spcAft>
                <a:spcPts val="900"/>
              </a:spcAft>
              <a:buSzPct val="100000"/>
              <a:buChar char="•"/>
            </a:pPr>
            <a:r>
              <a:rPr lang="en-US" sz="1400" dirty="0">
                <a:solidFill>
                  <a:srgbClr val="16263A"/>
                </a:solidFill>
              </a:rPr>
              <a:t>It does not replace chart review or validation against a reference standard.</a:t>
            </a:r>
            <a:endParaRPr lang="en-US" sz="1400" dirty="0"/>
          </a:p>
          <a:p>
            <a:pPr marL="177800" indent="-177800">
              <a:spcAft>
                <a:spcPts val="900"/>
              </a:spcAft>
              <a:buSzPct val="100000"/>
              <a:buChar char="•"/>
            </a:pPr>
            <a:r>
              <a:rPr lang="en-US" sz="1400" dirty="0">
                <a:solidFill>
                  <a:srgbClr val="16263A"/>
                </a:solidFill>
              </a:rPr>
              <a:t>It does not require an LLM. The LLM functions are optional and send only cohort names to the model.</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GETTING STARTED</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Running PhenotypeR</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One function runs all four diagnostic families; a second launches the R Shiny App</a:t>
            </a:r>
            <a:endParaRPr lang="en-US" sz="1600" dirty="0"/>
          </a:p>
        </p:txBody>
      </p:sp>
      <p:sp>
        <p:nvSpPr>
          <p:cNvPr id="5" name="Code"/>
          <p:cNvSpPr/>
          <p:nvPr/>
        </p:nvSpPr>
        <p:spPr>
          <a:xfrm>
            <a:off x="548640" y="1737360"/>
            <a:ext cx="11091672" cy="1051560"/>
          </a:xfrm>
          <a:prstGeom prst="roundRect">
            <a:avLst>
              <a:gd name="adj" fmla="val 6957"/>
            </a:avLst>
          </a:prstGeom>
          <a:solidFill>
            <a:srgbClr val="13293D"/>
          </a:solidFill>
          <a:ln w="12700">
            <a:solidFill>
              <a:srgbClr val="13293D"/>
            </a:solidFill>
            <a:prstDash val="solid"/>
          </a:ln>
        </p:spPr>
        <p:txBody>
          <a:bodyPr/>
          <a:lstStyle/>
          <a:p>
            <a:endParaRPr lang="en-US"/>
          </a:p>
        </p:txBody>
      </p:sp>
      <p:sp>
        <p:nvSpPr>
          <p:cNvPr id="6" name="Text 4"/>
          <p:cNvSpPr txBox="1"/>
          <p:nvPr/>
        </p:nvSpPr>
        <p:spPr>
          <a:xfrm>
            <a:off x="868680" y="1737360"/>
            <a:ext cx="10607040" cy="1051560"/>
          </a:xfrm>
          <a:prstGeom prst="rect">
            <a:avLst/>
          </a:prstGeom>
          <a:noFill/>
          <a:ln/>
        </p:spPr>
        <p:txBody>
          <a:bodyPr wrap="square" lIns="0" tIns="0" rIns="0" bIns="0" rtlCol="0" anchor="ctr"/>
          <a:lstStyle/>
          <a:p>
            <a:pPr marL="0" indent="0">
              <a:buNone/>
            </a:pPr>
            <a:r>
              <a:rPr lang="en-US" sz="1500" dirty="0">
                <a:solidFill>
                  <a:srgbClr val="CFE3EA"/>
                </a:solidFill>
                <a:latin typeface="Courier New" pitchFamily="34" charset="0"/>
                <a:ea typeface="Courier New" pitchFamily="34" charset="-122"/>
                <a:cs typeface="Courier New" pitchFamily="34" charset="-120"/>
              </a:rPr>
              <a:t>result &lt;- </a:t>
            </a:r>
            <a:r>
              <a:rPr lang="en-US" sz="1500" b="1" dirty="0">
                <a:solidFill>
                  <a:srgbClr val="7FD1D8"/>
                </a:solidFill>
                <a:latin typeface="Courier New" pitchFamily="34" charset="0"/>
                <a:ea typeface="Courier New" pitchFamily="34" charset="-122"/>
                <a:cs typeface="Courier New" pitchFamily="34" charset="-120"/>
              </a:rPr>
              <a:t>phenotypeDiagnostics</a:t>
            </a:r>
            <a:r>
              <a:rPr lang="en-US" sz="1500" dirty="0">
                <a:solidFill>
                  <a:srgbClr val="CFE3EA"/>
                </a:solidFill>
                <a:latin typeface="Courier New" pitchFamily="34" charset="0"/>
                <a:ea typeface="Courier New" pitchFamily="34" charset="-122"/>
                <a:cs typeface="Courier New" pitchFamily="34" charset="-120"/>
              </a:rPr>
              <a:t>(cdm$my_cohort)</a:t>
            </a:r>
            <a:r>
              <a:rPr lang="en-US" sz="1500" dirty="0">
                <a:solidFill>
                  <a:srgbClr val="7F95A8"/>
                </a:solidFill>
                <a:latin typeface="Courier New" pitchFamily="34" charset="0"/>
                <a:ea typeface="Courier New" pitchFamily="34" charset="-122"/>
                <a:cs typeface="Courier New" pitchFamily="34" charset="-120"/>
              </a:rPr>
              <a:t>          # runs all four families</a:t>
            </a:r>
            <a:endParaRPr lang="en-US" sz="1500" dirty="0"/>
          </a:p>
          <a:p>
            <a:pPr marL="0" indent="0">
              <a:buNone/>
            </a:pPr>
            <a:r>
              <a:rPr lang="en-US" sz="1500" b="1" dirty="0">
                <a:solidFill>
                  <a:srgbClr val="7FD1D8"/>
                </a:solidFill>
                <a:latin typeface="Courier New" pitchFamily="34" charset="0"/>
                <a:ea typeface="Courier New" pitchFamily="34" charset="-122"/>
                <a:cs typeface="Courier New" pitchFamily="34" charset="-120"/>
              </a:rPr>
              <a:t>shinyDiagnostics</a:t>
            </a:r>
            <a:r>
              <a:rPr lang="en-US" sz="1500" dirty="0">
                <a:solidFill>
                  <a:srgbClr val="CFE3EA"/>
                </a:solidFill>
                <a:latin typeface="Courier New" pitchFamily="34" charset="0"/>
                <a:ea typeface="Courier New" pitchFamily="34" charset="-122"/>
                <a:cs typeface="Courier New" pitchFamily="34" charset="-120"/>
              </a:rPr>
              <a:t>(result, directory = tempdir(), minCellCount = 5)</a:t>
            </a:r>
            <a:r>
              <a:rPr lang="en-US" sz="1500" dirty="0">
                <a:solidFill>
                  <a:srgbClr val="7F95A8"/>
                </a:solidFill>
                <a:latin typeface="Courier New" pitchFamily="34" charset="0"/>
                <a:ea typeface="Courier New" pitchFamily="34" charset="-122"/>
                <a:cs typeface="Courier New" pitchFamily="34" charset="-120"/>
              </a:rPr>
              <a:t>  # builds the app</a:t>
            </a:r>
            <a:endParaRPr lang="en-US" sz="1500" dirty="0"/>
          </a:p>
        </p:txBody>
      </p:sp>
      <p:sp>
        <p:nvSpPr>
          <p:cNvPr id="7" name="Family Database"/>
          <p:cNvSpPr/>
          <p:nvPr/>
        </p:nvSpPr>
        <p:spPr>
          <a:xfrm>
            <a:off x="548640" y="3017520"/>
            <a:ext cx="2651760" cy="2331720"/>
          </a:xfrm>
          <a:prstGeom prst="roundRect">
            <a:avLst>
              <a:gd name="adj" fmla="val 3137"/>
            </a:avLst>
          </a:prstGeom>
          <a:solidFill>
            <a:srgbClr val="3D5A80"/>
          </a:solidFill>
          <a:ln w="12700">
            <a:solidFill>
              <a:srgbClr val="3D5A80"/>
            </a:solidFill>
            <a:prstDash val="solid"/>
          </a:ln>
        </p:spPr>
        <p:txBody>
          <a:bodyPr/>
          <a:lstStyle/>
          <a:p>
            <a:endParaRPr lang="en-US"/>
          </a:p>
        </p:txBody>
      </p:sp>
      <p:sp>
        <p:nvSpPr>
          <p:cNvPr id="8" name="Text 6"/>
          <p:cNvSpPr txBox="1"/>
          <p:nvPr/>
        </p:nvSpPr>
        <p:spPr>
          <a:xfrm>
            <a:off x="749808"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01</a:t>
            </a:r>
            <a:endParaRPr lang="en-US" sz="2200" dirty="0"/>
          </a:p>
        </p:txBody>
      </p:sp>
      <p:sp>
        <p:nvSpPr>
          <p:cNvPr id="9" name="Text 7"/>
          <p:cNvSpPr txBox="1"/>
          <p:nvPr/>
        </p:nvSpPr>
        <p:spPr>
          <a:xfrm>
            <a:off x="749808"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Database diagnostics</a:t>
            </a:r>
            <a:endParaRPr lang="en-US" sz="1600" dirty="0"/>
          </a:p>
        </p:txBody>
      </p:sp>
      <p:sp>
        <p:nvSpPr>
          <p:cNvPr id="10" name="Text 8"/>
          <p:cNvSpPr txBox="1"/>
          <p:nvPr/>
        </p:nvSpPr>
        <p:spPr>
          <a:xfrm>
            <a:off x="749808"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What data are we working with?</a:t>
            </a:r>
            <a:endParaRPr lang="en-US" sz="1350" dirty="0"/>
          </a:p>
        </p:txBody>
      </p:sp>
      <p:sp>
        <p:nvSpPr>
          <p:cNvPr id="11" name="Text 9"/>
          <p:cNvSpPr txBox="1"/>
          <p:nvPr/>
        </p:nvSpPr>
        <p:spPr>
          <a:xfrm>
            <a:off x="749808"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databaseDiagnostics()</a:t>
            </a:r>
            <a:endParaRPr lang="en-US" sz="1100" dirty="0"/>
          </a:p>
        </p:txBody>
      </p:sp>
      <p:sp>
        <p:nvSpPr>
          <p:cNvPr id="12" name="Family Codelist"/>
          <p:cNvSpPr/>
          <p:nvPr/>
        </p:nvSpPr>
        <p:spPr>
          <a:xfrm>
            <a:off x="3364992" y="3017520"/>
            <a:ext cx="2651760" cy="2331720"/>
          </a:xfrm>
          <a:prstGeom prst="roundRect">
            <a:avLst>
              <a:gd name="adj" fmla="val 3137"/>
            </a:avLst>
          </a:prstGeom>
          <a:solidFill>
            <a:srgbClr val="0E7C86"/>
          </a:solidFill>
          <a:ln w="12700">
            <a:solidFill>
              <a:srgbClr val="0E7C86"/>
            </a:solidFill>
            <a:prstDash val="solid"/>
          </a:ln>
        </p:spPr>
        <p:txBody>
          <a:bodyPr/>
          <a:lstStyle/>
          <a:p>
            <a:endParaRPr lang="en-US"/>
          </a:p>
        </p:txBody>
      </p:sp>
      <p:sp>
        <p:nvSpPr>
          <p:cNvPr id="13" name="Text 11"/>
          <p:cNvSpPr txBox="1"/>
          <p:nvPr/>
        </p:nvSpPr>
        <p:spPr>
          <a:xfrm>
            <a:off x="3566160"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02</a:t>
            </a:r>
            <a:endParaRPr lang="en-US" sz="2200" dirty="0"/>
          </a:p>
        </p:txBody>
      </p:sp>
      <p:sp>
        <p:nvSpPr>
          <p:cNvPr id="14" name="Text 12"/>
          <p:cNvSpPr txBox="1"/>
          <p:nvPr/>
        </p:nvSpPr>
        <p:spPr>
          <a:xfrm>
            <a:off x="3566160"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Codelist diagnostics</a:t>
            </a:r>
            <a:endParaRPr lang="en-US" sz="1600" dirty="0"/>
          </a:p>
        </p:txBody>
      </p:sp>
      <p:sp>
        <p:nvSpPr>
          <p:cNvPr id="15" name="Text 13"/>
          <p:cNvSpPr txBox="1"/>
          <p:nvPr/>
        </p:nvSpPr>
        <p:spPr>
          <a:xfrm>
            <a:off x="3566160"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Which concepts define the cohort?</a:t>
            </a:r>
            <a:endParaRPr lang="en-US" sz="1350" dirty="0"/>
          </a:p>
        </p:txBody>
      </p:sp>
      <p:sp>
        <p:nvSpPr>
          <p:cNvPr id="16" name="Text 14"/>
          <p:cNvSpPr txBox="1"/>
          <p:nvPr/>
        </p:nvSpPr>
        <p:spPr>
          <a:xfrm>
            <a:off x="3566160"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codelistDiagnostics()</a:t>
            </a:r>
            <a:endParaRPr lang="en-US" sz="1100" dirty="0"/>
          </a:p>
        </p:txBody>
      </p:sp>
      <p:sp>
        <p:nvSpPr>
          <p:cNvPr id="17" name="Family Cohort"/>
          <p:cNvSpPr/>
          <p:nvPr/>
        </p:nvSpPr>
        <p:spPr>
          <a:xfrm>
            <a:off x="6181344" y="3017520"/>
            <a:ext cx="2651760" cy="2331720"/>
          </a:xfrm>
          <a:prstGeom prst="roundRect">
            <a:avLst>
              <a:gd name="adj" fmla="val 3137"/>
            </a:avLst>
          </a:prstGeom>
          <a:solidFill>
            <a:srgbClr val="C8702A"/>
          </a:solidFill>
          <a:ln w="12700">
            <a:solidFill>
              <a:srgbClr val="C8702A"/>
            </a:solidFill>
            <a:prstDash val="solid"/>
          </a:ln>
        </p:spPr>
        <p:txBody>
          <a:bodyPr/>
          <a:lstStyle/>
          <a:p>
            <a:endParaRPr lang="en-US"/>
          </a:p>
        </p:txBody>
      </p:sp>
      <p:sp>
        <p:nvSpPr>
          <p:cNvPr id="18" name="Text 16"/>
          <p:cNvSpPr txBox="1"/>
          <p:nvPr/>
        </p:nvSpPr>
        <p:spPr>
          <a:xfrm>
            <a:off x="6382512"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03</a:t>
            </a:r>
            <a:endParaRPr lang="en-US" sz="2200" dirty="0"/>
          </a:p>
        </p:txBody>
      </p:sp>
      <p:sp>
        <p:nvSpPr>
          <p:cNvPr id="19" name="Text 17"/>
          <p:cNvSpPr txBox="1"/>
          <p:nvPr/>
        </p:nvSpPr>
        <p:spPr>
          <a:xfrm>
            <a:off x="6382512"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Cohort diagnostics</a:t>
            </a:r>
            <a:endParaRPr lang="en-US" sz="1600" dirty="0"/>
          </a:p>
        </p:txBody>
      </p:sp>
      <p:sp>
        <p:nvSpPr>
          <p:cNvPr id="20" name="Text 18"/>
          <p:cNvSpPr txBox="1"/>
          <p:nvPr/>
        </p:nvSpPr>
        <p:spPr>
          <a:xfrm>
            <a:off x="6382512"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Who entered the cohort, and how do they compare?</a:t>
            </a:r>
            <a:endParaRPr lang="en-US" sz="1350" dirty="0"/>
          </a:p>
        </p:txBody>
      </p:sp>
      <p:sp>
        <p:nvSpPr>
          <p:cNvPr id="21" name="Text 19"/>
          <p:cNvSpPr txBox="1"/>
          <p:nvPr/>
        </p:nvSpPr>
        <p:spPr>
          <a:xfrm>
            <a:off x="6382512"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cohortDiagnostics()</a:t>
            </a:r>
            <a:endParaRPr lang="en-US" sz="1100" dirty="0"/>
          </a:p>
        </p:txBody>
      </p:sp>
      <p:sp>
        <p:nvSpPr>
          <p:cNvPr id="22" name="Family Population"/>
          <p:cNvSpPr/>
          <p:nvPr/>
        </p:nvSpPr>
        <p:spPr>
          <a:xfrm>
            <a:off x="8997696" y="3017520"/>
            <a:ext cx="2651760" cy="2331720"/>
          </a:xfrm>
          <a:prstGeom prst="roundRect">
            <a:avLst>
              <a:gd name="adj" fmla="val 3137"/>
            </a:avLst>
          </a:prstGeom>
          <a:solidFill>
            <a:srgbClr val="6A4C93"/>
          </a:solidFill>
          <a:ln w="12700">
            <a:solidFill>
              <a:srgbClr val="6A4C93"/>
            </a:solidFill>
            <a:prstDash val="solid"/>
          </a:ln>
        </p:spPr>
        <p:txBody>
          <a:bodyPr/>
          <a:lstStyle/>
          <a:p>
            <a:endParaRPr lang="en-US"/>
          </a:p>
        </p:txBody>
      </p:sp>
      <p:sp>
        <p:nvSpPr>
          <p:cNvPr id="23" name="Text 21"/>
          <p:cNvSpPr txBox="1"/>
          <p:nvPr/>
        </p:nvSpPr>
        <p:spPr>
          <a:xfrm>
            <a:off x="9198864"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04</a:t>
            </a:r>
            <a:endParaRPr lang="en-US" sz="2200" dirty="0"/>
          </a:p>
        </p:txBody>
      </p:sp>
      <p:sp>
        <p:nvSpPr>
          <p:cNvPr id="24" name="Text 22"/>
          <p:cNvSpPr txBox="1"/>
          <p:nvPr/>
        </p:nvSpPr>
        <p:spPr>
          <a:xfrm>
            <a:off x="9198864"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Population diagnostics</a:t>
            </a:r>
            <a:endParaRPr lang="en-US" sz="1600" dirty="0"/>
          </a:p>
        </p:txBody>
      </p:sp>
      <p:sp>
        <p:nvSpPr>
          <p:cNvPr id="25" name="Text 23"/>
          <p:cNvSpPr txBox="1"/>
          <p:nvPr/>
        </p:nvSpPr>
        <p:spPr>
          <a:xfrm>
            <a:off x="9198864"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How often does the cohort occur?</a:t>
            </a:r>
            <a:endParaRPr lang="en-US" sz="1350" dirty="0"/>
          </a:p>
        </p:txBody>
      </p:sp>
      <p:sp>
        <p:nvSpPr>
          <p:cNvPr id="26" name="Text 24"/>
          <p:cNvSpPr txBox="1"/>
          <p:nvPr/>
        </p:nvSpPr>
        <p:spPr>
          <a:xfrm>
            <a:off x="9198864"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populationDiagnostics()</a:t>
            </a:r>
            <a:endParaRPr lang="en-US" sz="1100" dirty="0"/>
          </a:p>
        </p:txBody>
      </p:sp>
      <p:sp>
        <p:nvSpPr>
          <p:cNvPr id="27" name="Text 25"/>
          <p:cNvSpPr txBox="1"/>
          <p:nvPr/>
        </p:nvSpPr>
        <p:spPr>
          <a:xfrm>
            <a:off x="548640" y="5532120"/>
            <a:ext cx="11091672" cy="502920"/>
          </a:xfrm>
          <a:prstGeom prst="rect">
            <a:avLst/>
          </a:prstGeom>
          <a:noFill/>
          <a:ln/>
        </p:spPr>
        <p:txBody>
          <a:bodyPr wrap="square" lIns="0" tIns="0" rIns="0" bIns="0" rtlCol="0" anchor="ctr"/>
          <a:lstStyle/>
          <a:p>
            <a:pPr marL="0" indent="0">
              <a:buNone/>
            </a:pPr>
            <a:r>
              <a:rPr lang="en-US" sz="1250" i="1" dirty="0">
                <a:solidFill>
                  <a:srgbClr val="556677"/>
                </a:solidFill>
              </a:rPr>
              <a:t>Each family can also be run on its own. Results are aggregated and counts below minCellCount are hidden, so the app can be shared without patient-level data.</a:t>
            </a:r>
            <a:endParaRPr lang="en-US" sz="1250" dirty="0"/>
          </a:p>
        </p:txBody>
      </p:sp>
      <p:sp>
        <p:nvSpPr>
          <p:cNvPr id="28"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NAVIGATING THE R SHINY APP</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A Map of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Each menu holds one diagnostic family, and each tab answers a specific question</a:t>
            </a:r>
            <a:endParaRPr lang="en-US" sz="1600" dirty="0"/>
          </a:p>
        </p:txBody>
      </p:sp>
      <p:sp>
        <p:nvSpPr>
          <p:cNvPr id="5" name="Text 3"/>
          <p:cNvSpPr/>
          <p:nvPr/>
        </p:nvSpPr>
        <p:spPr>
          <a:xfrm>
            <a:off x="548640" y="1737360"/>
            <a:ext cx="2651760" cy="457200"/>
          </a:xfrm>
          <a:prstGeom prst="roundRect">
            <a:avLst>
              <a:gd name="adj" fmla="val 16000"/>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 diagnostics</a:t>
            </a:r>
            <a:endParaRPr lang="en-US" sz="1400" dirty="0"/>
          </a:p>
        </p:txBody>
      </p:sp>
      <p:sp>
        <p:nvSpPr>
          <p:cNvPr id="6" name="Shape 4"/>
          <p:cNvSpPr/>
          <p:nvPr/>
        </p:nvSpPr>
        <p:spPr>
          <a:xfrm>
            <a:off x="548640" y="2286000"/>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685800" y="2286000"/>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Snapshot</a:t>
            </a:r>
            <a:endParaRPr lang="en-US" sz="1200" dirty="0"/>
          </a:p>
          <a:p>
            <a:pPr marL="0" indent="0">
              <a:buNone/>
            </a:pPr>
            <a:r>
              <a:rPr lang="en-US" sz="1050" dirty="0">
                <a:solidFill>
                  <a:srgbClr val="16263A"/>
                </a:solidFill>
              </a:rPr>
              <a:t>Size, dates and versions</a:t>
            </a:r>
            <a:endParaRPr lang="en-US" sz="1200" dirty="0"/>
          </a:p>
        </p:txBody>
      </p:sp>
      <p:sp>
        <p:nvSpPr>
          <p:cNvPr id="8" name="Shape 6"/>
          <p:cNvSpPr/>
          <p:nvPr/>
        </p:nvSpPr>
        <p:spPr>
          <a:xfrm>
            <a:off x="548640" y="2852928"/>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9" name="Text 7"/>
          <p:cNvSpPr txBox="1"/>
          <p:nvPr/>
        </p:nvSpPr>
        <p:spPr>
          <a:xfrm>
            <a:off x="685800" y="2852928"/>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Person</a:t>
            </a:r>
            <a:endParaRPr lang="en-US" sz="1200" dirty="0"/>
          </a:p>
          <a:p>
            <a:pPr marL="0" indent="0">
              <a:buNone/>
            </a:pPr>
            <a:r>
              <a:rPr lang="en-US" sz="1050" dirty="0">
                <a:solidFill>
                  <a:srgbClr val="16263A"/>
                </a:solidFill>
              </a:rPr>
              <a:t>Sex, birth year, missing fields</a:t>
            </a:r>
            <a:endParaRPr lang="en-US" sz="1200" dirty="0"/>
          </a:p>
        </p:txBody>
      </p:sp>
      <p:sp>
        <p:nvSpPr>
          <p:cNvPr id="10" name="Shape 8"/>
          <p:cNvSpPr/>
          <p:nvPr/>
        </p:nvSpPr>
        <p:spPr>
          <a:xfrm>
            <a:off x="548640" y="3419856"/>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11" name="Text 9"/>
          <p:cNvSpPr txBox="1"/>
          <p:nvPr/>
        </p:nvSpPr>
        <p:spPr>
          <a:xfrm>
            <a:off x="685800" y="3419856"/>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Observation periods</a:t>
            </a:r>
            <a:endParaRPr lang="en-US" sz="1200" dirty="0"/>
          </a:p>
          <a:p>
            <a:pPr marL="0" indent="0">
              <a:buNone/>
            </a:pPr>
            <a:r>
              <a:rPr lang="en-US" sz="1050" dirty="0">
                <a:solidFill>
                  <a:srgbClr val="16263A"/>
                </a:solidFill>
              </a:rPr>
              <a:t>Length of follow-up</a:t>
            </a:r>
            <a:endParaRPr lang="en-US" sz="1200" dirty="0"/>
          </a:p>
        </p:txBody>
      </p:sp>
      <p:sp>
        <p:nvSpPr>
          <p:cNvPr id="12" name="Shape 10"/>
          <p:cNvSpPr/>
          <p:nvPr/>
        </p:nvSpPr>
        <p:spPr>
          <a:xfrm>
            <a:off x="548640" y="3986784"/>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685800" y="3986784"/>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Clinical records</a:t>
            </a:r>
            <a:endParaRPr lang="en-US" sz="1200" dirty="0"/>
          </a:p>
          <a:p>
            <a:pPr marL="0" indent="0">
              <a:buNone/>
            </a:pPr>
            <a:r>
              <a:rPr lang="en-US" sz="1050" dirty="0">
                <a:solidFill>
                  <a:srgbClr val="16263A"/>
                </a:solidFill>
              </a:rPr>
              <a:t>Coding of each table</a:t>
            </a:r>
            <a:endParaRPr lang="en-US" sz="1200" dirty="0"/>
          </a:p>
        </p:txBody>
      </p:sp>
      <p:sp>
        <p:nvSpPr>
          <p:cNvPr id="14" name="Text 12"/>
          <p:cNvSpPr/>
          <p:nvPr/>
        </p:nvSpPr>
        <p:spPr>
          <a:xfrm>
            <a:off x="3364992" y="1737360"/>
            <a:ext cx="2651760" cy="457200"/>
          </a:xfrm>
          <a:prstGeom prst="roundRect">
            <a:avLst>
              <a:gd name="adj" fmla="val 16000"/>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 diagnostics</a:t>
            </a:r>
            <a:endParaRPr lang="en-US" sz="1400" dirty="0"/>
          </a:p>
        </p:txBody>
      </p:sp>
      <p:sp>
        <p:nvSpPr>
          <p:cNvPr id="15" name="Shape 13"/>
          <p:cNvSpPr/>
          <p:nvPr/>
        </p:nvSpPr>
        <p:spPr>
          <a:xfrm>
            <a:off x="3364992" y="2286000"/>
            <a:ext cx="2651760" cy="502920"/>
          </a:xfrm>
          <a:prstGeom prst="roundRect">
            <a:avLst>
              <a:gd name="adj" fmla="val 10909"/>
            </a:avLst>
          </a:prstGeom>
          <a:solidFill>
            <a:srgbClr val="E4F2F3"/>
          </a:solidFill>
          <a:ln w="12700">
            <a:solidFill>
              <a:srgbClr val="E4F2F3"/>
            </a:solidFill>
            <a:prstDash val="solid"/>
          </a:ln>
        </p:spPr>
        <p:txBody>
          <a:bodyPr/>
          <a:lstStyle/>
          <a:p>
            <a:endParaRPr lang="en-US"/>
          </a:p>
        </p:txBody>
      </p:sp>
      <p:sp>
        <p:nvSpPr>
          <p:cNvPr id="16" name="Text 14"/>
          <p:cNvSpPr txBox="1"/>
          <p:nvPr/>
        </p:nvSpPr>
        <p:spPr>
          <a:xfrm>
            <a:off x="3502152" y="2286000"/>
            <a:ext cx="2377440" cy="502920"/>
          </a:xfrm>
          <a:prstGeom prst="rect">
            <a:avLst/>
          </a:prstGeom>
          <a:noFill/>
          <a:ln/>
        </p:spPr>
        <p:txBody>
          <a:bodyPr wrap="square" lIns="0" tIns="0" rIns="0" bIns="0" rtlCol="0" anchor="ctr"/>
          <a:lstStyle/>
          <a:p>
            <a:pPr marL="0" indent="0">
              <a:buNone/>
            </a:pPr>
            <a:r>
              <a:rPr lang="en-US" sz="1200" b="1" dirty="0">
                <a:solidFill>
                  <a:srgbClr val="0E7C86"/>
                </a:solidFill>
              </a:rPr>
              <a:t>Cohort code use</a:t>
            </a:r>
            <a:endParaRPr lang="en-US" sz="1200" dirty="0"/>
          </a:p>
          <a:p>
            <a:pPr marL="0" indent="0">
              <a:buNone/>
            </a:pPr>
            <a:r>
              <a:rPr lang="en-US" sz="1050" dirty="0">
                <a:solidFill>
                  <a:srgbClr val="16263A"/>
                </a:solidFill>
              </a:rPr>
              <a:t>Concepts that brought people in</a:t>
            </a:r>
            <a:endParaRPr lang="en-US" sz="1200" dirty="0"/>
          </a:p>
        </p:txBody>
      </p:sp>
      <p:sp>
        <p:nvSpPr>
          <p:cNvPr id="17" name="Shape 15"/>
          <p:cNvSpPr/>
          <p:nvPr/>
        </p:nvSpPr>
        <p:spPr>
          <a:xfrm>
            <a:off x="3364992" y="2852928"/>
            <a:ext cx="2651760" cy="502920"/>
          </a:xfrm>
          <a:prstGeom prst="roundRect">
            <a:avLst>
              <a:gd name="adj" fmla="val 10909"/>
            </a:avLst>
          </a:prstGeom>
          <a:solidFill>
            <a:srgbClr val="E4F2F3"/>
          </a:solidFill>
          <a:ln w="12700">
            <a:solidFill>
              <a:srgbClr val="E4F2F3"/>
            </a:solidFill>
            <a:prstDash val="solid"/>
          </a:ln>
        </p:spPr>
        <p:txBody>
          <a:bodyPr/>
          <a:lstStyle/>
          <a:p>
            <a:endParaRPr lang="en-US"/>
          </a:p>
        </p:txBody>
      </p:sp>
      <p:sp>
        <p:nvSpPr>
          <p:cNvPr id="18" name="Text 16"/>
          <p:cNvSpPr txBox="1"/>
          <p:nvPr/>
        </p:nvSpPr>
        <p:spPr>
          <a:xfrm>
            <a:off x="3502152" y="2852928"/>
            <a:ext cx="2377440" cy="502920"/>
          </a:xfrm>
          <a:prstGeom prst="rect">
            <a:avLst/>
          </a:prstGeom>
          <a:noFill/>
          <a:ln/>
        </p:spPr>
        <p:txBody>
          <a:bodyPr wrap="square" lIns="0" tIns="0" rIns="0" bIns="0" rtlCol="0" anchor="ctr"/>
          <a:lstStyle/>
          <a:p>
            <a:pPr marL="0" indent="0">
              <a:buNone/>
            </a:pPr>
            <a:r>
              <a:rPr lang="en-US" sz="1200" b="1" dirty="0">
                <a:solidFill>
                  <a:srgbClr val="0E7C86"/>
                </a:solidFill>
              </a:rPr>
              <a:t>Orphan codes</a:t>
            </a:r>
            <a:endParaRPr lang="en-US" sz="1200" dirty="0"/>
          </a:p>
          <a:p>
            <a:pPr marL="0" indent="0">
              <a:buNone/>
            </a:pPr>
            <a:r>
              <a:rPr lang="en-US" sz="1050" dirty="0">
                <a:solidFill>
                  <a:srgbClr val="16263A"/>
                </a:solidFill>
              </a:rPr>
              <a:t>Related concepts left out</a:t>
            </a:r>
            <a:endParaRPr lang="en-US" sz="1200" dirty="0"/>
          </a:p>
        </p:txBody>
      </p:sp>
      <p:sp>
        <p:nvSpPr>
          <p:cNvPr id="19" name="Text 17"/>
          <p:cNvSpPr/>
          <p:nvPr/>
        </p:nvSpPr>
        <p:spPr>
          <a:xfrm>
            <a:off x="6181344" y="1737360"/>
            <a:ext cx="2651760" cy="457200"/>
          </a:xfrm>
          <a:prstGeom prst="roundRect">
            <a:avLst>
              <a:gd name="adj" fmla="val 16000"/>
            </a:avLst>
          </a:prstGeom>
          <a:solidFill>
            <a:srgbClr val="C8702A"/>
          </a:solidFill>
          <a:ln/>
        </p:spPr>
        <p:txBody>
          <a:bodyPr wrap="square" lIns="0" tIns="0" rIns="0" bIns="0" rtlCol="0" anchor="ctr"/>
          <a:lstStyle/>
          <a:p>
            <a:pPr marL="0" indent="0" algn="ctr">
              <a:buNone/>
            </a:pPr>
            <a:r>
              <a:rPr lang="en-US" sz="1400" b="1" dirty="0">
                <a:solidFill>
                  <a:srgbClr val="FFFFFF"/>
                </a:solidFill>
              </a:rPr>
              <a:t>Cohort diagnostics</a:t>
            </a:r>
            <a:endParaRPr lang="en-US" sz="1400" dirty="0"/>
          </a:p>
        </p:txBody>
      </p:sp>
      <p:sp>
        <p:nvSpPr>
          <p:cNvPr id="20" name="Shape 18"/>
          <p:cNvSpPr/>
          <p:nvPr/>
        </p:nvSpPr>
        <p:spPr>
          <a:xfrm>
            <a:off x="6181344" y="2286000"/>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1" name="Text 19"/>
          <p:cNvSpPr txBox="1"/>
          <p:nvPr/>
        </p:nvSpPr>
        <p:spPr>
          <a:xfrm>
            <a:off x="6318504" y="2286000"/>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count</a:t>
            </a:r>
            <a:endParaRPr lang="en-US" sz="1200" dirty="0"/>
          </a:p>
          <a:p>
            <a:pPr marL="0" indent="0">
              <a:buNone/>
            </a:pPr>
            <a:r>
              <a:rPr lang="en-US" sz="1050" dirty="0">
                <a:solidFill>
                  <a:srgbClr val="16263A"/>
                </a:solidFill>
              </a:rPr>
              <a:t>Records, people, attrition</a:t>
            </a:r>
            <a:endParaRPr lang="en-US" sz="1200" dirty="0"/>
          </a:p>
        </p:txBody>
      </p:sp>
      <p:sp>
        <p:nvSpPr>
          <p:cNvPr id="22" name="Shape 20"/>
          <p:cNvSpPr/>
          <p:nvPr/>
        </p:nvSpPr>
        <p:spPr>
          <a:xfrm>
            <a:off x="6181344" y="2852928"/>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3" name="Text 21"/>
          <p:cNvSpPr txBox="1"/>
          <p:nvPr/>
        </p:nvSpPr>
        <p:spPr>
          <a:xfrm>
            <a:off x="6318504" y="2852928"/>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characteristics</a:t>
            </a:r>
            <a:endParaRPr lang="en-US" sz="1200" dirty="0"/>
          </a:p>
          <a:p>
            <a:pPr marL="0" indent="0">
              <a:buNone/>
            </a:pPr>
            <a:r>
              <a:rPr lang="en-US" sz="1050" dirty="0">
                <a:solidFill>
                  <a:srgbClr val="16263A"/>
                </a:solidFill>
              </a:rPr>
              <a:t>Who entered</a:t>
            </a:r>
            <a:endParaRPr lang="en-US" sz="1200" dirty="0"/>
          </a:p>
        </p:txBody>
      </p:sp>
      <p:sp>
        <p:nvSpPr>
          <p:cNvPr id="24" name="Shape 22"/>
          <p:cNvSpPr/>
          <p:nvPr/>
        </p:nvSpPr>
        <p:spPr>
          <a:xfrm>
            <a:off x="6181344" y="3419856"/>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5" name="Text 23"/>
          <p:cNvSpPr txBox="1"/>
          <p:nvPr/>
        </p:nvSpPr>
        <p:spPr>
          <a:xfrm>
            <a:off x="6318504" y="3419856"/>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Large scale characteristics</a:t>
            </a:r>
            <a:endParaRPr lang="en-US" sz="1200" dirty="0"/>
          </a:p>
          <a:p>
            <a:pPr marL="0" indent="0">
              <a:buNone/>
            </a:pPr>
            <a:r>
              <a:rPr lang="en-US" sz="1050" dirty="0">
                <a:solidFill>
                  <a:srgbClr val="16263A"/>
                </a:solidFill>
              </a:rPr>
              <a:t>All concepts around entry</a:t>
            </a:r>
            <a:endParaRPr lang="en-US" sz="1200" dirty="0"/>
          </a:p>
        </p:txBody>
      </p:sp>
      <p:sp>
        <p:nvSpPr>
          <p:cNvPr id="26" name="Shape 24"/>
          <p:cNvSpPr/>
          <p:nvPr/>
        </p:nvSpPr>
        <p:spPr>
          <a:xfrm>
            <a:off x="6181344" y="3986784"/>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7" name="Text 25"/>
          <p:cNvSpPr txBox="1"/>
          <p:nvPr/>
        </p:nvSpPr>
        <p:spPr>
          <a:xfrm>
            <a:off x="6318504" y="3986784"/>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Compare large scale characteristics</a:t>
            </a:r>
            <a:endParaRPr lang="en-US" sz="1200" dirty="0"/>
          </a:p>
          <a:p>
            <a:pPr marL="0" indent="0">
              <a:buNone/>
            </a:pPr>
            <a:r>
              <a:rPr lang="en-US" sz="1050" dirty="0">
                <a:solidFill>
                  <a:srgbClr val="16263A"/>
                </a:solidFill>
              </a:rPr>
              <a:t>Cohort vs matched controls</a:t>
            </a:r>
            <a:endParaRPr lang="en-US" sz="1200" dirty="0"/>
          </a:p>
        </p:txBody>
      </p:sp>
      <p:sp>
        <p:nvSpPr>
          <p:cNvPr id="28" name="Shape 26"/>
          <p:cNvSpPr/>
          <p:nvPr/>
        </p:nvSpPr>
        <p:spPr>
          <a:xfrm>
            <a:off x="6181344" y="4553712"/>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9" name="Text 27"/>
          <p:cNvSpPr txBox="1"/>
          <p:nvPr/>
        </p:nvSpPr>
        <p:spPr>
          <a:xfrm>
            <a:off x="6318504" y="4553712"/>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Compare cohorts</a:t>
            </a:r>
            <a:endParaRPr lang="en-US" sz="1200" dirty="0"/>
          </a:p>
          <a:p>
            <a:pPr marL="0" indent="0">
              <a:buNone/>
            </a:pPr>
            <a:r>
              <a:rPr lang="en-US" sz="1050" dirty="0">
                <a:solidFill>
                  <a:srgbClr val="16263A"/>
                </a:solidFill>
              </a:rPr>
              <a:t>Overlap and timing</a:t>
            </a:r>
            <a:endParaRPr lang="en-US" sz="1200" dirty="0"/>
          </a:p>
        </p:txBody>
      </p:sp>
      <p:sp>
        <p:nvSpPr>
          <p:cNvPr id="30" name="Shape 28"/>
          <p:cNvSpPr/>
          <p:nvPr/>
        </p:nvSpPr>
        <p:spPr>
          <a:xfrm>
            <a:off x="6181344" y="5120640"/>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31" name="Text 29"/>
          <p:cNvSpPr txBox="1"/>
          <p:nvPr/>
        </p:nvSpPr>
        <p:spPr>
          <a:xfrm>
            <a:off x="6318504" y="5120640"/>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survival</a:t>
            </a:r>
            <a:endParaRPr lang="en-US" sz="1200" dirty="0"/>
          </a:p>
          <a:p>
            <a:pPr marL="0" indent="0">
              <a:buNone/>
            </a:pPr>
            <a:r>
              <a:rPr lang="en-US" sz="1050" dirty="0">
                <a:solidFill>
                  <a:srgbClr val="16263A"/>
                </a:solidFill>
              </a:rPr>
              <a:t>Time to death</a:t>
            </a:r>
            <a:endParaRPr lang="en-US" sz="1200" dirty="0"/>
          </a:p>
        </p:txBody>
      </p:sp>
      <p:sp>
        <p:nvSpPr>
          <p:cNvPr id="32" name="Text 30"/>
          <p:cNvSpPr/>
          <p:nvPr/>
        </p:nvSpPr>
        <p:spPr>
          <a:xfrm>
            <a:off x="8997696" y="1737360"/>
            <a:ext cx="2651760" cy="457200"/>
          </a:xfrm>
          <a:prstGeom prst="roundRect">
            <a:avLst>
              <a:gd name="adj" fmla="val 16000"/>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 diagnostics</a:t>
            </a:r>
            <a:endParaRPr lang="en-US" sz="1400" dirty="0"/>
          </a:p>
        </p:txBody>
      </p:sp>
      <p:sp>
        <p:nvSpPr>
          <p:cNvPr id="33" name="Shape 31"/>
          <p:cNvSpPr/>
          <p:nvPr/>
        </p:nvSpPr>
        <p:spPr>
          <a:xfrm>
            <a:off x="8997696" y="2286000"/>
            <a:ext cx="2651760" cy="502920"/>
          </a:xfrm>
          <a:prstGeom prst="roundRect">
            <a:avLst>
              <a:gd name="adj" fmla="val 10909"/>
            </a:avLst>
          </a:prstGeom>
          <a:solidFill>
            <a:srgbClr val="F1ECF7"/>
          </a:solidFill>
          <a:ln w="12700">
            <a:solidFill>
              <a:srgbClr val="F1ECF7"/>
            </a:solidFill>
            <a:prstDash val="solid"/>
          </a:ln>
        </p:spPr>
        <p:txBody>
          <a:bodyPr/>
          <a:lstStyle/>
          <a:p>
            <a:endParaRPr lang="en-US"/>
          </a:p>
        </p:txBody>
      </p:sp>
      <p:sp>
        <p:nvSpPr>
          <p:cNvPr id="34" name="Text 32"/>
          <p:cNvSpPr txBox="1"/>
          <p:nvPr/>
        </p:nvSpPr>
        <p:spPr>
          <a:xfrm>
            <a:off x="9134856" y="2286000"/>
            <a:ext cx="2377440" cy="502920"/>
          </a:xfrm>
          <a:prstGeom prst="rect">
            <a:avLst/>
          </a:prstGeom>
          <a:noFill/>
          <a:ln/>
        </p:spPr>
        <p:txBody>
          <a:bodyPr wrap="square" lIns="0" tIns="0" rIns="0" bIns="0" rtlCol="0" anchor="ctr"/>
          <a:lstStyle/>
          <a:p>
            <a:pPr marL="0" indent="0">
              <a:buNone/>
            </a:pPr>
            <a:r>
              <a:rPr lang="en-US" sz="1200" b="1" dirty="0">
                <a:solidFill>
                  <a:srgbClr val="6A4C93"/>
                </a:solidFill>
              </a:rPr>
              <a:t>Incidence</a:t>
            </a:r>
            <a:endParaRPr lang="en-US" sz="1200" dirty="0"/>
          </a:p>
          <a:p>
            <a:pPr marL="0" indent="0">
              <a:buNone/>
            </a:pPr>
            <a:r>
              <a:rPr lang="en-US" sz="1050" dirty="0">
                <a:solidFill>
                  <a:srgbClr val="16263A"/>
                </a:solidFill>
              </a:rPr>
              <a:t>New entries per person-time</a:t>
            </a:r>
            <a:endParaRPr lang="en-US" sz="1200" dirty="0"/>
          </a:p>
        </p:txBody>
      </p:sp>
      <p:sp>
        <p:nvSpPr>
          <p:cNvPr id="35" name="Shape 33"/>
          <p:cNvSpPr/>
          <p:nvPr/>
        </p:nvSpPr>
        <p:spPr>
          <a:xfrm>
            <a:off x="8997696" y="2852928"/>
            <a:ext cx="2651760" cy="502920"/>
          </a:xfrm>
          <a:prstGeom prst="roundRect">
            <a:avLst>
              <a:gd name="adj" fmla="val 10909"/>
            </a:avLst>
          </a:prstGeom>
          <a:solidFill>
            <a:srgbClr val="F1ECF7"/>
          </a:solidFill>
          <a:ln w="12700">
            <a:solidFill>
              <a:srgbClr val="F1ECF7"/>
            </a:solidFill>
            <a:prstDash val="solid"/>
          </a:ln>
        </p:spPr>
        <p:txBody>
          <a:bodyPr/>
          <a:lstStyle/>
          <a:p>
            <a:endParaRPr lang="en-US"/>
          </a:p>
        </p:txBody>
      </p:sp>
      <p:sp>
        <p:nvSpPr>
          <p:cNvPr id="36" name="Text 34"/>
          <p:cNvSpPr txBox="1"/>
          <p:nvPr/>
        </p:nvSpPr>
        <p:spPr>
          <a:xfrm>
            <a:off x="9134856" y="2852928"/>
            <a:ext cx="2377440" cy="502920"/>
          </a:xfrm>
          <a:prstGeom prst="rect">
            <a:avLst/>
          </a:prstGeom>
          <a:noFill/>
          <a:ln/>
        </p:spPr>
        <p:txBody>
          <a:bodyPr wrap="square" lIns="0" tIns="0" rIns="0" bIns="0" rtlCol="0" anchor="ctr"/>
          <a:lstStyle/>
          <a:p>
            <a:pPr marL="0" indent="0">
              <a:buNone/>
            </a:pPr>
            <a:r>
              <a:rPr lang="en-US" sz="1200" b="1" dirty="0">
                <a:solidFill>
                  <a:srgbClr val="6A4C93"/>
                </a:solidFill>
              </a:rPr>
              <a:t>Period prevalence</a:t>
            </a:r>
            <a:endParaRPr lang="en-US" sz="1200" dirty="0"/>
          </a:p>
          <a:p>
            <a:pPr marL="0" indent="0">
              <a:buNone/>
            </a:pPr>
            <a:r>
              <a:rPr lang="en-US" sz="1050" dirty="0">
                <a:solidFill>
                  <a:srgbClr val="16263A"/>
                </a:solidFill>
              </a:rPr>
              <a:t>Share of population each year</a:t>
            </a:r>
            <a:endParaRPr lang="en-US" sz="1200" dirty="0"/>
          </a:p>
        </p:txBody>
      </p:sp>
      <p:sp>
        <p:nvSpPr>
          <p:cNvPr id="37" name="Text 35"/>
          <p:cNvSpPr txBox="1"/>
          <p:nvPr/>
        </p:nvSpPr>
        <p:spPr>
          <a:xfrm>
            <a:off x="548640" y="5806440"/>
            <a:ext cx="11091672" cy="411480"/>
          </a:xfrm>
          <a:prstGeom prst="rect">
            <a:avLst/>
          </a:prstGeom>
          <a:noFill/>
          <a:ln/>
        </p:spPr>
        <p:txBody>
          <a:bodyPr wrap="square" lIns="0" tIns="0" rIns="0" bIns="0" rtlCol="0" anchor="ctr"/>
          <a:lstStyle/>
          <a:p>
            <a:pPr marL="0" indent="0">
              <a:buNone/>
            </a:pPr>
            <a:r>
              <a:rPr lang="en-US" sz="1250" i="1">
                <a:solidFill>
                  <a:srgbClr val="556677"/>
                </a:solidFill>
              </a:rPr>
              <a:t>Most tabs offer a table and a plot, filters for database and cohort, and a download button for each output</a:t>
            </a:r>
            <a:endParaRPr lang="en-US" sz="1250" dirty="0">
              <a:ea typeface="Calibri"/>
              <a:cs typeface="Calibri"/>
            </a:endParaRPr>
          </a:p>
        </p:txBody>
      </p:sp>
      <p:sp>
        <p:nvSpPr>
          <p:cNvPr id="38"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BEFORE LOOKING AT THE RESULTS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Expectations for Each Cohort</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Written down first, so that unexpected results </a:t>
            </a:r>
            <a:r>
              <a:rPr lang="en-US" sz="1600" b="1" dirty="0">
                <a:solidFill>
                  <a:srgbClr val="0B2545"/>
                </a:solidFill>
              </a:rPr>
              <a:t>are not explained away afterwards</a:t>
            </a:r>
            <a:endParaRPr lang="en-US" sz="1600" dirty="0"/>
          </a:p>
        </p:txBody>
      </p:sp>
      <p:sp>
        <p:nvSpPr>
          <p:cNvPr id="5" name="Expect hypertension"/>
          <p:cNvSpPr/>
          <p:nvPr/>
        </p:nvSpPr>
        <p:spPr>
          <a:xfrm>
            <a:off x="548640" y="1783080"/>
            <a:ext cx="5449824" cy="2651760"/>
          </a:xfrm>
          <a:prstGeom prst="roundRect">
            <a:avLst>
              <a:gd name="adj" fmla="val 3448"/>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sp>
      <p:sp>
        <p:nvSpPr>
          <p:cNvPr id="6" name="Shape 4"/>
          <p:cNvSpPr/>
          <p:nvPr/>
        </p:nvSpPr>
        <p:spPr>
          <a:xfrm>
            <a:off x="548640" y="2011680"/>
            <a:ext cx="73152" cy="2194560"/>
          </a:xfrm>
          <a:prstGeom prst="rect">
            <a:avLst/>
          </a:prstGeom>
          <a:solidFill>
            <a:srgbClr val="0E7C86"/>
          </a:solidFill>
          <a:ln w="12700">
            <a:solidFill>
              <a:srgbClr val="0E7C86"/>
            </a:solidFill>
            <a:prstDash val="solid"/>
          </a:ln>
        </p:spPr>
      </p:sp>
      <p:sp>
        <p:nvSpPr>
          <p:cNvPr id="7" name="Text 5"/>
          <p:cNvSpPr txBox="1"/>
          <p:nvPr/>
        </p:nvSpPr>
        <p:spPr>
          <a:xfrm>
            <a:off x="868680" y="1965960"/>
            <a:ext cx="4901184" cy="457200"/>
          </a:xfrm>
          <a:prstGeom prst="rect">
            <a:avLst/>
          </a:prstGeom>
          <a:noFill/>
          <a:ln/>
        </p:spPr>
        <p:txBody>
          <a:bodyPr wrap="square" lIns="0" tIns="0" rIns="0" bIns="0" rtlCol="0" anchor="ctr"/>
          <a:lstStyle/>
          <a:p>
            <a:pPr marL="0" indent="0">
              <a:buNone/>
            </a:pPr>
            <a:r>
              <a:rPr lang="en-US" sz="1050" b="1" kern="0" spc="100" dirty="0">
                <a:solidFill>
                  <a:srgbClr val="0E7C86"/>
                </a:solidFill>
              </a:rPr>
              <a:t>WE EXPECT  </a:t>
            </a:r>
            <a:r>
              <a:rPr lang="en-US" sz="1800" b="1" dirty="0">
                <a:solidFill>
                  <a:srgbClr val="0B2545"/>
                </a:solidFill>
                <a:latin typeface="Courier New" pitchFamily="34" charset="0"/>
                <a:ea typeface="Courier New" pitchFamily="34" charset="-122"/>
                <a:cs typeface="Courier New" pitchFamily="34" charset="-120"/>
              </a:rPr>
              <a:t>hypertension</a:t>
            </a:r>
            <a:endParaRPr lang="en-US" sz="1050" dirty="0"/>
          </a:p>
        </p:txBody>
      </p:sp>
      <p:sp>
        <p:nvSpPr>
          <p:cNvPr id="8" name="Text 6"/>
          <p:cNvSpPr txBox="1"/>
          <p:nvPr/>
        </p:nvSpPr>
        <p:spPr>
          <a:xfrm>
            <a:off x="868680" y="2560320"/>
            <a:ext cx="4855464" cy="178308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6263A"/>
                </a:solidFill>
              </a:rPr>
              <a:t>Common in an older claims population</a:t>
            </a:r>
            <a:endParaRPr lang="en-US" sz="1450" dirty="0"/>
          </a:p>
          <a:p>
            <a:pPr marL="177800" indent="-177800">
              <a:spcAft>
                <a:spcPts val="800"/>
              </a:spcAft>
              <a:buSzPct val="100000"/>
              <a:buChar char="•"/>
            </a:pPr>
            <a:r>
              <a:rPr lang="en-US" sz="1450" dirty="0">
                <a:solidFill>
                  <a:srgbClr val="16263A"/>
                </a:solidFill>
              </a:rPr>
              <a:t>Entry driven by hypertension diagnosis records</a:t>
            </a:r>
            <a:endParaRPr lang="en-US" sz="1450" dirty="0"/>
          </a:p>
          <a:p>
            <a:pPr marL="177800" indent="-177800">
              <a:spcAft>
                <a:spcPts val="800"/>
              </a:spcAft>
              <a:buSzPct val="100000"/>
              <a:buChar char="•"/>
            </a:pPr>
            <a:r>
              <a:rPr lang="en-US" sz="1450" dirty="0">
                <a:solidFill>
                  <a:srgbClr val="16263A"/>
                </a:solidFill>
              </a:rPr>
              <a:t>Cardiovascular and metabolic conditions are frequent</a:t>
            </a:r>
            <a:endParaRPr lang="en-US" sz="1450" dirty="0"/>
          </a:p>
          <a:p>
            <a:pPr marL="177800" indent="-177800">
              <a:spcAft>
                <a:spcPts val="800"/>
              </a:spcAft>
              <a:buSzPct val="100000"/>
              <a:buChar char="•"/>
            </a:pPr>
            <a:r>
              <a:rPr lang="en-US" sz="1450" dirty="0">
                <a:solidFill>
                  <a:srgbClr val="16263A"/>
                </a:solidFill>
              </a:rPr>
              <a:t>Blood-pressure values may not be available to confirm the diagnosis</a:t>
            </a:r>
            <a:endParaRPr lang="en-US" sz="1450" dirty="0"/>
          </a:p>
        </p:txBody>
      </p:sp>
      <p:sp>
        <p:nvSpPr>
          <p:cNvPr id="9" name="Expect user_of_warfarin"/>
          <p:cNvSpPr/>
          <p:nvPr/>
        </p:nvSpPr>
        <p:spPr>
          <a:xfrm>
            <a:off x="6190488" y="1783080"/>
            <a:ext cx="5449824" cy="2651760"/>
          </a:xfrm>
          <a:prstGeom prst="roundRect">
            <a:avLst>
              <a:gd name="adj" fmla="val 3448"/>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sp>
      <p:sp>
        <p:nvSpPr>
          <p:cNvPr id="10" name="Shape 8"/>
          <p:cNvSpPr/>
          <p:nvPr/>
        </p:nvSpPr>
        <p:spPr>
          <a:xfrm>
            <a:off x="6190488" y="2011680"/>
            <a:ext cx="73152" cy="2194560"/>
          </a:xfrm>
          <a:prstGeom prst="rect">
            <a:avLst/>
          </a:prstGeom>
          <a:solidFill>
            <a:srgbClr val="C8702A"/>
          </a:solidFill>
          <a:ln w="12700">
            <a:solidFill>
              <a:srgbClr val="C8702A"/>
            </a:solidFill>
            <a:prstDash val="solid"/>
          </a:ln>
        </p:spPr>
      </p:sp>
      <p:sp>
        <p:nvSpPr>
          <p:cNvPr id="11" name="Text 9"/>
          <p:cNvSpPr txBox="1"/>
          <p:nvPr/>
        </p:nvSpPr>
        <p:spPr>
          <a:xfrm>
            <a:off x="6510528" y="1965960"/>
            <a:ext cx="4901184" cy="457200"/>
          </a:xfrm>
          <a:prstGeom prst="rect">
            <a:avLst/>
          </a:prstGeom>
          <a:noFill/>
          <a:ln/>
        </p:spPr>
        <p:txBody>
          <a:bodyPr wrap="square" lIns="0" tIns="0" rIns="0" bIns="0" rtlCol="0" anchor="ctr"/>
          <a:lstStyle/>
          <a:p>
            <a:pPr marL="0" indent="0">
              <a:buNone/>
            </a:pPr>
            <a:r>
              <a:rPr lang="en-US" sz="1050" b="1" kern="0" spc="100" dirty="0">
                <a:solidFill>
                  <a:srgbClr val="C8702A"/>
                </a:solidFill>
              </a:rPr>
              <a:t>WE EXPECT  </a:t>
            </a:r>
            <a:r>
              <a:rPr lang="en-US" sz="1800" b="1" dirty="0">
                <a:solidFill>
                  <a:srgbClr val="0B2545"/>
                </a:solidFill>
                <a:latin typeface="Courier New" pitchFamily="34" charset="0"/>
                <a:ea typeface="Courier New" pitchFamily="34" charset="-122"/>
                <a:cs typeface="Courier New" pitchFamily="34" charset="-120"/>
              </a:rPr>
              <a:t>user_of_warfarin</a:t>
            </a:r>
            <a:endParaRPr lang="en-US" sz="1050" dirty="0"/>
          </a:p>
        </p:txBody>
      </p:sp>
      <p:sp>
        <p:nvSpPr>
          <p:cNvPr id="12" name="Text 10"/>
          <p:cNvSpPr txBox="1"/>
          <p:nvPr/>
        </p:nvSpPr>
        <p:spPr>
          <a:xfrm>
            <a:off x="6510528" y="2560320"/>
            <a:ext cx="4855464" cy="178308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6263A"/>
                </a:solidFill>
              </a:rPr>
              <a:t>Much smaller than the hypertension cohort</a:t>
            </a:r>
            <a:endParaRPr lang="en-US" sz="1450" dirty="0"/>
          </a:p>
          <a:p>
            <a:pPr marL="177800" indent="-177800">
              <a:spcAft>
                <a:spcPts val="800"/>
              </a:spcAft>
              <a:buSzPct val="100000"/>
              <a:buChar char="•"/>
            </a:pPr>
            <a:r>
              <a:rPr lang="en-US" sz="1450" dirty="0">
                <a:solidFill>
                  <a:srgbClr val="16263A"/>
                </a:solidFill>
              </a:rPr>
              <a:t>Entry driven by pharmacy dispensing records</a:t>
            </a:r>
            <a:endParaRPr lang="en-US" sz="1450" dirty="0"/>
          </a:p>
          <a:p>
            <a:pPr marL="177800" indent="-177800">
              <a:spcAft>
                <a:spcPts val="800"/>
              </a:spcAft>
              <a:buSzPct val="100000"/>
              <a:buChar char="•"/>
            </a:pPr>
            <a:r>
              <a:rPr lang="en-US" sz="1450" dirty="0">
                <a:solidFill>
                  <a:srgbClr val="16263A"/>
                </a:solidFill>
              </a:rPr>
              <a:t>Atrial fibrillation and venous thromboembolism appear around the time of exposure</a:t>
            </a:r>
            <a:endParaRPr lang="en-US" sz="1450" dirty="0"/>
          </a:p>
          <a:p>
            <a:pPr marL="177800" indent="-177800">
              <a:spcAft>
                <a:spcPts val="800"/>
              </a:spcAft>
              <a:buSzPct val="100000"/>
              <a:buChar char="•"/>
            </a:pPr>
            <a:r>
              <a:rPr lang="en-US" sz="1450" dirty="0">
                <a:solidFill>
                  <a:srgbClr val="16263A"/>
                </a:solidFill>
              </a:rPr>
              <a:t>A single 5 mg tablet concept may not represent all warfarin use</a:t>
            </a:r>
            <a:endParaRPr lang="en-US" sz="1450" dirty="0"/>
          </a:p>
        </p:txBody>
      </p:sp>
      <p:sp>
        <p:nvSpPr>
          <p:cNvPr id="13" name="Text 11"/>
          <p:cNvSpPr txBox="1"/>
          <p:nvPr/>
        </p:nvSpPr>
        <p:spPr>
          <a:xfrm>
            <a:off x="548640" y="4617720"/>
            <a:ext cx="11091672" cy="274320"/>
          </a:xfrm>
          <a:prstGeom prst="rect">
            <a:avLst/>
          </a:prstGeom>
          <a:noFill/>
          <a:ln/>
        </p:spPr>
        <p:txBody>
          <a:bodyPr wrap="square" lIns="0" tIns="0" rIns="0" bIns="0" rtlCol="0" anchor="ctr"/>
          <a:lstStyle/>
          <a:p>
            <a:pPr marL="0" indent="0">
              <a:buNone/>
            </a:pPr>
            <a:r>
              <a:rPr lang="en-US" sz="1050" b="1" kern="0" spc="100" dirty="0">
                <a:solidFill>
                  <a:srgbClr val="556677"/>
                </a:solidFill>
              </a:rPr>
              <a:t>EACH EXPECTATION IS TESTED IN A SECTION OF THE R SHINY APP</a:t>
            </a:r>
            <a:endParaRPr lang="en-US" sz="1050" dirty="0"/>
          </a:p>
        </p:txBody>
      </p:sp>
      <p:sp>
        <p:nvSpPr>
          <p:cNvPr id="14" name="Shape 12"/>
          <p:cNvSpPr/>
          <p:nvPr/>
        </p:nvSpPr>
        <p:spPr>
          <a:xfrm>
            <a:off x="548640" y="4956048"/>
            <a:ext cx="2651760" cy="731520"/>
          </a:xfrm>
          <a:prstGeom prst="roundRect">
            <a:avLst>
              <a:gd name="adj" fmla="val 10000"/>
            </a:avLst>
          </a:prstGeom>
          <a:solidFill>
            <a:srgbClr val="FBF0E5"/>
          </a:solidFill>
          <a:ln w="12700">
            <a:solidFill>
              <a:srgbClr val="FBF0E5"/>
            </a:solidFill>
            <a:prstDash val="solid"/>
          </a:ln>
        </p:spPr>
      </p:sp>
      <p:sp>
        <p:nvSpPr>
          <p:cNvPr id="15" name="Text 13"/>
          <p:cNvSpPr txBox="1"/>
          <p:nvPr/>
        </p:nvSpPr>
        <p:spPr>
          <a:xfrm>
            <a:off x="731520" y="4956048"/>
            <a:ext cx="2286000" cy="731520"/>
          </a:xfrm>
          <a:prstGeom prst="rect">
            <a:avLst/>
          </a:prstGeom>
          <a:noFill/>
          <a:ln/>
        </p:spPr>
        <p:txBody>
          <a:bodyPr wrap="square" lIns="0" tIns="0" rIns="0" bIns="0" rtlCol="0" anchor="ctr"/>
          <a:lstStyle/>
          <a:p>
            <a:pPr marL="0" indent="0">
              <a:buNone/>
            </a:pPr>
            <a:r>
              <a:rPr lang="en-US" sz="1300" b="1" dirty="0">
                <a:solidFill>
                  <a:srgbClr val="C8702A"/>
                </a:solidFill>
              </a:rPr>
              <a:t>Size</a:t>
            </a:r>
            <a:endParaRPr lang="en-US" sz="1300" dirty="0"/>
          </a:p>
          <a:p>
            <a:pPr marL="0" indent="0">
              <a:buNone/>
            </a:pPr>
            <a:r>
              <a:rPr lang="en-US" sz="1200" dirty="0">
                <a:solidFill>
                  <a:srgbClr val="16263A"/>
                </a:solidFill>
              </a:rPr>
              <a:t>Cohort count</a:t>
            </a:r>
            <a:endParaRPr lang="en-US" sz="1300" dirty="0"/>
          </a:p>
        </p:txBody>
      </p:sp>
      <p:sp>
        <p:nvSpPr>
          <p:cNvPr id="16" name="Shape 14"/>
          <p:cNvSpPr/>
          <p:nvPr/>
        </p:nvSpPr>
        <p:spPr>
          <a:xfrm>
            <a:off x="3364992" y="4956048"/>
            <a:ext cx="2651760" cy="731520"/>
          </a:xfrm>
          <a:prstGeom prst="roundRect">
            <a:avLst>
              <a:gd name="adj" fmla="val 10000"/>
            </a:avLst>
          </a:prstGeom>
          <a:solidFill>
            <a:srgbClr val="E4F2F3"/>
          </a:solidFill>
          <a:ln w="12700">
            <a:solidFill>
              <a:srgbClr val="E4F2F3"/>
            </a:solidFill>
            <a:prstDash val="solid"/>
          </a:ln>
        </p:spPr>
      </p:sp>
      <p:sp>
        <p:nvSpPr>
          <p:cNvPr id="17" name="Text 15"/>
          <p:cNvSpPr txBox="1"/>
          <p:nvPr/>
        </p:nvSpPr>
        <p:spPr>
          <a:xfrm>
            <a:off x="3547872" y="4956048"/>
            <a:ext cx="2286000" cy="731520"/>
          </a:xfrm>
          <a:prstGeom prst="rect">
            <a:avLst/>
          </a:prstGeom>
          <a:noFill/>
          <a:ln/>
        </p:spPr>
        <p:txBody>
          <a:bodyPr wrap="square" lIns="0" tIns="0" rIns="0" bIns="0" rtlCol="0" anchor="ctr"/>
          <a:lstStyle/>
          <a:p>
            <a:pPr marL="0" indent="0">
              <a:buNone/>
            </a:pPr>
            <a:r>
              <a:rPr lang="en-US" sz="1300" b="1" dirty="0">
                <a:solidFill>
                  <a:srgbClr val="0E7C86"/>
                </a:solidFill>
              </a:rPr>
              <a:t>Entry concepts</a:t>
            </a:r>
            <a:endParaRPr lang="en-US" sz="1300" dirty="0"/>
          </a:p>
          <a:p>
            <a:pPr marL="0" indent="0">
              <a:buNone/>
            </a:pPr>
            <a:r>
              <a:rPr lang="en-US" sz="1200" dirty="0">
                <a:solidFill>
                  <a:srgbClr val="16263A"/>
                </a:solidFill>
              </a:rPr>
              <a:t>Cohort code use</a:t>
            </a:r>
            <a:endParaRPr lang="en-US" sz="1300" dirty="0"/>
          </a:p>
        </p:txBody>
      </p:sp>
      <p:sp>
        <p:nvSpPr>
          <p:cNvPr id="18" name="Shape 16"/>
          <p:cNvSpPr/>
          <p:nvPr/>
        </p:nvSpPr>
        <p:spPr>
          <a:xfrm>
            <a:off x="6181344" y="4956048"/>
            <a:ext cx="2651760" cy="731520"/>
          </a:xfrm>
          <a:prstGeom prst="roundRect">
            <a:avLst>
              <a:gd name="adj" fmla="val 10000"/>
            </a:avLst>
          </a:prstGeom>
          <a:solidFill>
            <a:srgbClr val="FBF0E5"/>
          </a:solidFill>
          <a:ln w="12700">
            <a:solidFill>
              <a:srgbClr val="FBF0E5"/>
            </a:solidFill>
            <a:prstDash val="solid"/>
          </a:ln>
        </p:spPr>
      </p:sp>
      <p:sp>
        <p:nvSpPr>
          <p:cNvPr id="19" name="Text 17"/>
          <p:cNvSpPr txBox="1"/>
          <p:nvPr/>
        </p:nvSpPr>
        <p:spPr>
          <a:xfrm>
            <a:off x="6364224" y="4956048"/>
            <a:ext cx="2286000" cy="731520"/>
          </a:xfrm>
          <a:prstGeom prst="rect">
            <a:avLst/>
          </a:prstGeom>
          <a:noFill/>
          <a:ln/>
        </p:spPr>
        <p:txBody>
          <a:bodyPr wrap="square" lIns="0" tIns="0" rIns="0" bIns="0" rtlCol="0" anchor="ctr"/>
          <a:lstStyle/>
          <a:p>
            <a:pPr marL="0" indent="0">
              <a:buNone/>
            </a:pPr>
            <a:r>
              <a:rPr lang="en-US" sz="1300" b="1" dirty="0">
                <a:solidFill>
                  <a:srgbClr val="C8702A"/>
                </a:solidFill>
              </a:rPr>
              <a:t>Characteristics</a:t>
            </a:r>
            <a:endParaRPr lang="en-US" sz="1300" dirty="0"/>
          </a:p>
          <a:p>
            <a:pPr marL="0" indent="0">
              <a:buNone/>
            </a:pPr>
            <a:r>
              <a:rPr lang="en-US" sz="1200" dirty="0">
                <a:solidFill>
                  <a:srgbClr val="16263A"/>
                </a:solidFill>
              </a:rPr>
              <a:t>Large scale characteristics</a:t>
            </a:r>
            <a:endParaRPr lang="en-US" sz="1300" dirty="0"/>
          </a:p>
        </p:txBody>
      </p:sp>
      <p:sp>
        <p:nvSpPr>
          <p:cNvPr id="20" name="Shape 18"/>
          <p:cNvSpPr/>
          <p:nvPr/>
        </p:nvSpPr>
        <p:spPr>
          <a:xfrm>
            <a:off x="8997696" y="4956048"/>
            <a:ext cx="2651760" cy="731520"/>
          </a:xfrm>
          <a:prstGeom prst="roundRect">
            <a:avLst>
              <a:gd name="adj" fmla="val 10000"/>
            </a:avLst>
          </a:prstGeom>
          <a:solidFill>
            <a:srgbClr val="F1ECF7"/>
          </a:solidFill>
          <a:ln w="12700">
            <a:solidFill>
              <a:srgbClr val="F1ECF7"/>
            </a:solidFill>
            <a:prstDash val="solid"/>
          </a:ln>
        </p:spPr>
      </p:sp>
      <p:sp>
        <p:nvSpPr>
          <p:cNvPr id="21" name="Text 19"/>
          <p:cNvSpPr txBox="1"/>
          <p:nvPr/>
        </p:nvSpPr>
        <p:spPr>
          <a:xfrm>
            <a:off x="9180576" y="4956048"/>
            <a:ext cx="2286000" cy="731520"/>
          </a:xfrm>
          <a:prstGeom prst="rect">
            <a:avLst/>
          </a:prstGeom>
          <a:noFill/>
          <a:ln/>
        </p:spPr>
        <p:txBody>
          <a:bodyPr wrap="square" lIns="0" tIns="0" rIns="0" bIns="0" rtlCol="0" anchor="ctr"/>
          <a:lstStyle/>
          <a:p>
            <a:pPr marL="0" indent="0">
              <a:buNone/>
            </a:pPr>
            <a:r>
              <a:rPr lang="en-US" sz="1300" b="1" dirty="0">
                <a:solidFill>
                  <a:srgbClr val="6A4C93"/>
                </a:solidFill>
              </a:rPr>
              <a:t>Frequency</a:t>
            </a:r>
            <a:endParaRPr lang="en-US" sz="1300" dirty="0"/>
          </a:p>
          <a:p>
            <a:pPr marL="0" indent="0">
              <a:buNone/>
            </a:pPr>
            <a:r>
              <a:rPr lang="en-US" sz="1200" dirty="0">
                <a:solidFill>
                  <a:srgbClr val="16263A"/>
                </a:solidFill>
              </a:rPr>
              <a:t>Incidence and prevalence</a:t>
            </a:r>
            <a:endParaRPr lang="en-US" sz="13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29729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01</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Database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Describe the data source before judging any cohort</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050" b="1" kern="0" spc="100" dirty="0">
              <a:solidFill>
                <a:srgbClr val="FFFFFF"/>
              </a:solidFill>
            </a:endParaRPr>
          </a:p>
          <a:p>
            <a:pPr marL="0" indent="0">
              <a:buNone/>
            </a:pPr>
            <a:r>
              <a:rPr lang="en-US" sz="1400" dirty="0">
                <a:solidFill>
                  <a:srgbClr val="FFFFFF"/>
                </a:solidFill>
              </a:rPr>
              <a:t>It shows whether the database covers the study period and population, and which kinds of data a cohort definition can rely on.</a:t>
            </a:r>
            <a:endParaRPr lang="en-US" sz="1050" dirty="0"/>
          </a:p>
        </p:txBody>
      </p:sp>
      <p:sp>
        <p:nvSpPr>
          <p:cNvPr id="10" name="Tab Snapshot"/>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Snapshot</a:t>
            </a:r>
            <a:endParaRPr lang="en-US" sz="1500" dirty="0"/>
          </a:p>
          <a:p>
            <a:pPr marL="0" indent="0">
              <a:buNone/>
            </a:pPr>
            <a:r>
              <a:rPr lang="en-US" sz="1200" dirty="0">
                <a:solidFill>
                  <a:srgbClr val="16263A"/>
                </a:solidFill>
              </a:rPr>
              <a:t>The size of the database, the dates it covers, and the CDM and vocabulary </a:t>
            </a:r>
            <a:r>
              <a:rPr lang="en-US" sz="1200">
                <a:solidFill>
                  <a:srgbClr val="16263A"/>
                </a:solidFill>
              </a:rPr>
              <a:t>versions</a:t>
            </a:r>
            <a:endParaRPr lang="en-US" sz="1500"/>
          </a:p>
        </p:txBody>
      </p:sp>
      <p:sp>
        <p:nvSpPr>
          <p:cNvPr id="12" name="Tab Person"/>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Person</a:t>
            </a:r>
            <a:endParaRPr lang="en-US" sz="1500" dirty="0"/>
          </a:p>
          <a:p>
            <a:pPr marL="0" indent="0">
              <a:buNone/>
            </a:pPr>
            <a:r>
              <a:rPr lang="en-US" sz="1200">
                <a:solidFill>
                  <a:srgbClr val="16263A"/>
                </a:solidFill>
              </a:rPr>
              <a:t>Sex, year of birth, and how complete the person-level fields are</a:t>
            </a:r>
            <a:endParaRPr lang="en-US" sz="1500"/>
          </a:p>
        </p:txBody>
      </p:sp>
      <p:sp>
        <p:nvSpPr>
          <p:cNvPr id="14" name="Tab Observation periods"/>
          <p:cNvSpPr/>
          <p:nvPr/>
        </p:nvSpPr>
        <p:spPr>
          <a:xfrm>
            <a:off x="6583680" y="3273552"/>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6812280" y="3273552"/>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Observation periods</a:t>
            </a:r>
            <a:endParaRPr lang="en-US" sz="1500" dirty="0"/>
          </a:p>
          <a:p>
            <a:pPr marL="0" indent="0">
              <a:buNone/>
            </a:pPr>
            <a:r>
              <a:rPr lang="en-US" sz="1200" dirty="0">
                <a:solidFill>
                  <a:srgbClr val="16263A"/>
                </a:solidFill>
              </a:rPr>
              <a:t>How long people are observed, and how many have more than one </a:t>
            </a:r>
            <a:r>
              <a:rPr lang="en-US" sz="1200">
                <a:solidFill>
                  <a:srgbClr val="16263A"/>
                </a:solidFill>
              </a:rPr>
              <a:t>period</a:t>
            </a:r>
            <a:endParaRPr lang="en-US" sz="1500"/>
          </a:p>
        </p:txBody>
      </p:sp>
      <p:sp>
        <p:nvSpPr>
          <p:cNvPr id="16" name="Tab Clinical records"/>
          <p:cNvSpPr/>
          <p:nvPr/>
        </p:nvSpPr>
        <p:spPr>
          <a:xfrm>
            <a:off x="6583680" y="4453128"/>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7" name="Text 15"/>
          <p:cNvSpPr txBox="1"/>
          <p:nvPr/>
        </p:nvSpPr>
        <p:spPr>
          <a:xfrm>
            <a:off x="6812280" y="4453128"/>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Clinical records</a:t>
            </a:r>
            <a:endParaRPr lang="en-US" sz="1500" dirty="0"/>
          </a:p>
          <a:p>
            <a:pPr marL="0" indent="0">
              <a:buNone/>
            </a:pPr>
            <a:r>
              <a:rPr lang="en-US" sz="1200" dirty="0">
                <a:solidFill>
                  <a:srgbClr val="16263A"/>
                </a:solidFill>
              </a:rPr>
              <a:t>Record counts, source and standard vocabularies, and missing fields in </a:t>
            </a:r>
            <a:r>
              <a:rPr lang="en-US" sz="1200">
                <a:solidFill>
                  <a:srgbClr val="16263A"/>
                </a:solidFill>
              </a:rPr>
              <a:t>each clinical table</a:t>
            </a:r>
            <a:endParaRPr lang="en-US" sz="150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a:solidFill>
              <a:srgbClr val="3D5A80"/>
            </a:solidFill>
          </a:ln>
        </p:spPr>
        <p:txBody>
          <a:bodyPr wrap="square" lIns="0" tIns="0" rIns="0" bIns="0" rtlCol="0" anchor="ctr"/>
          <a:lstStyle/>
          <a:p>
            <a:pPr marL="0" indent="0" algn="ctr">
              <a:buNone/>
            </a:pPr>
            <a:r>
              <a:rPr lang="en-US" sz="1000" b="1"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3D5A80"/>
                </a:solidFill>
              </a:rPr>
              <a:t>DATABASE DIAGNOSTICS · SNAPSHOT AND PERSON</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Snapshot and Person: An Older Synthetic Population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b="1" dirty="0">
                <a:solidFill>
                  <a:srgbClr val="3D5A80"/>
                </a:solidFill>
              </a:rPr>
              <a:t>1,000</a:t>
            </a:r>
            <a:r>
              <a:rPr lang="en-US" sz="1600" dirty="0">
                <a:solidFill>
                  <a:srgbClr val="556677"/>
                </a:solidFill>
              </a:rPr>
              <a:t> people are observed from 2008 to 2010, with a median year of birth of </a:t>
            </a:r>
            <a:r>
              <a:rPr lang="en-US" sz="1600" b="1" dirty="0">
                <a:solidFill>
                  <a:srgbClr val="3D5A80"/>
                </a:solidFill>
              </a:rPr>
              <a:t>1935</a:t>
            </a:r>
            <a:endParaRPr lang="en-US" sz="1600" dirty="0"/>
          </a:p>
        </p:txBody>
      </p:sp>
      <p:sp>
        <p:nvSpPr>
          <p:cNvPr id="9" name="Shape 7"/>
          <p:cNvSpPr/>
          <p:nvPr/>
        </p:nvSpPr>
        <p:spPr>
          <a:xfrm>
            <a:off x="548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0" name="Text 8"/>
          <p:cNvSpPr txBox="1"/>
          <p:nvPr/>
        </p:nvSpPr>
        <p:spPr>
          <a:xfrm>
            <a:off x="731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1,000</a:t>
            </a:r>
            <a:endParaRPr lang="en-US" sz="2600" dirty="0"/>
          </a:p>
        </p:txBody>
      </p:sp>
      <p:sp>
        <p:nvSpPr>
          <p:cNvPr id="11" name="Text 9"/>
          <p:cNvSpPr txBox="1"/>
          <p:nvPr/>
        </p:nvSpPr>
        <p:spPr>
          <a:xfrm>
            <a:off x="731520" y="2720340"/>
            <a:ext cx="1783080" cy="662940"/>
          </a:xfrm>
          <a:prstGeom prst="rect">
            <a:avLst/>
          </a:prstGeom>
          <a:noFill/>
          <a:ln/>
        </p:spPr>
        <p:txBody>
          <a:bodyPr wrap="square" lIns="0" tIns="0" rIns="0" bIns="0" rtlCol="0" anchor="t"/>
          <a:lstStyle/>
          <a:p>
            <a:pPr marL="0" indent="0">
              <a:buNone/>
            </a:pPr>
            <a:r>
              <a:rPr lang="en-US" sz="1150" dirty="0">
                <a:solidFill>
                  <a:srgbClr val="16263A"/>
                </a:solidFill>
              </a:rPr>
              <a:t>people in the database</a:t>
            </a:r>
            <a:endParaRPr lang="en-US" sz="1150" dirty="0"/>
          </a:p>
        </p:txBody>
      </p:sp>
      <p:sp>
        <p:nvSpPr>
          <p:cNvPr id="12" name="Shape 10"/>
          <p:cNvSpPr/>
          <p:nvPr/>
        </p:nvSpPr>
        <p:spPr>
          <a:xfrm>
            <a:off x="2834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3017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2008–2010</a:t>
            </a:r>
            <a:endParaRPr lang="en-US" sz="2600" dirty="0"/>
          </a:p>
        </p:txBody>
      </p:sp>
      <p:sp>
        <p:nvSpPr>
          <p:cNvPr id="14" name="Text 12"/>
          <p:cNvSpPr txBox="1"/>
          <p:nvPr/>
        </p:nvSpPr>
        <p:spPr>
          <a:xfrm>
            <a:off x="3017520" y="2720340"/>
            <a:ext cx="1783080" cy="662940"/>
          </a:xfrm>
          <a:prstGeom prst="rect">
            <a:avLst/>
          </a:prstGeom>
          <a:noFill/>
          <a:ln/>
        </p:spPr>
        <p:txBody>
          <a:bodyPr wrap="square" lIns="0" tIns="0" rIns="0" bIns="0" rtlCol="0" anchor="t"/>
          <a:lstStyle/>
          <a:p>
            <a:pPr marL="0" indent="0">
              <a:buNone/>
            </a:pPr>
            <a:r>
              <a:rPr lang="en-US" sz="1150" dirty="0">
                <a:solidFill>
                  <a:srgbClr val="16263A"/>
                </a:solidFill>
              </a:rPr>
              <a:t>the full observation window</a:t>
            </a:r>
            <a:endParaRPr lang="en-US" sz="1150" dirty="0"/>
          </a:p>
        </p:txBody>
      </p:sp>
      <p:sp>
        <p:nvSpPr>
          <p:cNvPr id="15" name="Shape 13"/>
          <p:cNvSpPr/>
          <p:nvPr/>
        </p:nvSpPr>
        <p:spPr>
          <a:xfrm>
            <a:off x="5120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6" name="Text 14"/>
          <p:cNvSpPr txBox="1"/>
          <p:nvPr/>
        </p:nvSpPr>
        <p:spPr>
          <a:xfrm>
            <a:off x="5303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CDM 5.3</a:t>
            </a:r>
            <a:endParaRPr lang="en-US" sz="2600" dirty="0"/>
          </a:p>
        </p:txBody>
      </p:sp>
      <p:sp>
        <p:nvSpPr>
          <p:cNvPr id="17" name="Text 15"/>
          <p:cNvSpPr txBox="1"/>
          <p:nvPr/>
        </p:nvSpPr>
        <p:spPr>
          <a:xfrm>
            <a:off x="5303520" y="2720340"/>
            <a:ext cx="1783080" cy="662940"/>
          </a:xfrm>
          <a:prstGeom prst="rect">
            <a:avLst/>
          </a:prstGeom>
          <a:noFill/>
          <a:ln/>
        </p:spPr>
        <p:txBody>
          <a:bodyPr wrap="square" lIns="0" tIns="0" rIns="0" bIns="0" rtlCol="0" anchor="t"/>
          <a:lstStyle/>
          <a:p>
            <a:r>
              <a:rPr lang="en-US" sz="1150" dirty="0">
                <a:solidFill>
                  <a:srgbClr val="16263A"/>
                </a:solidFill>
              </a:rPr>
              <a:t>with vocabulary v5.0 </a:t>
            </a:r>
          </a:p>
          <a:p>
            <a:pPr marL="0" indent="0">
              <a:buNone/>
            </a:pPr>
            <a:r>
              <a:rPr lang="en-US" sz="1150">
                <a:solidFill>
                  <a:srgbClr val="16263A"/>
                </a:solidFill>
              </a:rPr>
              <a:t>(06-AUG-21)</a:t>
            </a:r>
            <a:endParaRPr lang="en-US" sz="1150">
              <a:ea typeface="Calibri"/>
              <a:cs typeface="Calibri"/>
            </a:endParaRPr>
          </a:p>
        </p:txBody>
      </p:sp>
      <p:sp>
        <p:nvSpPr>
          <p:cNvPr id="18" name="Shape 16"/>
          <p:cNvSpPr/>
          <p:nvPr/>
        </p:nvSpPr>
        <p:spPr>
          <a:xfrm>
            <a:off x="548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9" name="Text 17"/>
          <p:cNvSpPr txBox="1"/>
          <p:nvPr/>
        </p:nvSpPr>
        <p:spPr>
          <a:xfrm>
            <a:off x="731520" y="37033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1935</a:t>
            </a:r>
            <a:endParaRPr lang="en-US" sz="2600" dirty="0"/>
          </a:p>
        </p:txBody>
      </p:sp>
      <p:sp>
        <p:nvSpPr>
          <p:cNvPr id="20" name="Text 18"/>
          <p:cNvSpPr txBox="1"/>
          <p:nvPr/>
        </p:nvSpPr>
        <p:spPr>
          <a:xfrm>
            <a:off x="731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median year of birth, so most people are over 65</a:t>
            </a:r>
            <a:endParaRPr lang="en-US" sz="1150" dirty="0"/>
          </a:p>
        </p:txBody>
      </p:sp>
      <p:sp>
        <p:nvSpPr>
          <p:cNvPr id="21" name="Shape 19"/>
          <p:cNvSpPr/>
          <p:nvPr/>
        </p:nvSpPr>
        <p:spPr>
          <a:xfrm>
            <a:off x="2834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2" name="Text 20"/>
          <p:cNvSpPr txBox="1"/>
          <p:nvPr/>
        </p:nvSpPr>
        <p:spPr>
          <a:xfrm>
            <a:off x="3017520" y="37033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498 / 502</a:t>
            </a:r>
            <a:endParaRPr lang="en-US" sz="2600" dirty="0"/>
          </a:p>
        </p:txBody>
      </p:sp>
      <p:sp>
        <p:nvSpPr>
          <p:cNvPr id="23" name="Text 21"/>
          <p:cNvSpPr txBox="1"/>
          <p:nvPr/>
        </p:nvSpPr>
        <p:spPr>
          <a:xfrm>
            <a:off x="3017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women and men</a:t>
            </a:r>
            <a:endParaRPr lang="en-US" sz="1150" dirty="0"/>
          </a:p>
        </p:txBody>
      </p:sp>
      <p:sp>
        <p:nvSpPr>
          <p:cNvPr id="24" name="Shape 22"/>
          <p:cNvSpPr/>
          <p:nvPr/>
        </p:nvSpPr>
        <p:spPr>
          <a:xfrm>
            <a:off x="5120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5" name="Text 23"/>
          <p:cNvSpPr txBox="1"/>
          <p:nvPr/>
        </p:nvSpPr>
        <p:spPr>
          <a:xfrm>
            <a:off x="5303520" y="3703320"/>
            <a:ext cx="1783080" cy="845820"/>
          </a:xfrm>
          <a:prstGeom prst="rect">
            <a:avLst/>
          </a:prstGeom>
          <a:noFill/>
          <a:ln/>
        </p:spPr>
        <p:txBody>
          <a:bodyPr wrap="square" lIns="0" tIns="0" rIns="0" bIns="0" rtlCol="0" anchor="b"/>
          <a:lstStyle/>
          <a:p>
            <a:pPr marL="0" indent="0">
              <a:buNone/>
            </a:pPr>
            <a:r>
              <a:rPr lang="en-US" sz="2600" b="1" dirty="0">
                <a:solidFill>
                  <a:srgbClr val="B03A2E"/>
                </a:solidFill>
              </a:rPr>
              <a:t>100%</a:t>
            </a:r>
            <a:endParaRPr lang="en-US" sz="2600" dirty="0"/>
          </a:p>
        </p:txBody>
      </p:sp>
      <p:sp>
        <p:nvSpPr>
          <p:cNvPr id="26" name="Text 24"/>
          <p:cNvSpPr txBox="1"/>
          <p:nvPr/>
        </p:nvSpPr>
        <p:spPr>
          <a:xfrm>
            <a:off x="5303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of provider and care-site fields are missing</a:t>
            </a:r>
            <a:endParaRPr lang="en-US" sz="1150" dirty="0"/>
          </a:p>
        </p:txBody>
      </p:sp>
      <p:sp>
        <p:nvSpPr>
          <p:cNvPr id="27" name="Researcher takeaway"/>
          <p:cNvSpPr/>
          <p:nvPr/>
        </p:nvSpPr>
        <p:spPr>
          <a:xfrm>
            <a:off x="7589520" y="1783080"/>
            <a:ext cx="4050792"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8" name="Text 26"/>
          <p:cNvSpPr txBox="1"/>
          <p:nvPr/>
        </p:nvSpPr>
        <p:spPr>
          <a:xfrm>
            <a:off x="7818120" y="1892808"/>
            <a:ext cx="3593592" cy="1472184"/>
          </a:xfrm>
          <a:prstGeom prst="rect">
            <a:avLst/>
          </a:prstGeom>
          <a:noFill/>
          <a:ln/>
        </p:spPr>
        <p:txBody>
          <a:bodyPr wrap="square" lIns="0" tIns="0" rIns="0" bIns="0" rtlCol="0" anchor="t"/>
          <a:lstStyle/>
          <a:p>
            <a:pPr marL="0" indent="0">
              <a:buNone/>
            </a:pPr>
            <a:r>
              <a:rPr lang="en-US" sz="1000" b="1" kern="0" spc="100" dirty="0">
                <a:solidFill>
                  <a:srgbClr val="3D5A80"/>
                </a:solidFill>
              </a:rPr>
              <a:t>WHAT THIS TELLS THE RESEARCHER</a:t>
            </a:r>
            <a:endParaRPr lang="en-US" sz="1000" dirty="0"/>
          </a:p>
          <a:p>
            <a:endParaRPr lang="en-US" sz="1400" dirty="0">
              <a:solidFill>
                <a:srgbClr val="16263A"/>
              </a:solidFill>
            </a:endParaRPr>
          </a:p>
          <a:p>
            <a:pPr marL="0" indent="0">
              <a:buNone/>
            </a:pPr>
            <a:r>
              <a:rPr lang="en-US" sz="1400">
                <a:solidFill>
                  <a:srgbClr val="16263A"/>
                </a:solidFill>
              </a:rPr>
              <a:t>This is a small, older, claims-style population. </a:t>
            </a:r>
            <a:r>
              <a:rPr lang="en-US" sz="1400" dirty="0">
                <a:solidFill>
                  <a:srgbClr val="16263A"/>
                </a:solidFill>
              </a:rPr>
              <a:t>High rates of chronic conditions are expected, and results describe a synthetic teaching dataset rather than real patients.</a:t>
            </a:r>
            <a:endParaRPr lang="en-US" sz="1000">
              <a:ea typeface="Calibri"/>
              <a:cs typeface="Calibri"/>
            </a:endParaRPr>
          </a:p>
        </p:txBody>
      </p:sp>
      <p:sp>
        <p:nvSpPr>
          <p:cNvPr id="29" name="Shape 27"/>
          <p:cNvSpPr/>
          <p:nvPr/>
        </p:nvSpPr>
        <p:spPr>
          <a:xfrm>
            <a:off x="7589520" y="3611880"/>
            <a:ext cx="4050792" cy="1691640"/>
          </a:xfrm>
          <a:prstGeom prst="roundRect">
            <a:avLst>
              <a:gd name="adj" fmla="val 4324"/>
            </a:avLst>
          </a:prstGeom>
          <a:solidFill>
            <a:srgbClr val="FFFFFF"/>
          </a:solidFill>
          <a:ln w="15875">
            <a:solidFill>
              <a:srgbClr val="3D5A80"/>
            </a:solidFill>
            <a:prstDash val="solid"/>
          </a:ln>
        </p:spPr>
        <p:txBody>
          <a:bodyPr/>
          <a:lstStyle/>
          <a:p>
            <a:endParaRPr lang="en-US"/>
          </a:p>
        </p:txBody>
      </p:sp>
      <p:sp>
        <p:nvSpPr>
          <p:cNvPr id="30" name="Text 28"/>
          <p:cNvSpPr txBox="1"/>
          <p:nvPr/>
        </p:nvSpPr>
        <p:spPr>
          <a:xfrm>
            <a:off x="7818120" y="3721608"/>
            <a:ext cx="3593592" cy="1472184"/>
          </a:xfrm>
          <a:prstGeom prst="rect">
            <a:avLst/>
          </a:prstGeom>
          <a:noFill/>
          <a:ln/>
        </p:spPr>
        <p:txBody>
          <a:bodyPr wrap="square" lIns="0" tIns="0" rIns="0" bIns="0" rtlCol="0" anchor="t"/>
          <a:lstStyle/>
          <a:p>
            <a:pPr marL="0" indent="0">
              <a:buNone/>
            </a:pPr>
            <a:r>
              <a:rPr lang="en-US" sz="1000" b="1" kern="0" spc="100" dirty="0">
                <a:solidFill>
                  <a:srgbClr val="3D5A80"/>
                </a:solidFill>
              </a:rPr>
              <a:t>FOR THE TWO EXAMPLE COHORTS</a:t>
            </a:r>
            <a:endParaRPr lang="en-US" sz="1000" dirty="0"/>
          </a:p>
          <a:p>
            <a:endParaRPr lang="en-US" sz="1400" dirty="0">
              <a:solidFill>
                <a:srgbClr val="16263A"/>
              </a:solidFill>
            </a:endParaRPr>
          </a:p>
          <a:p>
            <a:pPr marL="0" indent="0">
              <a:buNone/>
            </a:pPr>
            <a:r>
              <a:rPr lang="en-US" sz="1400">
                <a:solidFill>
                  <a:srgbClr val="16263A"/>
                </a:solidFill>
              </a:rPr>
              <a:t>Hypertension and anticoagulation are both </a:t>
            </a:r>
            <a:r>
              <a:rPr lang="en-US" sz="1400" dirty="0">
                <a:solidFill>
                  <a:srgbClr val="16263A"/>
                </a:solidFill>
              </a:rPr>
              <a:t>common after 65, so large counts are plausible. Results by provider or care site cannot be produced.</a:t>
            </a:r>
            <a:endParaRPr lang="en-US" sz="1000">
              <a:ea typeface="Calibri"/>
              <a:cs typeface="Calibri"/>
            </a:endParaRPr>
          </a:p>
        </p:txBody>
      </p:sp>
      <p:sp>
        <p:nvSpPr>
          <p:cNvPr id="31" name="R Shiny App path"/>
          <p:cNvSpPr/>
          <p:nvPr/>
        </p:nvSpPr>
        <p:spPr>
          <a:xfrm>
            <a:off x="548640" y="5852160"/>
            <a:ext cx="7680960" cy="402336"/>
          </a:xfrm>
          <a:prstGeom prst="roundRect">
            <a:avLst>
              <a:gd name="adj" fmla="val 50000"/>
            </a:avLst>
          </a:prstGeom>
          <a:solidFill>
            <a:srgbClr val="3D5A80"/>
          </a:solidFill>
          <a:ln w="12700">
            <a:solidFill>
              <a:srgbClr val="3D5A80"/>
            </a:solidFill>
            <a:prstDash val="solid"/>
          </a:ln>
        </p:spPr>
        <p:txBody>
          <a:bodyPr/>
          <a:lstStyle/>
          <a:p>
            <a:endParaRPr lang="en-US"/>
          </a:p>
        </p:txBody>
      </p:sp>
      <p:pic>
        <p:nvPicPr>
          <p:cNvPr id="32"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3" name="Text 3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Database diagnostics › Snapshot  →  Person</a:t>
            </a:r>
            <a:endParaRPr lang="en-US" sz="1200" dirty="0"/>
          </a:p>
        </p:txBody>
      </p:sp>
      <p:sp>
        <p:nvSpPr>
          <p:cNvPr id="34" name="Text 3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a:solidFill>
              <a:srgbClr val="3D5A80"/>
            </a:solidFill>
          </a:ln>
        </p:spPr>
        <p:txBody>
          <a:bodyPr wrap="square" lIns="0" tIns="0" rIns="0" bIns="0" rtlCol="0" anchor="ctr"/>
          <a:lstStyle/>
          <a:p>
            <a:pPr marL="0" indent="0" algn="ctr">
              <a:buNone/>
            </a:pPr>
            <a:r>
              <a:rPr lang="en-US" sz="1000" b="1"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3D5A80"/>
                </a:solidFill>
              </a:rPr>
              <a:t>DATABASE DIAGNOSTICS · OBSERVATION PERIODS AND CLINICAL RECORDS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Observation Periods and Clinical Records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Three years of follow-up and </a:t>
            </a:r>
            <a:r>
              <a:rPr lang="en-US" sz="1600" b="1" dirty="0">
                <a:solidFill>
                  <a:srgbClr val="B03A2E"/>
                </a:solidFill>
              </a:rPr>
              <a:t>no numeric measurement values</a:t>
            </a:r>
            <a:r>
              <a:rPr lang="en-US" sz="1600" dirty="0">
                <a:solidFill>
                  <a:srgbClr val="556677"/>
                </a:solidFill>
              </a:rPr>
              <a:t> limit what a cohort definition can use</a:t>
            </a:r>
            <a:endParaRPr lang="en-US" sz="1600" dirty="0"/>
          </a:p>
        </p:txBody>
      </p:sp>
      <p:sp>
        <p:nvSpPr>
          <p:cNvPr id="9" name="Shape 7"/>
          <p:cNvSpPr/>
          <p:nvPr/>
        </p:nvSpPr>
        <p:spPr>
          <a:xfrm>
            <a:off x="548640" y="1783080"/>
            <a:ext cx="2148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0" name="Text 8"/>
          <p:cNvSpPr txBox="1"/>
          <p:nvPr/>
        </p:nvSpPr>
        <p:spPr>
          <a:xfrm>
            <a:off x="731520" y="1874520"/>
            <a:ext cx="1783080" cy="662940"/>
          </a:xfrm>
          <a:prstGeom prst="rect">
            <a:avLst/>
          </a:prstGeom>
          <a:noFill/>
          <a:ln/>
        </p:spPr>
        <p:txBody>
          <a:bodyPr wrap="square" lIns="0" tIns="0" rIns="0" bIns="0" rtlCol="0" anchor="b"/>
          <a:lstStyle/>
          <a:p>
            <a:pPr marL="0" indent="0">
              <a:buNone/>
            </a:pPr>
            <a:r>
              <a:rPr lang="en-US" sz="2600" b="1" dirty="0">
                <a:solidFill>
                  <a:srgbClr val="3D5A80"/>
                </a:solidFill>
              </a:rPr>
              <a:t>1,096 days</a:t>
            </a:r>
            <a:endParaRPr lang="en-US" sz="2600" dirty="0"/>
          </a:p>
        </p:txBody>
      </p:sp>
      <p:sp>
        <p:nvSpPr>
          <p:cNvPr id="11" name="Text 9"/>
          <p:cNvSpPr txBox="1"/>
          <p:nvPr/>
        </p:nvSpPr>
        <p:spPr>
          <a:xfrm>
            <a:off x="731520" y="2537460"/>
            <a:ext cx="1783080" cy="480060"/>
          </a:xfrm>
          <a:prstGeom prst="rect">
            <a:avLst/>
          </a:prstGeom>
          <a:noFill/>
          <a:ln/>
        </p:spPr>
        <p:txBody>
          <a:bodyPr wrap="square" lIns="0" tIns="0" rIns="0" bIns="0" rtlCol="0" anchor="t"/>
          <a:lstStyle/>
          <a:p>
            <a:pPr marL="0" indent="0">
              <a:buNone/>
            </a:pPr>
            <a:r>
              <a:rPr lang="en-US" sz="1150" dirty="0">
                <a:solidFill>
                  <a:srgbClr val="16263A"/>
                </a:solidFill>
              </a:rPr>
              <a:t>median length of an observation period</a:t>
            </a:r>
            <a:endParaRPr lang="en-US" sz="1150" dirty="0"/>
          </a:p>
        </p:txBody>
      </p:sp>
      <p:sp>
        <p:nvSpPr>
          <p:cNvPr id="12" name="Shape 10"/>
          <p:cNvSpPr/>
          <p:nvPr/>
        </p:nvSpPr>
        <p:spPr>
          <a:xfrm>
            <a:off x="2834640" y="1783080"/>
            <a:ext cx="2148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3017520" y="1874520"/>
            <a:ext cx="1783080" cy="662940"/>
          </a:xfrm>
          <a:prstGeom prst="rect">
            <a:avLst/>
          </a:prstGeom>
          <a:noFill/>
          <a:ln/>
        </p:spPr>
        <p:txBody>
          <a:bodyPr wrap="square" lIns="0" tIns="0" rIns="0" bIns="0" rtlCol="0" anchor="b"/>
          <a:lstStyle/>
          <a:p>
            <a:pPr marL="0" indent="0">
              <a:buNone/>
            </a:pPr>
            <a:r>
              <a:rPr lang="en-US" sz="2600" b="1" dirty="0">
                <a:solidFill>
                  <a:srgbClr val="3D5A80"/>
                </a:solidFill>
              </a:rPr>
              <a:t>48</a:t>
            </a:r>
            <a:endParaRPr lang="en-US" sz="2600" dirty="0"/>
          </a:p>
        </p:txBody>
      </p:sp>
      <p:sp>
        <p:nvSpPr>
          <p:cNvPr id="14" name="Text 12"/>
          <p:cNvSpPr txBox="1"/>
          <p:nvPr/>
        </p:nvSpPr>
        <p:spPr>
          <a:xfrm>
            <a:off x="3017520" y="2537460"/>
            <a:ext cx="1783080" cy="480060"/>
          </a:xfrm>
          <a:prstGeom prst="rect">
            <a:avLst/>
          </a:prstGeom>
          <a:noFill/>
          <a:ln/>
        </p:spPr>
        <p:txBody>
          <a:bodyPr wrap="square" lIns="0" tIns="0" rIns="0" bIns="0" rtlCol="0" anchor="t"/>
          <a:lstStyle/>
          <a:p>
            <a:pPr marL="0" indent="0">
              <a:buNone/>
            </a:pPr>
            <a:r>
              <a:rPr lang="en-US" sz="1150" dirty="0">
                <a:solidFill>
                  <a:srgbClr val="16263A"/>
                </a:solidFill>
              </a:rPr>
              <a:t>people have a second observation period</a:t>
            </a:r>
            <a:endParaRPr lang="en-US" sz="1150" dirty="0"/>
          </a:p>
        </p:txBody>
      </p:sp>
      <p:sp>
        <p:nvSpPr>
          <p:cNvPr id="15" name="Shape 13"/>
          <p:cNvSpPr/>
          <p:nvPr/>
        </p:nvSpPr>
        <p:spPr>
          <a:xfrm>
            <a:off x="548640" y="3246120"/>
            <a:ext cx="4434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6" name="Text 14"/>
          <p:cNvSpPr txBox="1"/>
          <p:nvPr/>
        </p:nvSpPr>
        <p:spPr>
          <a:xfrm>
            <a:off x="731520" y="3337560"/>
            <a:ext cx="4069080" cy="662940"/>
          </a:xfrm>
          <a:prstGeom prst="rect">
            <a:avLst/>
          </a:prstGeom>
          <a:noFill/>
          <a:ln/>
        </p:spPr>
        <p:txBody>
          <a:bodyPr wrap="square" lIns="0" tIns="0" rIns="0" bIns="0" rtlCol="0" anchor="b"/>
          <a:lstStyle/>
          <a:p>
            <a:pPr marL="0" indent="0">
              <a:buNone/>
            </a:pPr>
            <a:r>
              <a:rPr lang="en-US" sz="2600" b="1" dirty="0">
                <a:solidFill>
                  <a:srgbClr val="B03A2E"/>
                </a:solidFill>
              </a:rPr>
              <a:t>0 of 2,858</a:t>
            </a:r>
            <a:endParaRPr lang="en-US" sz="2600" dirty="0"/>
          </a:p>
        </p:txBody>
      </p:sp>
      <p:sp>
        <p:nvSpPr>
          <p:cNvPr id="17" name="Text 15"/>
          <p:cNvSpPr txBox="1"/>
          <p:nvPr/>
        </p:nvSpPr>
        <p:spPr>
          <a:xfrm>
            <a:off x="731520" y="4000500"/>
            <a:ext cx="4069080" cy="480060"/>
          </a:xfrm>
          <a:prstGeom prst="rect">
            <a:avLst/>
          </a:prstGeom>
          <a:noFill/>
          <a:ln/>
        </p:spPr>
        <p:txBody>
          <a:bodyPr wrap="square" lIns="0" tIns="0" rIns="0" bIns="0" rtlCol="0" anchor="t"/>
          <a:lstStyle/>
          <a:p>
            <a:pPr marL="0" indent="0">
              <a:buNone/>
            </a:pPr>
            <a:r>
              <a:rPr lang="en-US" sz="1150" dirty="0">
                <a:solidFill>
                  <a:srgbClr val="16263A"/>
                </a:solidFill>
              </a:rPr>
              <a:t>measurement records have a numeric value, so blood pressure cannot be used to confirm hypertension</a:t>
            </a:r>
            <a:endParaRPr lang="en-US" sz="1150" dirty="0"/>
          </a:p>
        </p:txBody>
      </p:sp>
      <p:graphicFrame>
        <p:nvGraphicFramePr>
          <p:cNvPr id="18" name="Chart 0"/>
          <p:cNvGraphicFramePr/>
          <p:nvPr/>
        </p:nvGraphicFramePr>
        <p:xfrm>
          <a:off x="5257800" y="1737360"/>
          <a:ext cx="35661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searcher takeaway"/>
          <p:cNvSpPr/>
          <p:nvPr/>
        </p:nvSpPr>
        <p:spPr>
          <a:xfrm>
            <a:off x="9052560" y="1783080"/>
            <a:ext cx="2587752" cy="2788920"/>
          </a:xfrm>
          <a:prstGeom prst="roundRect">
            <a:avLst>
              <a:gd name="adj" fmla="val 2827"/>
            </a:avLst>
          </a:prstGeom>
          <a:solidFill>
            <a:srgbClr val="EAF0F7"/>
          </a:solidFill>
          <a:ln w="12700">
            <a:solidFill>
              <a:srgbClr val="EAF0F7"/>
            </a:solidFill>
            <a:prstDash val="solid"/>
          </a:ln>
        </p:spPr>
        <p:txBody>
          <a:bodyPr/>
          <a:lstStyle/>
          <a:p>
            <a:endParaRPr lang="en-US"/>
          </a:p>
        </p:txBody>
      </p:sp>
      <p:sp>
        <p:nvSpPr>
          <p:cNvPr id="20" name="Text 17"/>
          <p:cNvSpPr txBox="1"/>
          <p:nvPr/>
        </p:nvSpPr>
        <p:spPr>
          <a:xfrm>
            <a:off x="9281160" y="1892808"/>
            <a:ext cx="2130552" cy="2569464"/>
          </a:xfrm>
          <a:prstGeom prst="rect">
            <a:avLst/>
          </a:prstGeom>
          <a:noFill/>
          <a:ln/>
        </p:spPr>
        <p:txBody>
          <a:bodyPr wrap="square" lIns="0" tIns="0" rIns="0" bIns="0" rtlCol="0" anchor="t"/>
          <a:lstStyle/>
          <a:p>
            <a:pPr marL="0" indent="0">
              <a:buNone/>
            </a:pPr>
            <a:r>
              <a:rPr lang="en-US" sz="1000" b="1" kern="0" spc="100" dirty="0">
                <a:solidFill>
                  <a:srgbClr val="3D5A80"/>
                </a:solidFill>
              </a:rPr>
              <a:t>WHAT THIS TELLS THE RESEARCHER</a:t>
            </a:r>
            <a:endParaRPr lang="en-US" sz="1000" dirty="0"/>
          </a:p>
          <a:p>
            <a:endParaRPr lang="en-US" sz="1300" dirty="0">
              <a:solidFill>
                <a:srgbClr val="16263A"/>
              </a:solidFill>
            </a:endParaRPr>
          </a:p>
          <a:p>
            <a:pPr marL="0" indent="0">
              <a:buNone/>
            </a:pPr>
            <a:r>
              <a:rPr lang="en-US" sz="1300" dirty="0">
                <a:solidFill>
                  <a:srgbClr val="16263A"/>
                </a:solidFill>
              </a:rPr>
              <a:t>Diagnoses are coded in ICD-9-CM and drugs come from pharmacy </a:t>
            </a:r>
            <a:r>
              <a:rPr lang="en-US" sz="1300" dirty="0" err="1">
                <a:solidFill>
                  <a:srgbClr val="16263A"/>
                </a:solidFill>
              </a:rPr>
              <a:t>dispensings</a:t>
            </a:r>
            <a:r>
              <a:rPr lang="en-US" sz="1300" dirty="0">
                <a:solidFill>
                  <a:srgbClr val="16263A"/>
                </a:solidFill>
              </a:rPr>
              <a:t>. A definition can rely on diagnosis codes and </a:t>
            </a:r>
            <a:r>
              <a:rPr lang="en-US" sz="1300" dirty="0" err="1">
                <a:solidFill>
                  <a:srgbClr val="16263A"/>
                </a:solidFill>
              </a:rPr>
              <a:t>dispensings</a:t>
            </a:r>
            <a:r>
              <a:rPr lang="en-US" sz="1300" dirty="0">
                <a:solidFill>
                  <a:srgbClr val="16263A"/>
                </a:solidFill>
              </a:rPr>
              <a:t>, but not on measured values.</a:t>
            </a:r>
            <a:endParaRPr lang="en-US" sz="1000">
              <a:ea typeface="Calibri"/>
              <a:cs typeface="Calibri"/>
            </a:endParaRPr>
          </a:p>
        </p:txBody>
      </p:sp>
      <p:sp>
        <p:nvSpPr>
          <p:cNvPr id="21" name="Text 18"/>
          <p:cNvSpPr txBox="1"/>
          <p:nvPr/>
        </p:nvSpPr>
        <p:spPr>
          <a:xfrm>
            <a:off x="548640" y="4754880"/>
            <a:ext cx="11091672" cy="548640"/>
          </a:xfrm>
          <a:prstGeom prst="rect">
            <a:avLst/>
          </a:prstGeom>
          <a:noFill/>
          <a:ln/>
        </p:spPr>
        <p:txBody>
          <a:bodyPr wrap="square" lIns="0" tIns="0" rIns="0" bIns="0" rtlCol="0" anchor="t"/>
          <a:lstStyle/>
          <a:p>
            <a:pPr marL="0" indent="0">
              <a:buNone/>
            </a:pPr>
            <a:r>
              <a:rPr lang="en-US" sz="1200" i="1" dirty="0">
                <a:solidFill>
                  <a:srgbClr val="556677"/>
                </a:solidFill>
              </a:rPr>
              <a:t>Conditions map from ICD-9-CM to SNOMED, and 94% of drug records are NDC pharmacy dispensings. In the measurement table, 71% of records are condition-domain codes.</a:t>
            </a:r>
            <a:endParaRPr lang="en-US" sz="1200" dirty="0"/>
          </a:p>
        </p:txBody>
      </p:sp>
      <p:sp>
        <p:nvSpPr>
          <p:cNvPr id="22" name="R Shiny App path"/>
          <p:cNvSpPr/>
          <p:nvPr/>
        </p:nvSpPr>
        <p:spPr>
          <a:xfrm>
            <a:off x="548640" y="5852160"/>
            <a:ext cx="7680960" cy="402336"/>
          </a:xfrm>
          <a:prstGeom prst="roundRect">
            <a:avLst>
              <a:gd name="adj" fmla="val 50000"/>
            </a:avLst>
          </a:prstGeom>
          <a:solidFill>
            <a:srgbClr val="3D5A80"/>
          </a:solidFill>
          <a:ln w="12700">
            <a:solidFill>
              <a:srgbClr val="3D5A80"/>
            </a:solidFill>
            <a:prstDash val="solid"/>
          </a:ln>
        </p:spPr>
        <p:txBody>
          <a:bodyPr/>
          <a:lstStyle/>
          <a:p>
            <a:endParaRPr lang="en-US"/>
          </a:p>
        </p:txBody>
      </p:sp>
      <p:pic>
        <p:nvPicPr>
          <p:cNvPr id="23" name="Image 0" descr="preencoded.png"/>
          <p:cNvPicPr>
            <a:picLocks noChangeAspect="1"/>
          </p:cNvPicPr>
          <p:nvPr/>
        </p:nvPicPr>
        <p:blipFill>
          <a:blip r:embed="rId4"/>
          <a:stretch>
            <a:fillRect/>
          </a:stretch>
        </p:blipFill>
        <p:spPr>
          <a:xfrm>
            <a:off x="704088" y="5984748"/>
            <a:ext cx="137160" cy="137160"/>
          </a:xfrm>
          <a:prstGeom prst="rect">
            <a:avLst/>
          </a:prstGeom>
        </p:spPr>
      </p:pic>
      <p:sp>
        <p:nvSpPr>
          <p:cNvPr id="24" name="Text 2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Database diagnostics › Observation periods  →  Clinical records</a:t>
            </a:r>
            <a:endParaRPr lang="en-US" sz="1200" dirty="0"/>
          </a:p>
        </p:txBody>
      </p:sp>
      <p:sp>
        <p:nvSpPr>
          <p:cNvPr id="25" name="Text 2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02</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Codelist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Check which concepts actually define each cohort</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050" b="1" kern="0" spc="100" dirty="0">
              <a:solidFill>
                <a:srgbClr val="FFFFFF"/>
              </a:solidFill>
            </a:endParaRPr>
          </a:p>
          <a:p>
            <a:pPr marL="0" indent="0">
              <a:buNone/>
            </a:pPr>
            <a:r>
              <a:rPr lang="en-US" sz="1400" dirty="0">
                <a:solidFill>
                  <a:srgbClr val="FFFFFF"/>
                </a:solidFill>
              </a:rPr>
              <a:t>It shows what a cohort label means in practice, and points to concepts that may need adding before the cohort is used.</a:t>
            </a:r>
            <a:endParaRPr lang="en-US" sz="1050" dirty="0"/>
          </a:p>
        </p:txBody>
      </p:sp>
      <p:sp>
        <p:nvSpPr>
          <p:cNvPr id="10" name="Tab Cohort code use"/>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0E7C86"/>
                </a:solidFill>
              </a:rPr>
              <a:t>Cohort code use</a:t>
            </a:r>
            <a:endParaRPr lang="en-US" sz="1500" dirty="0"/>
          </a:p>
          <a:p>
            <a:pPr marL="0" indent="0">
              <a:buNone/>
            </a:pPr>
            <a:r>
              <a:rPr lang="en-US" sz="1200" dirty="0">
                <a:solidFill>
                  <a:srgbClr val="16263A"/>
                </a:solidFill>
              </a:rPr>
              <a:t>The standard and source concepts that brought people into the cohort, with counts by record type.</a:t>
            </a:r>
            <a:endParaRPr lang="en-US" sz="1500" dirty="0"/>
          </a:p>
        </p:txBody>
      </p:sp>
      <p:sp>
        <p:nvSpPr>
          <p:cNvPr id="12" name="Tab Orphan codes"/>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0E7C86"/>
                </a:solidFill>
              </a:rPr>
              <a:t>Orphan codes</a:t>
            </a:r>
            <a:endParaRPr lang="en-US" sz="1500" dirty="0"/>
          </a:p>
          <a:p>
            <a:pPr marL="0" indent="0">
              <a:buNone/>
            </a:pPr>
            <a:r>
              <a:rPr lang="en-US" sz="1200" dirty="0">
                <a:solidFill>
                  <a:srgbClr val="16263A"/>
                </a:solidFill>
              </a:rPr>
              <a:t>Concepts related to the codelist that are recorded in the data but not included in it. This tab needs ACHILLES results.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COHORT CODE USE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Code Use: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Every entry comes from </a:t>
            </a:r>
            <a:r>
              <a:rPr lang="en-US" sz="1600" b="1" dirty="0">
                <a:solidFill>
                  <a:srgbClr val="0E7C86"/>
                </a:solidFill>
              </a:rPr>
              <a:t>one ICD-9-CM code</a:t>
            </a:r>
            <a:r>
              <a:rPr lang="en-US" sz="1600" dirty="0">
                <a:solidFill>
                  <a:srgbClr val="556677"/>
                </a:solidFill>
              </a:rPr>
              <a:t> mapped to the standard concept Essential hypertension</a:t>
            </a:r>
            <a:endParaRPr lang="en-US" sz="1600" dirty="0"/>
          </a:p>
        </p:txBody>
      </p:sp>
      <p:sp>
        <p:nvSpPr>
          <p:cNvPr id="9" name="Shape 7"/>
          <p:cNvSpPr/>
          <p:nvPr/>
        </p:nvSpPr>
        <p:spPr>
          <a:xfrm>
            <a:off x="548640" y="1783080"/>
            <a:ext cx="5486400" cy="2103120"/>
          </a:xfrm>
          <a:prstGeom prst="roundRect">
            <a:avLst>
              <a:gd name="adj" fmla="val 4348"/>
            </a:avLst>
          </a:prstGeom>
          <a:solidFill>
            <a:srgbClr val="0E7C86"/>
          </a:solidFill>
          <a:ln w="12700">
            <a:solidFill>
              <a:srgbClr val="0E7C86"/>
            </a:solidFill>
            <a:prstDash val="solid"/>
          </a:ln>
        </p:spPr>
        <p:txBody>
          <a:bodyPr/>
          <a:lstStyle/>
          <a:p>
            <a:endParaRPr lang="en-US"/>
          </a:p>
        </p:txBody>
      </p:sp>
      <p:sp>
        <p:nvSpPr>
          <p:cNvPr id="10" name="Text 8"/>
          <p:cNvSpPr txBox="1"/>
          <p:nvPr/>
        </p:nvSpPr>
        <p:spPr>
          <a:xfrm>
            <a:off x="822960" y="1938528"/>
            <a:ext cx="4937760" cy="256032"/>
          </a:xfrm>
          <a:prstGeom prst="rect">
            <a:avLst/>
          </a:prstGeom>
          <a:noFill/>
          <a:ln/>
        </p:spPr>
        <p:txBody>
          <a:bodyPr wrap="square" lIns="0" tIns="0" rIns="0" bIns="0" rtlCol="0" anchor="ctr"/>
          <a:lstStyle/>
          <a:p>
            <a:pPr marL="0" indent="0">
              <a:buNone/>
            </a:pPr>
            <a:r>
              <a:rPr lang="en-US" sz="1000" b="1" kern="0" spc="200" dirty="0">
                <a:solidFill>
                  <a:srgbClr val="FFFFFF"/>
                </a:solidFill>
              </a:rPr>
              <a:t>STANDARD CONCEPT IN THE CODELIST</a:t>
            </a:r>
            <a:endParaRPr lang="en-US" sz="1000" dirty="0"/>
          </a:p>
        </p:txBody>
      </p:sp>
      <p:sp>
        <p:nvSpPr>
          <p:cNvPr id="11" name="Text 9"/>
          <p:cNvSpPr txBox="1"/>
          <p:nvPr/>
        </p:nvSpPr>
        <p:spPr>
          <a:xfrm>
            <a:off x="822960" y="2212848"/>
            <a:ext cx="4937760" cy="457200"/>
          </a:xfrm>
          <a:prstGeom prst="rect">
            <a:avLst/>
          </a:prstGeom>
          <a:noFill/>
          <a:ln/>
        </p:spPr>
        <p:txBody>
          <a:bodyPr wrap="square" lIns="0" tIns="0" rIns="0" bIns="0" rtlCol="0" anchor="ctr"/>
          <a:lstStyle/>
          <a:p>
            <a:pPr marL="0" indent="0">
              <a:buNone/>
            </a:pPr>
            <a:r>
              <a:rPr lang="en-US" sz="2100" b="1" dirty="0">
                <a:solidFill>
                  <a:srgbClr val="FFFFFF"/>
                </a:solidFill>
              </a:rPr>
              <a:t>Essential hypertension (320128)</a:t>
            </a:r>
            <a:endParaRPr lang="en-US" sz="2100" dirty="0"/>
          </a:p>
        </p:txBody>
      </p:sp>
      <p:sp>
        <p:nvSpPr>
          <p:cNvPr id="12" name="Text 10"/>
          <p:cNvSpPr txBox="1"/>
          <p:nvPr/>
        </p:nvSpPr>
        <p:spPr>
          <a:xfrm>
            <a:off x="822960" y="2724912"/>
            <a:ext cx="4937760" cy="1051560"/>
          </a:xfrm>
          <a:prstGeom prst="rect">
            <a:avLst/>
          </a:prstGeom>
          <a:noFill/>
          <a:ln/>
        </p:spPr>
        <p:txBody>
          <a:bodyPr wrap="square" lIns="0" tIns="0" rIns="0" bIns="0" rtlCol="0" anchor="t"/>
          <a:lstStyle/>
          <a:p>
            <a:r>
              <a:rPr lang="en-US" sz="1300" dirty="0">
                <a:solidFill>
                  <a:srgbClr val="FFFFFF"/>
                </a:solidFill>
              </a:rPr>
              <a:t>Source code: ICD-9-CM 401.9, “Unspecified essential hypertension” (source concept 44821949). </a:t>
            </a:r>
            <a:endParaRPr lang="en-US" sz="1300" dirty="0">
              <a:solidFill>
                <a:srgbClr val="16263A"/>
              </a:solidFill>
            </a:endParaRPr>
          </a:p>
          <a:p>
            <a:pPr marL="0" indent="0">
              <a:buNone/>
            </a:pPr>
            <a:r>
              <a:rPr lang="en-US" sz="1300" dirty="0">
                <a:solidFill>
                  <a:srgbClr val="FFFFFF"/>
                </a:solidFill>
              </a:rPr>
              <a:t>It appears in 34 different claim positions in </a:t>
            </a:r>
            <a:r>
              <a:rPr lang="en-US" sz="1300" dirty="0" err="1">
                <a:solidFill>
                  <a:srgbClr val="FFFFFF"/>
                </a:solidFill>
              </a:rPr>
              <a:t>condition_occurrence</a:t>
            </a:r>
            <a:r>
              <a:rPr lang="en-US" sz="1300" dirty="0">
                <a:solidFill>
                  <a:srgbClr val="FFFFFF"/>
                </a:solidFill>
              </a:rPr>
              <a:t>.</a:t>
            </a:r>
            <a:endParaRPr lang="en-US" sz="1300">
              <a:ea typeface="Calibri"/>
              <a:cs typeface="Calibri"/>
            </a:endParaRPr>
          </a:p>
        </p:txBody>
      </p:sp>
      <p:graphicFrame>
        <p:nvGraphicFramePr>
          <p:cNvPr id="13" name="Chart 0"/>
          <p:cNvGraphicFramePr/>
          <p:nvPr/>
        </p:nvGraphicFramePr>
        <p:xfrm>
          <a:off x="6309360" y="1737360"/>
          <a:ext cx="534924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searcher takeaway"/>
          <p:cNvSpPr/>
          <p:nvPr/>
        </p:nvSpPr>
        <p:spPr>
          <a:xfrm>
            <a:off x="548640" y="4114800"/>
            <a:ext cx="11091672" cy="1463040"/>
          </a:xfrm>
          <a:prstGeom prst="roundRect">
            <a:avLst>
              <a:gd name="adj" fmla="val 5000"/>
            </a:avLst>
          </a:prstGeom>
          <a:solidFill>
            <a:srgbClr val="E4F2F3"/>
          </a:solidFill>
          <a:ln w="12700">
            <a:solidFill>
              <a:srgbClr val="E4F2F3"/>
            </a:solidFill>
            <a:prstDash val="solid"/>
          </a:ln>
        </p:spPr>
        <p:txBody>
          <a:bodyPr/>
          <a:lstStyle/>
          <a:p>
            <a:endParaRPr lang="en-US"/>
          </a:p>
        </p:txBody>
      </p:sp>
      <p:sp>
        <p:nvSpPr>
          <p:cNvPr id="15" name="Text 12"/>
          <p:cNvSpPr txBox="1"/>
          <p:nvPr/>
        </p:nvSpPr>
        <p:spPr>
          <a:xfrm>
            <a:off x="777240" y="4224528"/>
            <a:ext cx="10634472" cy="124358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The cohort is driven by a single billing code for unspecified essential hypertension. It is best described as “recorded essential hypertension”, not “all </a:t>
            </a:r>
            <a:r>
              <a:rPr lang="en-US" sz="1300" dirty="0">
                <a:solidFill>
                  <a:srgbClr val="16263A"/>
                </a:solidFill>
              </a:rPr>
              <a:t>hypertension”, and it carries no blood-pressure confirmation.</a:t>
            </a:r>
            <a:endParaRPr lang="en-US"/>
          </a:p>
          <a:p>
            <a:endParaRPr lang="en-US" sz="1300" dirty="0">
              <a:ea typeface="Calibri"/>
              <a:cs typeface="Calibri"/>
            </a:endParaRPr>
          </a:p>
        </p:txBody>
      </p:sp>
      <p:sp>
        <p:nvSpPr>
          <p:cNvPr id="16"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Cohort code use  (cohort: hypertension)</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16</a:t>
            </a:fld>
            <a:endParaRPr lang="en-US"/>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COHORT CODE USE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Code Use: Warfarin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b="1" dirty="0">
                <a:solidFill>
                  <a:srgbClr val="0E7C86"/>
                </a:solidFill>
              </a:rPr>
              <a:t>63 source NDC codes</a:t>
            </a:r>
            <a:r>
              <a:rPr lang="en-US" sz="1600" dirty="0">
                <a:solidFill>
                  <a:srgbClr val="556677"/>
                </a:solidFill>
              </a:rPr>
              <a:t> all map to a single product: warfarin sodium 5 mg oral tablet</a:t>
            </a:r>
            <a:endParaRPr lang="en-US" sz="1600" dirty="0"/>
          </a:p>
        </p:txBody>
      </p:sp>
      <p:sp>
        <p:nvSpPr>
          <p:cNvPr id="9" name="Text 7"/>
          <p:cNvSpPr/>
          <p:nvPr/>
        </p:nvSpPr>
        <p:spPr>
          <a:xfrm>
            <a:off x="548640"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58016097290</a:t>
            </a:r>
            <a:endParaRPr lang="en-US" sz="950" dirty="0"/>
          </a:p>
        </p:txBody>
      </p:sp>
      <p:sp>
        <p:nvSpPr>
          <p:cNvPr id="10" name="Text 8"/>
          <p:cNvSpPr/>
          <p:nvPr/>
        </p:nvSpPr>
        <p:spPr>
          <a:xfrm>
            <a:off x="1755648"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65243027403</a:t>
            </a:r>
            <a:endParaRPr lang="en-US" sz="950" dirty="0"/>
          </a:p>
        </p:txBody>
      </p:sp>
      <p:sp>
        <p:nvSpPr>
          <p:cNvPr id="11" name="Text 9"/>
          <p:cNvSpPr/>
          <p:nvPr/>
        </p:nvSpPr>
        <p:spPr>
          <a:xfrm>
            <a:off x="2962656"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53467064000</a:t>
            </a:r>
            <a:endParaRPr lang="en-US" sz="950" dirty="0"/>
          </a:p>
        </p:txBody>
      </p:sp>
      <p:sp>
        <p:nvSpPr>
          <p:cNvPr id="12" name="Text 10"/>
          <p:cNvSpPr/>
          <p:nvPr/>
        </p:nvSpPr>
        <p:spPr>
          <a:xfrm>
            <a:off x="4169664"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52549403207</a:t>
            </a:r>
            <a:endParaRPr lang="en-US" sz="950" dirty="0"/>
          </a:p>
        </p:txBody>
      </p:sp>
      <p:sp>
        <p:nvSpPr>
          <p:cNvPr id="13" name="Text 11"/>
          <p:cNvSpPr/>
          <p:nvPr/>
        </p:nvSpPr>
        <p:spPr>
          <a:xfrm>
            <a:off x="548640"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54569493401</a:t>
            </a:r>
            <a:endParaRPr lang="en-US" sz="950" dirty="0"/>
          </a:p>
        </p:txBody>
      </p:sp>
      <p:sp>
        <p:nvSpPr>
          <p:cNvPr id="14" name="Text 12"/>
          <p:cNvSpPr/>
          <p:nvPr/>
        </p:nvSpPr>
        <p:spPr>
          <a:xfrm>
            <a:off x="1755648"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51129323302</a:t>
            </a:r>
            <a:endParaRPr lang="en-US" sz="950" dirty="0"/>
          </a:p>
        </p:txBody>
      </p:sp>
      <p:sp>
        <p:nvSpPr>
          <p:cNvPr id="15" name="Text 13"/>
          <p:cNvSpPr/>
          <p:nvPr/>
        </p:nvSpPr>
        <p:spPr>
          <a:xfrm>
            <a:off x="2962656"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58016097203</a:t>
            </a:r>
            <a:endParaRPr lang="en-US" sz="950" dirty="0"/>
          </a:p>
        </p:txBody>
      </p:sp>
      <p:sp>
        <p:nvSpPr>
          <p:cNvPr id="16" name="Text 14"/>
          <p:cNvSpPr/>
          <p:nvPr/>
        </p:nvSpPr>
        <p:spPr>
          <a:xfrm>
            <a:off x="4169664"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00781037708</a:t>
            </a:r>
            <a:endParaRPr lang="en-US" sz="950" dirty="0"/>
          </a:p>
        </p:txBody>
      </p:sp>
      <p:sp>
        <p:nvSpPr>
          <p:cNvPr id="17" name="Text 15"/>
          <p:cNvSpPr/>
          <p:nvPr/>
        </p:nvSpPr>
        <p:spPr>
          <a:xfrm>
            <a:off x="548640"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52549403203</a:t>
            </a:r>
            <a:endParaRPr lang="en-US" sz="950" dirty="0"/>
          </a:p>
        </p:txBody>
      </p:sp>
      <p:sp>
        <p:nvSpPr>
          <p:cNvPr id="18" name="Text 16"/>
          <p:cNvSpPr/>
          <p:nvPr/>
        </p:nvSpPr>
        <p:spPr>
          <a:xfrm>
            <a:off x="1755648"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50111092610</a:t>
            </a:r>
            <a:endParaRPr lang="en-US" sz="950" dirty="0"/>
          </a:p>
        </p:txBody>
      </p:sp>
      <p:sp>
        <p:nvSpPr>
          <p:cNvPr id="19" name="Text 17"/>
          <p:cNvSpPr/>
          <p:nvPr/>
        </p:nvSpPr>
        <p:spPr>
          <a:xfrm>
            <a:off x="2962656"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15330026801</a:t>
            </a:r>
            <a:endParaRPr lang="en-US" sz="950" dirty="0"/>
          </a:p>
        </p:txBody>
      </p:sp>
      <p:sp>
        <p:nvSpPr>
          <p:cNvPr id="20" name="Text 18"/>
          <p:cNvSpPr/>
          <p:nvPr/>
        </p:nvSpPr>
        <p:spPr>
          <a:xfrm>
            <a:off x="4169664"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00302820401</a:t>
            </a:r>
            <a:endParaRPr lang="en-US" sz="950" dirty="0"/>
          </a:p>
        </p:txBody>
      </p:sp>
      <p:sp>
        <p:nvSpPr>
          <p:cNvPr id="21" name="Text 19"/>
          <p:cNvSpPr/>
          <p:nvPr/>
        </p:nvSpPr>
        <p:spPr>
          <a:xfrm>
            <a:off x="548640"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00555083304</a:t>
            </a:r>
            <a:endParaRPr lang="en-US" sz="950" dirty="0"/>
          </a:p>
        </p:txBody>
      </p:sp>
      <p:sp>
        <p:nvSpPr>
          <p:cNvPr id="22" name="Text 20"/>
          <p:cNvSpPr/>
          <p:nvPr/>
        </p:nvSpPr>
        <p:spPr>
          <a:xfrm>
            <a:off x="1755648"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58016097210</a:t>
            </a:r>
            <a:endParaRPr lang="en-US" sz="950" dirty="0"/>
          </a:p>
        </p:txBody>
      </p:sp>
      <p:sp>
        <p:nvSpPr>
          <p:cNvPr id="23" name="Text 21"/>
          <p:cNvSpPr/>
          <p:nvPr/>
        </p:nvSpPr>
        <p:spPr>
          <a:xfrm>
            <a:off x="2962656"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23490083305</a:t>
            </a:r>
            <a:endParaRPr lang="en-US" sz="950" dirty="0"/>
          </a:p>
        </p:txBody>
      </p:sp>
      <p:sp>
        <p:nvSpPr>
          <p:cNvPr id="24" name="Text 22"/>
          <p:cNvSpPr/>
          <p:nvPr/>
        </p:nvSpPr>
        <p:spPr>
          <a:xfrm>
            <a:off x="4169664"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00093014510</a:t>
            </a:r>
            <a:endParaRPr lang="en-US" sz="950" dirty="0"/>
          </a:p>
        </p:txBody>
      </p:sp>
      <p:sp>
        <p:nvSpPr>
          <p:cNvPr id="25" name="Text 23"/>
          <p:cNvSpPr txBox="1"/>
          <p:nvPr/>
        </p:nvSpPr>
        <p:spPr>
          <a:xfrm>
            <a:off x="548640" y="3611880"/>
            <a:ext cx="4754880" cy="320040"/>
          </a:xfrm>
          <a:prstGeom prst="rect">
            <a:avLst/>
          </a:prstGeom>
          <a:noFill/>
          <a:ln/>
        </p:spPr>
        <p:txBody>
          <a:bodyPr wrap="square" lIns="0" tIns="0" rIns="0" bIns="0" rtlCol="0" anchor="ctr"/>
          <a:lstStyle/>
          <a:p>
            <a:pPr marL="0" indent="0" algn="ctr">
              <a:buNone/>
            </a:pPr>
            <a:r>
              <a:rPr lang="en-US" sz="1150" i="1" dirty="0">
                <a:solidFill>
                  <a:srgbClr val="556677"/>
                </a:solidFill>
              </a:rPr>
              <a:t>Plus 47 more NDC codes. Most are used by fewer than two people.</a:t>
            </a:r>
            <a:endParaRPr lang="en-US" sz="1150" dirty="0"/>
          </a:p>
        </p:txBody>
      </p:sp>
      <p:sp>
        <p:nvSpPr>
          <p:cNvPr id="26" name="Text 24"/>
          <p:cNvSpPr txBox="1"/>
          <p:nvPr/>
        </p:nvSpPr>
        <p:spPr>
          <a:xfrm>
            <a:off x="5349240" y="2103120"/>
            <a:ext cx="548640" cy="1097280"/>
          </a:xfrm>
          <a:prstGeom prst="rect">
            <a:avLst/>
          </a:prstGeom>
          <a:noFill/>
          <a:ln/>
        </p:spPr>
        <p:txBody>
          <a:bodyPr wrap="square" lIns="0" tIns="0" rIns="0" bIns="0" rtlCol="0" anchor="ctr"/>
          <a:lstStyle/>
          <a:p>
            <a:pPr marL="0" indent="0" algn="ctr">
              <a:buNone/>
            </a:pPr>
            <a:r>
              <a:rPr lang="en-US" sz="3200" dirty="0">
                <a:solidFill>
                  <a:srgbClr val="A9B6C2"/>
                </a:solidFill>
              </a:rPr>
              <a:t>→</a:t>
            </a:r>
            <a:endParaRPr lang="en-US" sz="3200" dirty="0"/>
          </a:p>
        </p:txBody>
      </p:sp>
      <p:sp>
        <p:nvSpPr>
          <p:cNvPr id="27" name="Shape 25"/>
          <p:cNvSpPr/>
          <p:nvPr/>
        </p:nvSpPr>
        <p:spPr>
          <a:xfrm>
            <a:off x="5989320" y="1783080"/>
            <a:ext cx="5650992" cy="2148840"/>
          </a:xfrm>
          <a:prstGeom prst="roundRect">
            <a:avLst>
              <a:gd name="adj" fmla="val 4255"/>
            </a:avLst>
          </a:prstGeom>
          <a:solidFill>
            <a:srgbClr val="0E7C86"/>
          </a:solidFill>
          <a:ln w="12700">
            <a:solidFill>
              <a:srgbClr val="0E7C86"/>
            </a:solidFill>
            <a:prstDash val="solid"/>
          </a:ln>
        </p:spPr>
        <p:txBody>
          <a:bodyPr/>
          <a:lstStyle/>
          <a:p>
            <a:endParaRPr lang="en-US"/>
          </a:p>
        </p:txBody>
      </p:sp>
      <p:sp>
        <p:nvSpPr>
          <p:cNvPr id="28" name="Text 26"/>
          <p:cNvSpPr txBox="1"/>
          <p:nvPr/>
        </p:nvSpPr>
        <p:spPr>
          <a:xfrm>
            <a:off x="6263640" y="1938528"/>
            <a:ext cx="5120640" cy="256032"/>
          </a:xfrm>
          <a:prstGeom prst="rect">
            <a:avLst/>
          </a:prstGeom>
          <a:noFill/>
          <a:ln/>
        </p:spPr>
        <p:txBody>
          <a:bodyPr wrap="square" lIns="0" tIns="0" rIns="0" bIns="0" rtlCol="0" anchor="ctr"/>
          <a:lstStyle/>
          <a:p>
            <a:pPr marL="0" indent="0">
              <a:buNone/>
            </a:pPr>
            <a:r>
              <a:rPr lang="en-US" sz="1000" b="1" kern="0" spc="200" dirty="0">
                <a:solidFill>
                  <a:srgbClr val="FFFFFF"/>
                </a:solidFill>
              </a:rPr>
              <a:t>ONE STANDARD CONCEPT</a:t>
            </a:r>
            <a:endParaRPr lang="en-US" sz="1000" dirty="0"/>
          </a:p>
        </p:txBody>
      </p:sp>
      <p:sp>
        <p:nvSpPr>
          <p:cNvPr id="29" name="Text 27"/>
          <p:cNvSpPr txBox="1"/>
          <p:nvPr/>
        </p:nvSpPr>
        <p:spPr>
          <a:xfrm>
            <a:off x="6263640" y="2212848"/>
            <a:ext cx="5120640" cy="457200"/>
          </a:xfrm>
          <a:prstGeom prst="rect">
            <a:avLst/>
          </a:prstGeom>
          <a:noFill/>
          <a:ln/>
        </p:spPr>
        <p:txBody>
          <a:bodyPr wrap="square" lIns="0" tIns="0" rIns="0" bIns="0" rtlCol="0" anchor="ctr"/>
          <a:lstStyle/>
          <a:p>
            <a:pPr marL="0" indent="0">
              <a:buNone/>
            </a:pPr>
            <a:r>
              <a:rPr lang="en-US" sz="1900" b="1" dirty="0">
                <a:solidFill>
                  <a:srgbClr val="FFFFFF"/>
                </a:solidFill>
              </a:rPr>
              <a:t>warfarin sodium 5 MG Oral Tablet (40163554)</a:t>
            </a:r>
            <a:endParaRPr lang="en-US" sz="1900" dirty="0"/>
          </a:p>
        </p:txBody>
      </p:sp>
      <p:sp>
        <p:nvSpPr>
          <p:cNvPr id="30" name="Text 28"/>
          <p:cNvSpPr txBox="1"/>
          <p:nvPr/>
        </p:nvSpPr>
        <p:spPr>
          <a:xfrm>
            <a:off x="6263640" y="2724912"/>
            <a:ext cx="5120640" cy="1005840"/>
          </a:xfrm>
          <a:prstGeom prst="rect">
            <a:avLst/>
          </a:prstGeom>
          <a:noFill/>
          <a:ln/>
        </p:spPr>
        <p:txBody>
          <a:bodyPr wrap="square" lIns="0" tIns="0" rIns="0" bIns="0" rtlCol="0" anchor="t"/>
          <a:lstStyle/>
          <a:p>
            <a:pPr marL="0" indent="0">
              <a:buNone/>
            </a:pPr>
            <a:r>
              <a:rPr lang="en-US" sz="1300" dirty="0">
                <a:solidFill>
                  <a:srgbClr val="FFFFFF"/>
                </a:solidFill>
              </a:rPr>
              <a:t>An </a:t>
            </a:r>
            <a:r>
              <a:rPr lang="en-US" sz="1300" dirty="0" err="1">
                <a:solidFill>
                  <a:srgbClr val="FFFFFF"/>
                </a:solidFill>
              </a:rPr>
              <a:t>RxNorm</a:t>
            </a:r>
            <a:r>
              <a:rPr lang="en-US" sz="1300" dirty="0">
                <a:solidFill>
                  <a:srgbClr val="FFFFFF"/>
                </a:solidFill>
              </a:rPr>
              <a:t> clinical drug, recorded in </a:t>
            </a:r>
            <a:r>
              <a:rPr lang="en-US" sz="1300" dirty="0" err="1">
                <a:solidFill>
                  <a:srgbClr val="FFFFFF"/>
                </a:solidFill>
              </a:rPr>
              <a:t>drug_exposure</a:t>
            </a:r>
            <a:r>
              <a:rPr lang="en-US" sz="1300" dirty="0">
                <a:solidFill>
                  <a:srgbClr val="FFFFFF"/>
                </a:solidFill>
              </a:rPr>
              <a:t> as “Prescription dispensed in pharmacy”</a:t>
            </a:r>
            <a:endParaRPr lang="en-US" sz="1300" dirty="0"/>
          </a:p>
        </p:txBody>
      </p:sp>
      <p:sp>
        <p:nvSpPr>
          <p:cNvPr id="31" name="Researcher takeaway"/>
          <p:cNvSpPr/>
          <p:nvPr/>
        </p:nvSpPr>
        <p:spPr>
          <a:xfrm>
            <a:off x="548640" y="4114800"/>
            <a:ext cx="11091672" cy="1463040"/>
          </a:xfrm>
          <a:prstGeom prst="roundRect">
            <a:avLst>
              <a:gd name="adj" fmla="val 5000"/>
            </a:avLst>
          </a:prstGeom>
          <a:solidFill>
            <a:srgbClr val="E4F2F3"/>
          </a:solidFill>
          <a:ln w="12700">
            <a:solidFill>
              <a:srgbClr val="E4F2F3"/>
            </a:solidFill>
            <a:prstDash val="solid"/>
          </a:ln>
        </p:spPr>
        <p:txBody>
          <a:bodyPr/>
          <a:lstStyle/>
          <a:p>
            <a:endParaRPr lang="en-US"/>
          </a:p>
        </p:txBody>
      </p:sp>
      <p:sp>
        <p:nvSpPr>
          <p:cNvPr id="32" name="Text 30"/>
          <p:cNvSpPr txBox="1"/>
          <p:nvPr/>
        </p:nvSpPr>
        <p:spPr>
          <a:xfrm>
            <a:off x="777240" y="4224528"/>
            <a:ext cx="10634472" cy="124358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Many source codes do not make a broad concept set. This cohort captures one strength of one formulation. That suits a study of 5 mg tablets, but it is too </a:t>
            </a:r>
            <a:r>
              <a:rPr lang="en-US" sz="1300" dirty="0">
                <a:solidFill>
                  <a:srgbClr val="16263A"/>
                </a:solidFill>
              </a:rPr>
              <a:t>narrow for a study of any warfarin use.</a:t>
            </a:r>
            <a:endParaRPr lang="en-US" sz="1000">
              <a:ea typeface="Calibri"/>
              <a:cs typeface="Calibri"/>
            </a:endParaRPr>
          </a:p>
        </p:txBody>
      </p:sp>
      <p:sp>
        <p:nvSpPr>
          <p:cNvPr id="33"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5" name="Text 32"/>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Cohort code use  (cohort: user_of_warfarin)</a:t>
            </a:r>
            <a:endParaRPr lang="en-US" sz="1200" dirty="0"/>
          </a:p>
        </p:txBody>
      </p:sp>
      <p:sp>
        <p:nvSpPr>
          <p:cNvPr id="36" name="Text 33"/>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7"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ORPHAN CODES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Orphan Codes: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related concept with </a:t>
            </a:r>
            <a:r>
              <a:rPr lang="en-US" sz="1600" b="1" dirty="0">
                <a:solidFill>
                  <a:srgbClr val="B03A2E"/>
                </a:solidFill>
              </a:rPr>
              <a:t>4,517 records</a:t>
            </a:r>
            <a:r>
              <a:rPr lang="en-US" sz="1600" dirty="0">
                <a:solidFill>
                  <a:srgbClr val="556677"/>
                </a:solidFill>
              </a:rPr>
              <a:t> is missing from the hypertension codelist</a:t>
            </a:r>
            <a:endParaRPr lang="en-US" sz="1600" dirty="0"/>
          </a:p>
        </p:txBody>
      </p:sp>
      <p:graphicFrame>
        <p:nvGraphicFramePr>
          <p:cNvPr id="9" name="Chart 0"/>
          <p:cNvGraphicFramePr/>
          <p:nvPr/>
        </p:nvGraphicFramePr>
        <p:xfrm>
          <a:off x="457200" y="1737360"/>
          <a:ext cx="6583680" cy="31089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2710397671"/>
              </p:ext>
            </p:extLst>
          </p:nvPr>
        </p:nvGraphicFramePr>
        <p:xfrm>
          <a:off x="7269480" y="1783080"/>
          <a:ext cx="4370832" cy="2423160"/>
        </p:xfrm>
        <a:graphic>
          <a:graphicData uri="http://schemas.openxmlformats.org/drawingml/2006/table">
            <a:tbl>
              <a:tblPr/>
              <a:tblGrid>
                <a:gridCol w="1783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73352">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Orphan concept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Relationship</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Suggested action</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Benign essential hypertension (312648)</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Descendant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Likely add: same disease, different billing code</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Malignant essential hypertension (317898)</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Descendant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Decide with a clinician for the study question</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Hypertensive disorder (316866)</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Ancestor</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lvl="0" algn="l">
                        <a:lnSpc>
                          <a:spcPct val="100000"/>
                        </a:lnSpc>
                        <a:spcBef>
                          <a:spcPts val="0"/>
                        </a:spcBef>
                        <a:spcAft>
                          <a:spcPts val="0"/>
                        </a:spcAft>
                        <a:buNone/>
                      </a:pPr>
                      <a:r>
                        <a:rPr lang="en-US" sz="1100" b="0" i="0" u="none" strike="noStrike" noProof="0">
                          <a:solidFill>
                            <a:srgbClr val="16263A"/>
                          </a:solidFill>
                          <a:latin typeface="Calibri"/>
                          <a:ea typeface="Calibri"/>
                          <a:cs typeface="Calibri"/>
                        </a:rPr>
                        <a:t>Decide with a clinician for the study question</a:t>
                      </a: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Researcher takeaway"/>
          <p:cNvSpPr/>
          <p:nvPr/>
        </p:nvSpPr>
        <p:spPr>
          <a:xfrm>
            <a:off x="7269480" y="4343400"/>
            <a:ext cx="4370832" cy="1325880"/>
          </a:xfrm>
          <a:prstGeom prst="roundRect">
            <a:avLst>
              <a:gd name="adj" fmla="val 5517"/>
            </a:avLst>
          </a:prstGeom>
          <a:solidFill>
            <a:srgbClr val="E4F2F3"/>
          </a:solidFill>
          <a:ln w="12700">
            <a:solidFill>
              <a:srgbClr val="E4F2F3"/>
            </a:solidFill>
            <a:prstDash val="solid"/>
          </a:ln>
        </p:spPr>
        <p:txBody>
          <a:bodyPr/>
          <a:lstStyle/>
          <a:p>
            <a:endParaRPr lang="en-US"/>
          </a:p>
        </p:txBody>
      </p:sp>
      <p:sp>
        <p:nvSpPr>
          <p:cNvPr id="12" name="Text 8"/>
          <p:cNvSpPr txBox="1"/>
          <p:nvPr/>
        </p:nvSpPr>
        <p:spPr>
          <a:xfrm>
            <a:off x="7498080" y="4453128"/>
            <a:ext cx="3913632" cy="110642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Counts are database records from ACHILLES, not people. </a:t>
            </a:r>
            <a:r>
              <a:rPr lang="en-US" sz="1300" dirty="0">
                <a:solidFill>
                  <a:srgbClr val="16263A"/>
                </a:solidFill>
              </a:rPr>
              <a:t>A related concept is not automatically an omission: a clinician reviews each one against the study question.</a:t>
            </a:r>
            <a:endParaRPr lang="en-US" sz="1000">
              <a:ea typeface="Calibri"/>
              <a:cs typeface="Calibri"/>
            </a:endParaRPr>
          </a:p>
        </p:txBody>
      </p:sp>
      <p:sp>
        <p:nvSpPr>
          <p:cNvPr id="10" name="Text 9"/>
          <p:cNvSpPr txBox="1"/>
          <p:nvPr/>
        </p:nvSpPr>
        <p:spPr>
          <a:xfrm>
            <a:off x="548640" y="4892040"/>
            <a:ext cx="6492240" cy="365760"/>
          </a:xfrm>
          <a:prstGeom prst="rect">
            <a:avLst/>
          </a:prstGeom>
          <a:noFill/>
          <a:ln/>
        </p:spPr>
        <p:txBody>
          <a:bodyPr wrap="square" lIns="0" tIns="0" rIns="0" bIns="0" rtlCol="0" anchor="ctr"/>
          <a:lstStyle/>
          <a:p>
            <a:pPr marL="0" indent="0">
              <a:buNone/>
            </a:pPr>
            <a:r>
              <a:rPr lang="en-US" sz="1150" i="1" dirty="0">
                <a:solidFill>
                  <a:srgbClr val="556677"/>
                </a:solidFill>
              </a:rPr>
              <a:t>Concepts that the codelist would have caught if descendants had been included.</a:t>
            </a:r>
            <a:endParaRPr lang="en-US" sz="1150" dirty="0"/>
          </a:p>
        </p:txBody>
      </p:sp>
      <p:sp>
        <p:nvSpPr>
          <p:cNvPr id="14"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5"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6" name="Text 11"/>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Orphan codes  (codelist: hypertension)</a:t>
            </a:r>
            <a:endParaRPr lang="en-US" sz="1200" dirty="0"/>
          </a:p>
        </p:txBody>
      </p:sp>
      <p:sp>
        <p:nvSpPr>
          <p:cNvPr id="17" name="Text 12"/>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18</a:t>
            </a:fld>
            <a:endParaRPr lang="en-US"/>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ORPHAN CODES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Orphan Codes: Warfarin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Other strengths and brand names account for at least </a:t>
            </a:r>
            <a:r>
              <a:rPr lang="en-US" sz="1600" b="1" dirty="0">
                <a:solidFill>
                  <a:srgbClr val="B03A2E"/>
                </a:solidFill>
              </a:rPr>
              <a:t>318 records</a:t>
            </a:r>
            <a:r>
              <a:rPr lang="en-US" sz="1600" dirty="0">
                <a:solidFill>
                  <a:srgbClr val="556677"/>
                </a:solidFill>
              </a:rPr>
              <a:t>, compared with 74 in the cohort</a:t>
            </a:r>
            <a:endParaRPr lang="en-US" sz="1600" dirty="0"/>
          </a:p>
        </p:txBody>
      </p:sp>
      <p:graphicFrame>
        <p:nvGraphicFramePr>
          <p:cNvPr id="9" name="Chart 0"/>
          <p:cNvGraphicFramePr/>
          <p:nvPr/>
        </p:nvGraphicFramePr>
        <p:xfrm>
          <a:off x="457200" y="1737360"/>
          <a:ext cx="658368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7"/>
          <p:cNvSpPr txBox="1"/>
          <p:nvPr/>
        </p:nvSpPr>
        <p:spPr>
          <a:xfrm>
            <a:off x="548640" y="5166360"/>
            <a:ext cx="6492240" cy="548640"/>
          </a:xfrm>
          <a:prstGeom prst="rect">
            <a:avLst/>
          </a:prstGeom>
          <a:noFill/>
          <a:ln/>
        </p:spPr>
        <p:txBody>
          <a:bodyPr wrap="square" lIns="0" tIns="0" rIns="0" bIns="0" rtlCol="0" anchor="t"/>
          <a:lstStyle/>
          <a:p>
            <a:pPr marL="0" indent="0">
              <a:buNone/>
            </a:pPr>
            <a:r>
              <a:rPr lang="en-US" sz="1050" i="1">
                <a:solidFill>
                  <a:srgbClr val="556677"/>
                </a:solidFill>
              </a:rPr>
              <a:t>The 5 mg bar shows the cohort's qualifying records; other bars show orphan-code records from ACHILLES</a:t>
            </a:r>
            <a:endParaRPr lang="en-US" sz="1050" i="1">
              <a:solidFill>
                <a:srgbClr val="556677"/>
              </a:solidFill>
              <a:ea typeface="Calibri"/>
              <a:cs typeface="Calibri"/>
            </a:endParaRPr>
          </a:p>
        </p:txBody>
      </p:sp>
      <p:sp>
        <p:nvSpPr>
          <p:cNvPr id="11" name="Shape 8"/>
          <p:cNvSpPr/>
          <p:nvPr/>
        </p:nvSpPr>
        <p:spPr>
          <a:xfrm>
            <a:off x="7269480" y="1783080"/>
            <a:ext cx="4370832" cy="1828800"/>
          </a:xfrm>
          <a:prstGeom prst="roundRect">
            <a:avLst>
              <a:gd name="adj" fmla="val 4000"/>
            </a:avLst>
          </a:prstGeom>
          <a:solidFill>
            <a:srgbClr val="F7F9FB"/>
          </a:solidFill>
          <a:ln w="12700">
            <a:solidFill>
              <a:srgbClr val="DCE3E9"/>
            </a:solidFill>
            <a:prstDash val="solid"/>
          </a:ln>
        </p:spPr>
        <p:txBody>
          <a:bodyPr/>
          <a:lstStyle/>
          <a:p>
            <a:endParaRPr lang="en-US"/>
          </a:p>
        </p:txBody>
      </p:sp>
      <p:sp>
        <p:nvSpPr>
          <p:cNvPr id="12" name="Text 9"/>
          <p:cNvSpPr txBox="1"/>
          <p:nvPr/>
        </p:nvSpPr>
        <p:spPr>
          <a:xfrm>
            <a:off x="7498080" y="1920240"/>
            <a:ext cx="3931920" cy="1600200"/>
          </a:xfrm>
          <a:prstGeom prst="rect">
            <a:avLst/>
          </a:prstGeom>
          <a:noFill/>
          <a:ln/>
        </p:spPr>
        <p:txBody>
          <a:bodyPr wrap="square" lIns="0" tIns="0" rIns="0" bIns="0" rtlCol="0" anchor="t"/>
          <a:lstStyle/>
          <a:p>
            <a:pPr marL="0" indent="0">
              <a:spcAft>
                <a:spcPts val="400"/>
              </a:spcAft>
              <a:buNone/>
            </a:pPr>
            <a:r>
              <a:rPr lang="en-US" sz="1300" b="1" dirty="0">
                <a:solidFill>
                  <a:srgbClr val="0B2545"/>
                </a:solidFill>
              </a:rPr>
              <a:t>21 orphan concepts were found</a:t>
            </a:r>
            <a:endParaRPr lang="en-US" sz="1300" dirty="0"/>
          </a:p>
          <a:p>
            <a:pPr marL="0" indent="0">
              <a:spcAft>
                <a:spcPts val="400"/>
              </a:spcAft>
              <a:buNone/>
            </a:pPr>
            <a:r>
              <a:rPr lang="en-US" sz="1300" dirty="0">
                <a:solidFill>
                  <a:srgbClr val="16263A"/>
                </a:solidFill>
              </a:rPr>
              <a:t>They are other strengths of warfarin sodium oral tablet (1, 2, 2.5, 3, 4, 6, 7.5 and 10 mg) and brand-name products (Coumadin, Jantoven), including the branded 5 mg tablet itself.</a:t>
            </a:r>
            <a:endParaRPr lang="en-US" sz="1300" dirty="0"/>
          </a:p>
        </p:txBody>
      </p:sp>
      <p:sp>
        <p:nvSpPr>
          <p:cNvPr id="13" name="Researcher takeaway"/>
          <p:cNvSpPr/>
          <p:nvPr/>
        </p:nvSpPr>
        <p:spPr>
          <a:xfrm>
            <a:off x="7269480" y="3794760"/>
            <a:ext cx="4370832" cy="1874520"/>
          </a:xfrm>
          <a:prstGeom prst="roundRect">
            <a:avLst>
              <a:gd name="adj" fmla="val 3902"/>
            </a:avLst>
          </a:prstGeom>
          <a:solidFill>
            <a:srgbClr val="E4F2F3"/>
          </a:solidFill>
          <a:ln w="12700">
            <a:solidFill>
              <a:srgbClr val="E4F2F3"/>
            </a:solidFill>
            <a:prstDash val="solid"/>
          </a:ln>
        </p:spPr>
        <p:txBody>
          <a:bodyPr/>
          <a:lstStyle/>
          <a:p>
            <a:endParaRPr lang="en-US"/>
          </a:p>
        </p:txBody>
      </p:sp>
      <p:sp>
        <p:nvSpPr>
          <p:cNvPr id="14" name="Text 11"/>
          <p:cNvSpPr txBox="1"/>
          <p:nvPr/>
        </p:nvSpPr>
        <p:spPr>
          <a:xfrm>
            <a:off x="7498080" y="3904488"/>
            <a:ext cx="3913632" cy="165506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400" dirty="0">
              <a:solidFill>
                <a:srgbClr val="16263A"/>
              </a:solidFill>
            </a:endParaRPr>
          </a:p>
          <a:p>
            <a:r>
              <a:rPr lang="en-US" sz="1400" dirty="0">
                <a:solidFill>
                  <a:srgbClr val="16263A"/>
                </a:solidFill>
              </a:rPr>
              <a:t>For a study of any warfarin use, the concept set should start from the warfarin ingredient and include all its descendants. All other Warfarin strength besides 5 mg may be left out by design. This would be confirmed with epi.</a:t>
            </a:r>
            <a:endParaRPr lang="en-US" sz="1400" dirty="0">
              <a:ea typeface="Calibri"/>
              <a:cs typeface="Calibri"/>
            </a:endParaRPr>
          </a:p>
        </p:txBody>
      </p:sp>
      <p:sp>
        <p:nvSpPr>
          <p:cNvPr id="15"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6"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7" name="Text 13"/>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Orphan codes  (codelist: user_of_warfarin)</a:t>
            </a:r>
            <a:endParaRPr lang="en-US" sz="1200" dirty="0"/>
          </a:p>
        </p:txBody>
      </p:sp>
      <p:sp>
        <p:nvSpPr>
          <p:cNvPr id="18" name="Text 14"/>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19</a:t>
            </a:fld>
            <a:endParaRPr lang="en-US"/>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03</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Cohort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Describe who entered each cohort and how they compare with others</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a:solidFill>
                  <a:srgbClr val="FFFFFF"/>
                </a:solidFill>
              </a:rPr>
              <a:t>It shows whether the people selected look clinically coherent, and </a:t>
            </a:r>
            <a:r>
              <a:rPr lang="en-US" sz="1400" dirty="0">
                <a:solidFill>
                  <a:srgbClr val="FFFFFF"/>
                </a:solidFill>
              </a:rPr>
              <a:t>whether the definition's rules behave as intended.</a:t>
            </a:r>
            <a:endParaRPr lang="en-US" sz="1050">
              <a:ea typeface="Calibri"/>
              <a:cs typeface="Calibri"/>
            </a:endParaRPr>
          </a:p>
        </p:txBody>
      </p:sp>
      <p:sp>
        <p:nvSpPr>
          <p:cNvPr id="10" name="Tab Cohort count"/>
          <p:cNvSpPr/>
          <p:nvPr/>
        </p:nvSpPr>
        <p:spPr>
          <a:xfrm>
            <a:off x="6583680" y="914400"/>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count</a:t>
            </a:r>
            <a:endParaRPr lang="en-US" sz="1500" dirty="0"/>
          </a:p>
          <a:p>
            <a:pPr marL="0" indent="0">
              <a:buNone/>
            </a:pPr>
            <a:r>
              <a:rPr lang="en-US" sz="1200" dirty="0">
                <a:solidFill>
                  <a:srgbClr val="16263A"/>
                </a:solidFill>
              </a:rPr>
              <a:t>Records and people in each cohort, with the attrition at each step of the definition.</a:t>
            </a:r>
            <a:endParaRPr lang="en-US" sz="1500" dirty="0"/>
          </a:p>
        </p:txBody>
      </p:sp>
      <p:sp>
        <p:nvSpPr>
          <p:cNvPr id="12" name="Tab Cohort characteristics"/>
          <p:cNvSpPr/>
          <p:nvPr/>
        </p:nvSpPr>
        <p:spPr>
          <a:xfrm>
            <a:off x="6583680" y="1789176"/>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1789176"/>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characteristics</a:t>
            </a:r>
            <a:endParaRPr lang="en-US" sz="1500" dirty="0"/>
          </a:p>
          <a:p>
            <a:pPr marL="0" indent="0">
              <a:buNone/>
            </a:pPr>
            <a:r>
              <a:rPr lang="en-US" sz="1200" dirty="0">
                <a:solidFill>
                  <a:srgbClr val="16263A"/>
                </a:solidFill>
              </a:rPr>
              <a:t>Demographics, observation time and healthcare use at cohort entry.</a:t>
            </a:r>
            <a:endParaRPr lang="en-US" sz="1500" dirty="0"/>
          </a:p>
        </p:txBody>
      </p:sp>
      <p:sp>
        <p:nvSpPr>
          <p:cNvPr id="14" name="Tab Large scale characteristics"/>
          <p:cNvSpPr/>
          <p:nvPr/>
        </p:nvSpPr>
        <p:spPr>
          <a:xfrm>
            <a:off x="6583680" y="2663952"/>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6812280" y="2663952"/>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Large scale characteristics</a:t>
            </a:r>
            <a:endParaRPr lang="en-US" sz="1500" dirty="0"/>
          </a:p>
          <a:p>
            <a:pPr marL="0" indent="0">
              <a:buNone/>
            </a:pPr>
            <a:r>
              <a:rPr lang="en-US" sz="1200" dirty="0">
                <a:solidFill>
                  <a:srgbClr val="16263A"/>
                </a:solidFill>
              </a:rPr>
              <a:t>Every concept recorded in time windows before and after entry.</a:t>
            </a:r>
            <a:endParaRPr lang="en-US" sz="1500" dirty="0"/>
          </a:p>
        </p:txBody>
      </p:sp>
      <p:sp>
        <p:nvSpPr>
          <p:cNvPr id="16" name="Tab Compare large scale characteristics"/>
          <p:cNvSpPr/>
          <p:nvPr/>
        </p:nvSpPr>
        <p:spPr>
          <a:xfrm>
            <a:off x="6583680" y="3538728"/>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7" name="Text 15"/>
          <p:cNvSpPr txBox="1"/>
          <p:nvPr/>
        </p:nvSpPr>
        <p:spPr>
          <a:xfrm>
            <a:off x="6812280" y="3538728"/>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Compare large scale characteristics</a:t>
            </a:r>
            <a:endParaRPr lang="en-US" sz="1500" dirty="0"/>
          </a:p>
          <a:p>
            <a:pPr marL="0" indent="0">
              <a:buNone/>
            </a:pPr>
            <a:r>
              <a:rPr lang="en-US" sz="1200" dirty="0">
                <a:solidFill>
                  <a:srgbClr val="16263A"/>
                </a:solidFill>
              </a:rPr>
              <a:t>The same concepts compared between two cohorts, such as a cohort and its matched controls.</a:t>
            </a:r>
            <a:endParaRPr lang="en-US" sz="1500" dirty="0"/>
          </a:p>
        </p:txBody>
      </p:sp>
      <p:sp>
        <p:nvSpPr>
          <p:cNvPr id="18" name="Tab Compare cohorts"/>
          <p:cNvSpPr/>
          <p:nvPr/>
        </p:nvSpPr>
        <p:spPr>
          <a:xfrm>
            <a:off x="6583680" y="4413504"/>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6812280" y="4413504"/>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Compare cohorts</a:t>
            </a:r>
            <a:endParaRPr lang="en-US" sz="1500" dirty="0"/>
          </a:p>
          <a:p>
            <a:pPr marL="0" indent="0">
              <a:buNone/>
            </a:pPr>
            <a:r>
              <a:rPr lang="en-US" sz="1200" dirty="0">
                <a:solidFill>
                  <a:srgbClr val="16263A"/>
                </a:solidFill>
              </a:rPr>
              <a:t>How many people two cohorts share, and how far apart their entries are.</a:t>
            </a:r>
            <a:endParaRPr lang="en-US" sz="1500" dirty="0"/>
          </a:p>
        </p:txBody>
      </p:sp>
      <p:sp>
        <p:nvSpPr>
          <p:cNvPr id="20" name="Tab Cohort survival"/>
          <p:cNvSpPr/>
          <p:nvPr/>
        </p:nvSpPr>
        <p:spPr>
          <a:xfrm>
            <a:off x="6583680" y="5288280"/>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21" name="Text 19"/>
          <p:cNvSpPr txBox="1"/>
          <p:nvPr/>
        </p:nvSpPr>
        <p:spPr>
          <a:xfrm>
            <a:off x="6812280" y="5288280"/>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survival</a:t>
            </a:r>
            <a:endParaRPr lang="en-US" sz="1500" dirty="0"/>
          </a:p>
          <a:p>
            <a:pPr marL="0" indent="0">
              <a:buNone/>
            </a:pPr>
            <a:r>
              <a:rPr lang="en-US" sz="1200" dirty="0">
                <a:solidFill>
                  <a:srgbClr val="16263A"/>
                </a:solidFill>
              </a:rPr>
              <a:t>Time from cohort entry to death, compared with matched controls.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COUNT</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Count and Attrition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Merging records changes the record counts, but </a:t>
            </a:r>
            <a:r>
              <a:rPr lang="en-US" sz="1600" b="1" dirty="0">
                <a:solidFill>
                  <a:srgbClr val="C8702A"/>
                </a:solidFill>
              </a:rPr>
              <a:t>no person is excluded</a:t>
            </a:r>
            <a:r>
              <a:rPr lang="en-US" sz="1600" dirty="0">
                <a:solidFill>
                  <a:srgbClr val="556677"/>
                </a:solidFill>
              </a:rPr>
              <a:t> from either cohort</a:t>
            </a:r>
            <a:endParaRPr lang="en-US" sz="1600" dirty="0"/>
          </a:p>
        </p:txBody>
      </p:sp>
      <p:sp>
        <p:nvSpPr>
          <p:cNvPr id="9" name="Text 7"/>
          <p:cNvSpPr txBox="1"/>
          <p:nvPr/>
        </p:nvSpPr>
        <p:spPr>
          <a:xfrm>
            <a:off x="548640" y="1737360"/>
            <a:ext cx="3749040" cy="347472"/>
          </a:xfrm>
          <a:prstGeom prst="rect">
            <a:avLst/>
          </a:prstGeom>
          <a:noFill/>
          <a:ln/>
        </p:spPr>
        <p:txBody>
          <a:bodyPr wrap="square" lIns="0" tIns="0" rIns="0" bIns="0" rtlCol="0" anchor="ctr"/>
          <a:lstStyle/>
          <a:p>
            <a:pPr marL="0" indent="0">
              <a:buNone/>
            </a:pPr>
            <a:r>
              <a:rPr lang="en-US" sz="1500" b="1" dirty="0">
                <a:solidFill>
                  <a:srgbClr val="C8702A"/>
                </a:solidFill>
                <a:latin typeface="Courier New" pitchFamily="34" charset="0"/>
                <a:ea typeface="Courier New" pitchFamily="34" charset="-122"/>
                <a:cs typeface="Courier New" pitchFamily="34" charset="-120"/>
              </a:rPr>
              <a:t>hypertension</a:t>
            </a:r>
            <a:endParaRPr lang="en-US" sz="1500" dirty="0"/>
          </a:p>
        </p:txBody>
      </p:sp>
      <p:sp>
        <p:nvSpPr>
          <p:cNvPr id="10" name="Shape 8"/>
          <p:cNvSpPr/>
          <p:nvPr/>
        </p:nvSpPr>
        <p:spPr>
          <a:xfrm>
            <a:off x="548640" y="214884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11" name="Text 9"/>
          <p:cNvSpPr txBox="1"/>
          <p:nvPr/>
        </p:nvSpPr>
        <p:spPr>
          <a:xfrm>
            <a:off x="731520" y="214884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5,617</a:t>
            </a:r>
            <a:endParaRPr lang="en-US" sz="2400" dirty="0"/>
          </a:p>
        </p:txBody>
      </p:sp>
      <p:sp>
        <p:nvSpPr>
          <p:cNvPr id="12" name="Text 10"/>
          <p:cNvSpPr txBox="1"/>
          <p:nvPr/>
        </p:nvSpPr>
        <p:spPr>
          <a:xfrm>
            <a:off x="1920240" y="2148840"/>
            <a:ext cx="2240280" cy="749808"/>
          </a:xfrm>
          <a:prstGeom prst="rect">
            <a:avLst/>
          </a:prstGeom>
          <a:noFill/>
          <a:ln/>
        </p:spPr>
        <p:txBody>
          <a:bodyPr wrap="square" lIns="0" tIns="0" rIns="0" bIns="0" rtlCol="0" anchor="ctr"/>
          <a:lstStyle/>
          <a:p>
            <a:pPr marL="0" indent="0">
              <a:buNone/>
            </a:pPr>
            <a:r>
              <a:rPr lang="en-US" sz="1200" dirty="0">
                <a:solidFill>
                  <a:srgbClr val="16263A"/>
                </a:solidFill>
              </a:rPr>
              <a:t>initial qualifying records</a:t>
            </a:r>
            <a:endParaRPr lang="en-US" sz="1200" dirty="0"/>
          </a:p>
        </p:txBody>
      </p:sp>
      <p:sp>
        <p:nvSpPr>
          <p:cNvPr id="13" name="Text 11"/>
          <p:cNvSpPr txBox="1"/>
          <p:nvPr/>
        </p:nvSpPr>
        <p:spPr>
          <a:xfrm>
            <a:off x="1005840" y="289864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14" name="Shape 12"/>
          <p:cNvSpPr/>
          <p:nvPr/>
        </p:nvSpPr>
        <p:spPr>
          <a:xfrm>
            <a:off x="548640" y="310896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15" name="Text 13"/>
          <p:cNvSpPr txBox="1"/>
          <p:nvPr/>
        </p:nvSpPr>
        <p:spPr>
          <a:xfrm>
            <a:off x="731520" y="310896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4,211</a:t>
            </a:r>
            <a:endParaRPr lang="en-US" sz="2400" dirty="0"/>
          </a:p>
        </p:txBody>
      </p:sp>
      <p:sp>
        <p:nvSpPr>
          <p:cNvPr id="16" name="Text 14"/>
          <p:cNvSpPr txBox="1"/>
          <p:nvPr/>
        </p:nvSpPr>
        <p:spPr>
          <a:xfrm>
            <a:off x="1920240" y="3108960"/>
            <a:ext cx="2240280" cy="749808"/>
          </a:xfrm>
          <a:prstGeom prst="rect">
            <a:avLst/>
          </a:prstGeom>
          <a:noFill/>
          <a:ln/>
        </p:spPr>
        <p:txBody>
          <a:bodyPr wrap="square" lIns="0" tIns="0" rIns="0" bIns="0" rtlCol="0" anchor="ctr"/>
          <a:lstStyle/>
          <a:p>
            <a:pPr marL="0" indent="0">
              <a:buNone/>
            </a:pPr>
            <a:r>
              <a:rPr lang="en-US" sz="1200" dirty="0">
                <a:solidFill>
                  <a:srgbClr val="16263A"/>
                </a:solidFill>
              </a:rPr>
              <a:t>records after overlapping records are merged</a:t>
            </a:r>
            <a:endParaRPr lang="en-US" sz="1200" dirty="0"/>
          </a:p>
        </p:txBody>
      </p:sp>
      <p:sp>
        <p:nvSpPr>
          <p:cNvPr id="17" name="Text 15"/>
          <p:cNvSpPr txBox="1"/>
          <p:nvPr/>
        </p:nvSpPr>
        <p:spPr>
          <a:xfrm>
            <a:off x="1005840" y="385876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18" name="Shape 16"/>
          <p:cNvSpPr/>
          <p:nvPr/>
        </p:nvSpPr>
        <p:spPr>
          <a:xfrm>
            <a:off x="548640" y="4069080"/>
            <a:ext cx="3749040" cy="749808"/>
          </a:xfrm>
          <a:prstGeom prst="roundRect">
            <a:avLst>
              <a:gd name="adj" fmla="val 9756"/>
            </a:avLst>
          </a:prstGeom>
          <a:solidFill>
            <a:srgbClr val="C8702A"/>
          </a:solidFill>
          <a:ln w="12700">
            <a:solidFill>
              <a:srgbClr val="C8702A"/>
            </a:solidFill>
            <a:prstDash val="solid"/>
          </a:ln>
        </p:spPr>
        <p:txBody>
          <a:bodyPr/>
          <a:lstStyle/>
          <a:p>
            <a:endParaRPr lang="en-US"/>
          </a:p>
        </p:txBody>
      </p:sp>
      <p:sp>
        <p:nvSpPr>
          <p:cNvPr id="19" name="Text 17"/>
          <p:cNvSpPr txBox="1"/>
          <p:nvPr/>
        </p:nvSpPr>
        <p:spPr>
          <a:xfrm>
            <a:off x="731520" y="4069080"/>
            <a:ext cx="1143000" cy="749808"/>
          </a:xfrm>
          <a:prstGeom prst="rect">
            <a:avLst/>
          </a:prstGeom>
          <a:noFill/>
          <a:ln/>
        </p:spPr>
        <p:txBody>
          <a:bodyPr wrap="square" lIns="0" tIns="0" rIns="0" bIns="0" rtlCol="0" anchor="ctr"/>
          <a:lstStyle/>
          <a:p>
            <a:pPr marL="0" indent="0">
              <a:buNone/>
            </a:pPr>
            <a:r>
              <a:rPr lang="en-US" sz="2400" b="1" dirty="0">
                <a:solidFill>
                  <a:srgbClr val="FFFFFF"/>
                </a:solidFill>
              </a:rPr>
              <a:t>733</a:t>
            </a:r>
            <a:endParaRPr lang="en-US" sz="2400" dirty="0"/>
          </a:p>
        </p:txBody>
      </p:sp>
      <p:sp>
        <p:nvSpPr>
          <p:cNvPr id="20" name="Text 18"/>
          <p:cNvSpPr txBox="1"/>
          <p:nvPr/>
        </p:nvSpPr>
        <p:spPr>
          <a:xfrm>
            <a:off x="1920240" y="4069080"/>
            <a:ext cx="2240280" cy="749808"/>
          </a:xfrm>
          <a:prstGeom prst="rect">
            <a:avLst/>
          </a:prstGeom>
          <a:noFill/>
          <a:ln/>
        </p:spPr>
        <p:txBody>
          <a:bodyPr wrap="square" lIns="0" tIns="0" rIns="0" bIns="0" rtlCol="0" anchor="ctr"/>
          <a:lstStyle/>
          <a:p>
            <a:pPr marL="0" indent="0">
              <a:buNone/>
            </a:pPr>
            <a:r>
              <a:rPr lang="en-US" sz="1200" dirty="0">
                <a:solidFill>
                  <a:srgbClr val="FFFFFF"/>
                </a:solidFill>
              </a:rPr>
              <a:t>cohort records after exit is set to the end of observation</a:t>
            </a:r>
            <a:endParaRPr lang="en-US" sz="1200" dirty="0"/>
          </a:p>
        </p:txBody>
      </p:sp>
      <p:sp>
        <p:nvSpPr>
          <p:cNvPr id="21" name="Text 19"/>
          <p:cNvSpPr txBox="1"/>
          <p:nvPr/>
        </p:nvSpPr>
        <p:spPr>
          <a:xfrm>
            <a:off x="548640" y="5074920"/>
            <a:ext cx="3749040" cy="365760"/>
          </a:xfrm>
          <a:prstGeom prst="rect">
            <a:avLst/>
          </a:prstGeom>
          <a:noFill/>
          <a:ln/>
        </p:spPr>
        <p:txBody>
          <a:bodyPr wrap="square" lIns="0" tIns="0" rIns="0" bIns="0" rtlCol="0" anchor="ctr"/>
          <a:lstStyle/>
          <a:p>
            <a:pPr marL="0" indent="0">
              <a:buNone/>
            </a:pPr>
            <a:r>
              <a:rPr lang="en-US" sz="1350" b="1" dirty="0">
                <a:solidFill>
                  <a:srgbClr val="0B2545"/>
                </a:solidFill>
              </a:rPr>
              <a:t>728 people at every step</a:t>
            </a:r>
            <a:endParaRPr lang="en-US" sz="1350" dirty="0"/>
          </a:p>
        </p:txBody>
      </p:sp>
      <p:sp>
        <p:nvSpPr>
          <p:cNvPr id="22" name="Text 20"/>
          <p:cNvSpPr txBox="1"/>
          <p:nvPr/>
        </p:nvSpPr>
        <p:spPr>
          <a:xfrm>
            <a:off x="4526280" y="1737360"/>
            <a:ext cx="3749040" cy="347472"/>
          </a:xfrm>
          <a:prstGeom prst="rect">
            <a:avLst/>
          </a:prstGeom>
          <a:noFill/>
          <a:ln/>
        </p:spPr>
        <p:txBody>
          <a:bodyPr wrap="square" lIns="0" tIns="0" rIns="0" bIns="0" rtlCol="0" anchor="ctr"/>
          <a:lstStyle/>
          <a:p>
            <a:pPr marL="0" indent="0">
              <a:buNone/>
            </a:pPr>
            <a:r>
              <a:rPr lang="en-US" sz="1500" b="1" dirty="0">
                <a:solidFill>
                  <a:srgbClr val="C8702A"/>
                </a:solidFill>
                <a:latin typeface="Courier New" pitchFamily="34" charset="0"/>
                <a:ea typeface="Courier New" pitchFamily="34" charset="-122"/>
                <a:cs typeface="Courier New" pitchFamily="34" charset="-120"/>
              </a:rPr>
              <a:t>user_of_warfarin</a:t>
            </a:r>
            <a:endParaRPr lang="en-US" sz="1500" dirty="0"/>
          </a:p>
        </p:txBody>
      </p:sp>
      <p:sp>
        <p:nvSpPr>
          <p:cNvPr id="23" name="Shape 21"/>
          <p:cNvSpPr/>
          <p:nvPr/>
        </p:nvSpPr>
        <p:spPr>
          <a:xfrm>
            <a:off x="4526280" y="214884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24" name="Text 22"/>
          <p:cNvSpPr txBox="1"/>
          <p:nvPr/>
        </p:nvSpPr>
        <p:spPr>
          <a:xfrm>
            <a:off x="4709160" y="214884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74</a:t>
            </a:r>
            <a:endParaRPr lang="en-US" sz="2400" dirty="0"/>
          </a:p>
        </p:txBody>
      </p:sp>
      <p:sp>
        <p:nvSpPr>
          <p:cNvPr id="25" name="Text 23"/>
          <p:cNvSpPr txBox="1"/>
          <p:nvPr/>
        </p:nvSpPr>
        <p:spPr>
          <a:xfrm>
            <a:off x="5897880" y="2148840"/>
            <a:ext cx="2240280" cy="749808"/>
          </a:xfrm>
          <a:prstGeom prst="rect">
            <a:avLst/>
          </a:prstGeom>
          <a:noFill/>
          <a:ln/>
        </p:spPr>
        <p:txBody>
          <a:bodyPr wrap="square" lIns="0" tIns="0" rIns="0" bIns="0" rtlCol="0" anchor="ctr"/>
          <a:lstStyle/>
          <a:p>
            <a:pPr marL="0" indent="0">
              <a:buNone/>
            </a:pPr>
            <a:r>
              <a:rPr lang="en-US" sz="1200" dirty="0">
                <a:solidFill>
                  <a:srgbClr val="16263A"/>
                </a:solidFill>
              </a:rPr>
              <a:t>initial qualifying records</a:t>
            </a:r>
            <a:endParaRPr lang="en-US" sz="1200" dirty="0"/>
          </a:p>
        </p:txBody>
      </p:sp>
      <p:sp>
        <p:nvSpPr>
          <p:cNvPr id="26" name="Text 24"/>
          <p:cNvSpPr txBox="1"/>
          <p:nvPr/>
        </p:nvSpPr>
        <p:spPr>
          <a:xfrm>
            <a:off x="4983480" y="289864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27" name="Shape 25"/>
          <p:cNvSpPr/>
          <p:nvPr/>
        </p:nvSpPr>
        <p:spPr>
          <a:xfrm>
            <a:off x="4526280" y="3108960"/>
            <a:ext cx="3749040" cy="749808"/>
          </a:xfrm>
          <a:prstGeom prst="roundRect">
            <a:avLst>
              <a:gd name="adj" fmla="val 9756"/>
            </a:avLst>
          </a:prstGeom>
          <a:solidFill>
            <a:srgbClr val="C8702A"/>
          </a:solidFill>
          <a:ln w="12700">
            <a:solidFill>
              <a:srgbClr val="C8702A"/>
            </a:solidFill>
            <a:prstDash val="solid"/>
          </a:ln>
        </p:spPr>
        <p:txBody>
          <a:bodyPr/>
          <a:lstStyle/>
          <a:p>
            <a:endParaRPr lang="en-US"/>
          </a:p>
        </p:txBody>
      </p:sp>
      <p:sp>
        <p:nvSpPr>
          <p:cNvPr id="28" name="Text 26"/>
          <p:cNvSpPr txBox="1"/>
          <p:nvPr/>
        </p:nvSpPr>
        <p:spPr>
          <a:xfrm>
            <a:off x="4709160" y="3108960"/>
            <a:ext cx="1143000" cy="749808"/>
          </a:xfrm>
          <a:prstGeom prst="rect">
            <a:avLst/>
          </a:prstGeom>
          <a:noFill/>
          <a:ln/>
        </p:spPr>
        <p:txBody>
          <a:bodyPr wrap="square" lIns="0" tIns="0" rIns="0" bIns="0" rtlCol="0" anchor="ctr"/>
          <a:lstStyle/>
          <a:p>
            <a:pPr marL="0" indent="0">
              <a:buNone/>
            </a:pPr>
            <a:r>
              <a:rPr lang="en-US" sz="2400" b="1" dirty="0">
                <a:solidFill>
                  <a:srgbClr val="FFFFFF"/>
                </a:solidFill>
              </a:rPr>
              <a:t>73</a:t>
            </a:r>
            <a:endParaRPr lang="en-US" sz="2400" dirty="0"/>
          </a:p>
        </p:txBody>
      </p:sp>
      <p:sp>
        <p:nvSpPr>
          <p:cNvPr id="29" name="Text 27"/>
          <p:cNvSpPr txBox="1"/>
          <p:nvPr/>
        </p:nvSpPr>
        <p:spPr>
          <a:xfrm>
            <a:off x="5897880" y="3108960"/>
            <a:ext cx="2240280" cy="749808"/>
          </a:xfrm>
          <a:prstGeom prst="rect">
            <a:avLst/>
          </a:prstGeom>
          <a:noFill/>
          <a:ln/>
        </p:spPr>
        <p:txBody>
          <a:bodyPr wrap="square" lIns="0" tIns="0" rIns="0" bIns="0" rtlCol="0" anchor="ctr"/>
          <a:lstStyle/>
          <a:p>
            <a:pPr marL="0" indent="0">
              <a:buNone/>
            </a:pPr>
            <a:r>
              <a:rPr lang="en-US" sz="1200" dirty="0">
                <a:solidFill>
                  <a:srgbClr val="FFFFFF"/>
                </a:solidFill>
              </a:rPr>
              <a:t>records after overlapping records are merged</a:t>
            </a:r>
            <a:endParaRPr lang="en-US" sz="1200" dirty="0"/>
          </a:p>
        </p:txBody>
      </p:sp>
      <p:sp>
        <p:nvSpPr>
          <p:cNvPr id="30" name="Text 28"/>
          <p:cNvSpPr txBox="1"/>
          <p:nvPr/>
        </p:nvSpPr>
        <p:spPr>
          <a:xfrm>
            <a:off x="4526280" y="5074920"/>
            <a:ext cx="3749040" cy="365760"/>
          </a:xfrm>
          <a:prstGeom prst="rect">
            <a:avLst/>
          </a:prstGeom>
          <a:noFill/>
          <a:ln/>
        </p:spPr>
        <p:txBody>
          <a:bodyPr wrap="square" lIns="0" tIns="0" rIns="0" bIns="0" rtlCol="0" anchor="ctr"/>
          <a:lstStyle/>
          <a:p>
            <a:pPr marL="0" indent="0">
              <a:buNone/>
            </a:pPr>
            <a:r>
              <a:rPr lang="en-US" sz="1350" b="1" dirty="0">
                <a:solidFill>
                  <a:srgbClr val="0B2545"/>
                </a:solidFill>
              </a:rPr>
              <a:t>63 people at every step</a:t>
            </a:r>
            <a:endParaRPr lang="en-US" sz="1350" dirty="0"/>
          </a:p>
        </p:txBody>
      </p:sp>
      <p:sp>
        <p:nvSpPr>
          <p:cNvPr id="31" name="Researcher takeaway"/>
          <p:cNvSpPr/>
          <p:nvPr/>
        </p:nvSpPr>
        <p:spPr>
          <a:xfrm>
            <a:off x="8503920" y="1783080"/>
            <a:ext cx="3136392" cy="3703320"/>
          </a:xfrm>
          <a:prstGeom prst="roundRect">
            <a:avLst>
              <a:gd name="adj" fmla="val 2332"/>
            </a:avLst>
          </a:prstGeom>
          <a:solidFill>
            <a:srgbClr val="FBF0E5"/>
          </a:solidFill>
          <a:ln w="12700">
            <a:solidFill>
              <a:srgbClr val="FBF0E5"/>
            </a:solidFill>
            <a:prstDash val="solid"/>
          </a:ln>
        </p:spPr>
        <p:txBody>
          <a:bodyPr/>
          <a:lstStyle/>
          <a:p>
            <a:endParaRPr lang="en-US"/>
          </a:p>
        </p:txBody>
      </p:sp>
      <p:sp>
        <p:nvSpPr>
          <p:cNvPr id="32" name="Text 30"/>
          <p:cNvSpPr txBox="1"/>
          <p:nvPr/>
        </p:nvSpPr>
        <p:spPr>
          <a:xfrm>
            <a:off x="8732520" y="1892808"/>
            <a:ext cx="2679192" cy="348386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A person can contribute many records, </a:t>
            </a:r>
            <a:r>
              <a:rPr lang="en-US" sz="1300" dirty="0">
                <a:solidFill>
                  <a:srgbClr val="16263A"/>
                </a:solidFill>
              </a:rPr>
              <a:t>so 5,617 records are not 5,617 patients. The attrition also shows what the definitions leave out: there is no age rule, no prior-observation rule, no study window and no repeat-diagnosis rule.</a:t>
            </a:r>
            <a:endParaRPr lang="en-US" sz="1000">
              <a:ea typeface="Calibri"/>
              <a:cs typeface="Calibri"/>
            </a:endParaRPr>
          </a:p>
        </p:txBody>
      </p:sp>
      <p:sp>
        <p:nvSpPr>
          <p:cNvPr id="33"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5" name="Text 32"/>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count  →  Attrition or Flowchart</a:t>
            </a:r>
            <a:endParaRPr lang="en-US" sz="1200" dirty="0"/>
          </a:p>
        </p:txBody>
      </p:sp>
      <p:sp>
        <p:nvSpPr>
          <p:cNvPr id="36" name="Text 33"/>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7"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Characteristics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Warfarin episodes last a median of </a:t>
            </a:r>
            <a:r>
              <a:rPr lang="en-US" sz="1600" b="1" dirty="0">
                <a:solidFill>
                  <a:srgbClr val="B03A2E"/>
                </a:solidFill>
              </a:rPr>
              <a:t>30 days</a:t>
            </a:r>
            <a:r>
              <a:rPr lang="en-US" sz="1600" dirty="0">
                <a:solidFill>
                  <a:srgbClr val="556677"/>
                </a:solidFill>
              </a:rPr>
              <a:t>: one dispensing, not a course of treatment</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291840"/>
        </p:xfrm>
        <a:graphic>
          <a:graphicData uri="http://schemas.openxmlformats.org/drawingml/2006/table">
            <a:tbl>
              <a:tblPr/>
              <a:tblGrid>
                <a:gridCol w="3017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cohort entry (calculated by record)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hypertension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user_of_warfarin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Records and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733 records, 728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 records, 63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Matches the attrition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age [IQR]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 [66–81]</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74 [67–83]</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Expected in an older population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Female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Plausible in a small cohort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prior observation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152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398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Many hypertension entries occur soon after the data start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days in cohort [IQR]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926 [720–1,015]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30 [30–30]</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Each warfarin episode is a single 30-day dispensing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visits in the prior year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Warfarin users have more contact with healthcare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Researcher takeaway"/>
          <p:cNvSpPr/>
          <p:nvPr/>
        </p:nvSpPr>
        <p:spPr>
          <a:xfrm>
            <a:off x="548640" y="5074920"/>
            <a:ext cx="11091672" cy="685800"/>
          </a:xfrm>
          <a:prstGeom prst="roundRect">
            <a:avLst>
              <a:gd name="adj" fmla="val 10667"/>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777240" y="5184648"/>
            <a:ext cx="10634472" cy="46634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“First recorded” is not “first diagnosed”: half of the hypertension cohort entered within five months of the data starting. A “warfarin user” here is a person with one 30-day dispensing.</a:t>
            </a:r>
            <a:endParaRPr lang="en-US" sz="1000" dirty="0"/>
          </a:p>
        </p:txBody>
      </p:sp>
      <p:sp>
        <p:nvSpPr>
          <p:cNvPr id="12"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3" name="Image 0" descr="preencoded.png"/>
          <p:cNvPicPr>
            <a:picLocks noChangeAspect="1"/>
          </p:cNvPicPr>
          <p:nvPr/>
        </p:nvPicPr>
        <p:blipFill>
          <a:blip r:embed="rId4"/>
          <a:stretch>
            <a:fillRect/>
          </a:stretch>
        </p:blipFill>
        <p:spPr>
          <a:xfrm>
            <a:off x="704088" y="5984748"/>
            <a:ext cx="137160" cy="137160"/>
          </a:xfrm>
          <a:prstGeom prst="rect">
            <a:avLst/>
          </a:prstGeom>
        </p:spPr>
      </p:pic>
      <p:sp>
        <p:nvSpPr>
          <p:cNvPr id="14" name="Text 1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characteristics  (both cohorts)</a:t>
            </a:r>
            <a:endParaRPr lang="en-US" sz="1200" dirty="0"/>
          </a:p>
        </p:txBody>
      </p:sp>
      <p:sp>
        <p:nvSpPr>
          <p:cNvPr id="15" name="Text 1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22</a:t>
            </a:fld>
            <a:endParaRPr lang="en-US"/>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LARGE SCALE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Large Scale Characteristics: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r>
              <a:rPr lang="en-US"/>
              <a:t>Patients in the hypertension cohort</a:t>
            </a:r>
            <a:r>
              <a:rPr lang="en-US" sz="1600">
                <a:solidFill>
                  <a:srgbClr val="556677"/>
                </a:solidFill>
              </a:rPr>
              <a:t> had </a:t>
            </a:r>
            <a:r>
              <a:rPr lang="en-US"/>
              <a:t>different condition</a:t>
            </a:r>
            <a:r>
              <a:rPr lang="en-US" sz="1600">
                <a:solidFill>
                  <a:srgbClr val="556677"/>
                </a:solidFill>
              </a:rPr>
              <a:t> </a:t>
            </a:r>
            <a:r>
              <a:rPr lang="en-US"/>
              <a:t>or drug codes</a:t>
            </a:r>
            <a:r>
              <a:rPr lang="en-US" sz="1600">
                <a:solidFill>
                  <a:srgbClr val="556677"/>
                </a:solidFill>
              </a:rPr>
              <a:t> in the year before entry</a:t>
            </a:r>
            <a:endParaRPr lang="en-US" sz="1600">
              <a:ea typeface="Calibri"/>
              <a:cs typeface="Calibri"/>
            </a:endParaRPr>
          </a:p>
        </p:txBody>
      </p:sp>
      <p:graphicFrame>
        <p:nvGraphicFramePr>
          <p:cNvPr id="9" name="Chart 0"/>
          <p:cNvGraphicFramePr/>
          <p:nvPr/>
        </p:nvGraphicFramePr>
        <p:xfrm>
          <a:off x="457200" y="1737360"/>
          <a:ext cx="676656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7"/>
          <p:cNvSpPr/>
          <p:nvPr/>
        </p:nvSpPr>
        <p:spPr>
          <a:xfrm>
            <a:off x="7543800" y="1837944"/>
            <a:ext cx="237744" cy="237744"/>
          </a:xfrm>
          <a:prstGeom prst="ellipse">
            <a:avLst/>
          </a:prstGeom>
          <a:solidFill>
            <a:srgbClr val="C8702A"/>
          </a:solidFill>
          <a:ln w="12700">
            <a:solidFill>
              <a:srgbClr val="C8702A"/>
            </a:solidFill>
            <a:prstDash val="solid"/>
          </a:ln>
        </p:spPr>
        <p:txBody>
          <a:bodyPr/>
          <a:lstStyle/>
          <a:p>
            <a:endParaRPr lang="en-US"/>
          </a:p>
        </p:txBody>
      </p:sp>
      <p:sp>
        <p:nvSpPr>
          <p:cNvPr id="11" name="Text 8"/>
          <p:cNvSpPr txBox="1"/>
          <p:nvPr/>
        </p:nvSpPr>
        <p:spPr>
          <a:xfrm>
            <a:off x="7909560" y="1764792"/>
            <a:ext cx="3730752" cy="1097280"/>
          </a:xfrm>
          <a:prstGeom prst="rect">
            <a:avLst/>
          </a:prstGeom>
          <a:noFill/>
          <a:ln/>
        </p:spPr>
        <p:txBody>
          <a:bodyPr wrap="square" lIns="0" tIns="0" rIns="0" bIns="0" rtlCol="0" anchor="t"/>
          <a:lstStyle/>
          <a:p>
            <a:pPr marL="0" indent="0">
              <a:buNone/>
            </a:pPr>
            <a:r>
              <a:rPr lang="en-US" sz="1400" b="1">
                <a:solidFill>
                  <a:srgbClr val="0B2545"/>
                </a:solidFill>
              </a:rPr>
              <a:t>Comorbidities fit the clinical picture</a:t>
            </a:r>
            <a:endParaRPr lang="en-US" sz="1400"/>
          </a:p>
          <a:p>
            <a:pPr marL="0" indent="0">
              <a:buNone/>
            </a:pPr>
            <a:r>
              <a:rPr lang="en-US" sz="1200" dirty="0">
                <a:solidFill>
                  <a:srgbClr val="16263A"/>
                </a:solidFill>
              </a:rPr>
              <a:t>Type 2 diabetes and </a:t>
            </a:r>
            <a:r>
              <a:rPr lang="en-US" sz="1200" dirty="0" err="1">
                <a:solidFill>
                  <a:srgbClr val="16263A"/>
                </a:solidFill>
              </a:rPr>
              <a:t>hyperlipidaemia</a:t>
            </a:r>
            <a:r>
              <a:rPr lang="en-US" sz="1200" dirty="0">
                <a:solidFill>
                  <a:srgbClr val="16263A"/>
                </a:solidFill>
              </a:rPr>
              <a:t> are common, as expected in hypertension.</a:t>
            </a:r>
            <a:endParaRPr lang="en-US" sz="1400" dirty="0"/>
          </a:p>
        </p:txBody>
      </p:sp>
      <p:sp>
        <p:nvSpPr>
          <p:cNvPr id="12" name="Shape 9"/>
          <p:cNvSpPr/>
          <p:nvPr/>
        </p:nvSpPr>
        <p:spPr>
          <a:xfrm>
            <a:off x="7543800" y="3026664"/>
            <a:ext cx="237744" cy="237744"/>
          </a:xfrm>
          <a:prstGeom prst="ellipse">
            <a:avLst/>
          </a:prstGeom>
          <a:solidFill>
            <a:srgbClr val="B03A2E"/>
          </a:solidFill>
          <a:ln w="12700">
            <a:solidFill>
              <a:srgbClr val="B03A2E"/>
            </a:solidFill>
            <a:prstDash val="solid"/>
          </a:ln>
        </p:spPr>
        <p:txBody>
          <a:bodyPr/>
          <a:lstStyle/>
          <a:p>
            <a:endParaRPr lang="en-US"/>
          </a:p>
        </p:txBody>
      </p:sp>
      <p:sp>
        <p:nvSpPr>
          <p:cNvPr id="13" name="Text 10"/>
          <p:cNvSpPr txBox="1"/>
          <p:nvPr/>
        </p:nvSpPr>
        <p:spPr>
          <a:xfrm>
            <a:off x="7909560" y="2953512"/>
            <a:ext cx="3730752" cy="1097280"/>
          </a:xfrm>
          <a:prstGeom prst="rect">
            <a:avLst/>
          </a:prstGeom>
          <a:noFill/>
          <a:ln/>
        </p:spPr>
        <p:txBody>
          <a:bodyPr wrap="square" lIns="0" tIns="0" rIns="0" bIns="0" rtlCol="0" anchor="t"/>
          <a:lstStyle/>
          <a:p>
            <a:pPr marL="0" indent="0">
              <a:buNone/>
            </a:pPr>
            <a:r>
              <a:rPr lang="en-US" sz="1400" b="1">
                <a:solidFill>
                  <a:srgbClr val="0B2545"/>
                </a:solidFill>
              </a:rPr>
              <a:t>Hypertension was already recorded</a:t>
            </a:r>
            <a:endParaRPr lang="en-US" sz="1400"/>
          </a:p>
          <a:p>
            <a:pPr marL="0" indent="0">
              <a:buNone/>
            </a:pPr>
            <a:r>
              <a:rPr lang="en-US" sz="1200" dirty="0">
                <a:solidFill>
                  <a:srgbClr val="16263A"/>
                </a:solidFill>
              </a:rPr>
              <a:t>Benign essential hypertension, the orphan code from the </a:t>
            </a:r>
            <a:r>
              <a:rPr lang="en-US" sz="1200" dirty="0" err="1">
                <a:solidFill>
                  <a:srgbClr val="16263A"/>
                </a:solidFill>
              </a:rPr>
              <a:t>codelist</a:t>
            </a:r>
            <a:r>
              <a:rPr lang="en-US" sz="1200" dirty="0">
                <a:solidFill>
                  <a:srgbClr val="16263A"/>
                </a:solidFill>
              </a:rPr>
              <a:t> section, appears before entry for almost a quarter of people.</a:t>
            </a:r>
            <a:endParaRPr lang="en-US" sz="1400" dirty="0"/>
          </a:p>
        </p:txBody>
      </p:sp>
      <p:sp>
        <p:nvSpPr>
          <p:cNvPr id="14" name="Shape 11"/>
          <p:cNvSpPr/>
          <p:nvPr/>
        </p:nvSpPr>
        <p:spPr>
          <a:xfrm>
            <a:off x="7543800" y="4215384"/>
            <a:ext cx="237744" cy="237744"/>
          </a:xfrm>
          <a:prstGeom prst="ellipse">
            <a:avLst/>
          </a:prstGeom>
          <a:solidFill>
            <a:srgbClr val="8A5A2B"/>
          </a:solidFill>
          <a:ln w="12700">
            <a:solidFill>
              <a:srgbClr val="8A5A2B"/>
            </a:solidFill>
            <a:prstDash val="solid"/>
          </a:ln>
        </p:spPr>
        <p:txBody>
          <a:bodyPr/>
          <a:lstStyle/>
          <a:p>
            <a:endParaRPr lang="en-US"/>
          </a:p>
        </p:txBody>
      </p:sp>
      <p:sp>
        <p:nvSpPr>
          <p:cNvPr id="15" name="Text 12"/>
          <p:cNvSpPr txBox="1"/>
          <p:nvPr/>
        </p:nvSpPr>
        <p:spPr>
          <a:xfrm>
            <a:off x="7909560" y="4142232"/>
            <a:ext cx="3730752" cy="1097280"/>
          </a:xfrm>
          <a:prstGeom prst="rect">
            <a:avLst/>
          </a:prstGeom>
          <a:noFill/>
          <a:ln/>
        </p:spPr>
        <p:txBody>
          <a:bodyPr wrap="square" lIns="0" tIns="0" rIns="0" bIns="0" rtlCol="0" anchor="t"/>
          <a:lstStyle/>
          <a:p>
            <a:pPr marL="0" indent="0">
              <a:buNone/>
            </a:pPr>
            <a:r>
              <a:rPr lang="en-US" sz="1400" b="1">
                <a:solidFill>
                  <a:srgbClr val="0B2545"/>
                </a:solidFill>
              </a:rPr>
              <a:t>Treatment was already under way</a:t>
            </a:r>
            <a:endParaRPr lang="en-US" sz="1400"/>
          </a:p>
          <a:p>
            <a:pPr marL="0" indent="0">
              <a:buNone/>
            </a:pPr>
            <a:r>
              <a:rPr lang="en-US" sz="1200" dirty="0">
                <a:solidFill>
                  <a:srgbClr val="16263A"/>
                </a:solidFill>
              </a:rPr>
              <a:t>One in six people had hydrochlorothiazide before entry; others had lisinopril, atenolol or amlodipine.</a:t>
            </a:r>
            <a:endParaRPr lang="en-US" sz="1400" dirty="0"/>
          </a:p>
        </p:txBody>
      </p:sp>
      <p:sp>
        <p:nvSpPr>
          <p:cNvPr id="16" name="Researcher takeaway"/>
          <p:cNvSpPr/>
          <p:nvPr/>
        </p:nvSpPr>
        <p:spPr>
          <a:xfrm>
            <a:off x="7543800" y="4937760"/>
            <a:ext cx="4096512" cy="777240"/>
          </a:xfrm>
          <a:prstGeom prst="roundRect">
            <a:avLst>
              <a:gd name="adj" fmla="val 9412"/>
            </a:avLst>
          </a:prstGeom>
          <a:solidFill>
            <a:srgbClr val="FBF0E5"/>
          </a:solidFill>
          <a:ln w="12700">
            <a:solidFill>
              <a:srgbClr val="FBF0E5"/>
            </a:solidFill>
            <a:prstDash val="solid"/>
          </a:ln>
        </p:spPr>
        <p:txBody>
          <a:bodyPr/>
          <a:lstStyle/>
          <a:p>
            <a:endParaRPr lang="en-US"/>
          </a:p>
        </p:txBody>
      </p:sp>
      <p:sp>
        <p:nvSpPr>
          <p:cNvPr id="17" name="Text 14"/>
          <p:cNvSpPr txBox="1"/>
          <p:nvPr/>
        </p:nvSpPr>
        <p:spPr>
          <a:xfrm>
            <a:off x="7772400" y="5047488"/>
            <a:ext cx="3639312" cy="55778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Entry is not onset. This is a recorded-hypertension cohort, not an incident one.</a:t>
            </a:r>
            <a:endParaRPr lang="en-US" sz="1000" dirty="0"/>
          </a:p>
        </p:txBody>
      </p:sp>
      <p:sp>
        <p:nvSpPr>
          <p:cNvPr id="18"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9"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20" name="Text 16"/>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Large scale characteristics  (window -365 to -31)</a:t>
            </a:r>
            <a:endParaRPr lang="en-US" sz="1200" dirty="0"/>
          </a:p>
        </p:txBody>
      </p:sp>
      <p:sp>
        <p:nvSpPr>
          <p:cNvPr id="21" name="Text 17"/>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23</a:t>
            </a:fld>
            <a:endParaRPr lang="en-US"/>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COMPARE LARGE SCALE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Compare Large Scale Characteristics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Antihypertensives are more common in the cohort than in </a:t>
            </a:r>
            <a:r>
              <a:rPr lang="en-US" sz="1600" b="1" dirty="0">
                <a:solidFill>
                  <a:srgbClr val="C8702A"/>
                </a:solidFill>
              </a:rPr>
              <a:t>age- and sex-matched controls</a:t>
            </a:r>
            <a:r>
              <a:rPr lang="en-US" sz="1600" dirty="0">
                <a:solidFill>
                  <a:srgbClr val="556677"/>
                </a:solidFill>
              </a:rPr>
              <a:t> after entry</a:t>
            </a:r>
            <a:endParaRPr lang="en-US" sz="1600" dirty="0"/>
          </a:p>
        </p:txBody>
      </p:sp>
      <p:graphicFrame>
        <p:nvGraphicFramePr>
          <p:cNvPr id="9" name="Chart 0"/>
          <p:cNvGraphicFramePr/>
          <p:nvPr/>
        </p:nvGraphicFramePr>
        <p:xfrm>
          <a:off x="457200" y="1737360"/>
          <a:ext cx="69494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7"/>
          <p:cNvSpPr/>
          <p:nvPr/>
        </p:nvSpPr>
        <p:spPr>
          <a:xfrm>
            <a:off x="7680960" y="1783080"/>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7863840" y="1837944"/>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235 matched controls</a:t>
            </a:r>
            <a:endParaRPr lang="en-US" sz="1600" dirty="0"/>
          </a:p>
          <a:p>
            <a:pPr marL="0" indent="0">
              <a:buNone/>
            </a:pPr>
            <a:r>
              <a:rPr lang="en-US" sz="1150" dirty="0">
                <a:solidFill>
                  <a:srgbClr val="16263A"/>
                </a:solidFill>
              </a:rPr>
              <a:t>were found for the hypertension cohort. With 73% of the database in the cohort, few people without hypertension are left to match.</a:t>
            </a:r>
            <a:endParaRPr lang="en-US" sz="1600" dirty="0"/>
          </a:p>
        </p:txBody>
      </p:sp>
      <p:sp>
        <p:nvSpPr>
          <p:cNvPr id="12" name="Shape 9"/>
          <p:cNvSpPr/>
          <p:nvPr/>
        </p:nvSpPr>
        <p:spPr>
          <a:xfrm>
            <a:off x="7680960" y="3081528"/>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3" name="Text 10"/>
          <p:cNvSpPr txBox="1"/>
          <p:nvPr/>
        </p:nvSpPr>
        <p:spPr>
          <a:xfrm>
            <a:off x="7863840" y="3136392"/>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5.2% vs 5.2%</a:t>
            </a:r>
            <a:endParaRPr lang="en-US" sz="1600" dirty="0"/>
          </a:p>
          <a:p>
            <a:pPr marL="0" indent="0">
              <a:buNone/>
            </a:pPr>
            <a:r>
              <a:rPr lang="en-US" sz="1150" dirty="0">
                <a:solidFill>
                  <a:srgbClr val="16263A"/>
                </a:solidFill>
              </a:rPr>
              <a:t>of people had amlodipine in the year before entry. The difference appears only after the diagnosis is recorded.</a:t>
            </a:r>
            <a:endParaRPr lang="en-US" sz="1600" dirty="0"/>
          </a:p>
        </p:txBody>
      </p:sp>
      <p:sp>
        <p:nvSpPr>
          <p:cNvPr id="14" name="Shape 11"/>
          <p:cNvSpPr/>
          <p:nvPr/>
        </p:nvSpPr>
        <p:spPr>
          <a:xfrm>
            <a:off x="7680960" y="4379976"/>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5" name="Text 12"/>
          <p:cNvSpPr txBox="1"/>
          <p:nvPr/>
        </p:nvSpPr>
        <p:spPr>
          <a:xfrm>
            <a:off x="7863840" y="4434840"/>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About 11% of controls</a:t>
            </a:r>
            <a:endParaRPr lang="en-US" sz="1600" dirty="0"/>
          </a:p>
          <a:p>
            <a:pPr marL="0" indent="0">
              <a:buNone/>
            </a:pPr>
            <a:r>
              <a:rPr lang="en-US" sz="1150" dirty="0">
                <a:solidFill>
                  <a:srgbClr val="16263A"/>
                </a:solidFill>
              </a:rPr>
              <a:t>also take amlodipine. A drug exposure alone cannot identify hypertension.</a:t>
            </a:r>
            <a:endParaRPr lang="en-US" sz="1600" dirty="0"/>
          </a:p>
        </p:txBody>
      </p:sp>
      <p:sp>
        <p:nvSpPr>
          <p:cNvPr id="16"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Compare large scale characteristics  (vs hypertension_matched)</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24</a:t>
            </a:fld>
            <a:endParaRPr lang="en-US"/>
          </a:p>
        </p:txBody>
      </p:sp>
    </p:spTree>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COMPARE COHORTS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Compare Cohorts: Overlap and Timing</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Overlap and timing describe the order of events, </a:t>
            </a:r>
            <a:r>
              <a:rPr lang="en-US" sz="1600" b="1" dirty="0">
                <a:solidFill>
                  <a:srgbClr val="C8702A"/>
                </a:solidFill>
              </a:rPr>
              <a:t>not the reason</a:t>
            </a:r>
            <a:r>
              <a:rPr lang="en-US" sz="1600" dirty="0">
                <a:solidFill>
                  <a:srgbClr val="556677"/>
                </a:solidFill>
              </a:rPr>
              <a:t> for a treatment</a:t>
            </a:r>
            <a:endParaRPr lang="en-US" sz="1600" dirty="0"/>
          </a:p>
        </p:txBody>
      </p:sp>
      <p:pic>
        <p:nvPicPr>
          <p:cNvPr id="9" name="Cohort timing plot" descr="/home/claude/work/img/timing.png"/>
          <p:cNvPicPr>
            <a:picLocks noChangeAspect="1"/>
          </p:cNvPicPr>
          <p:nvPr/>
        </p:nvPicPr>
        <p:blipFill>
          <a:blip r:embed="rId3"/>
          <a:stretch>
            <a:fillRect/>
          </a:stretch>
        </p:blipFill>
        <p:spPr>
          <a:xfrm>
            <a:off x="548640" y="1737360"/>
            <a:ext cx="5852160" cy="3904488"/>
          </a:xfrm>
          <a:prstGeom prst="rect">
            <a:avLst/>
          </a:prstGeom>
        </p:spPr>
      </p:pic>
      <p:sp>
        <p:nvSpPr>
          <p:cNvPr id="10" name="Shape 7"/>
          <p:cNvSpPr/>
          <p:nvPr/>
        </p:nvSpPr>
        <p:spPr>
          <a:xfrm>
            <a:off x="6675120" y="1783080"/>
            <a:ext cx="4965192" cy="1463040"/>
          </a:xfrm>
          <a:prstGeom prst="roundRect">
            <a:avLst>
              <a:gd name="adj" fmla="val 5000"/>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6903720" y="1856232"/>
            <a:ext cx="4572000" cy="1325880"/>
          </a:xfrm>
          <a:prstGeom prst="rect">
            <a:avLst/>
          </a:prstGeom>
          <a:noFill/>
          <a:ln/>
        </p:spPr>
        <p:txBody>
          <a:bodyPr wrap="square" lIns="0" tIns="0" rIns="0" bIns="0" rtlCol="0" anchor="t"/>
          <a:lstStyle/>
          <a:p>
            <a:pPr marL="0" indent="0">
              <a:buNone/>
            </a:pPr>
            <a:r>
              <a:rPr lang="en-US" sz="1800" b="1" dirty="0">
                <a:solidFill>
                  <a:srgbClr val="C8702A"/>
                </a:solidFill>
              </a:rPr>
              <a:t>52 people</a:t>
            </a:r>
            <a:endParaRPr lang="en-US" sz="1800" dirty="0"/>
          </a:p>
          <a:p>
            <a:pPr marL="0" indent="0">
              <a:buNone/>
            </a:pPr>
            <a:r>
              <a:rPr lang="en-US" sz="1250" dirty="0">
                <a:solidFill>
                  <a:srgbClr val="16263A"/>
                </a:solidFill>
              </a:rPr>
              <a:t>are in both hypertension and user_of_warfarin. Their warfarin entry follows hypertension by a median of 229 days. This shows a sequence, not an indication.</a:t>
            </a:r>
            <a:endParaRPr lang="en-US" sz="1800" dirty="0"/>
          </a:p>
        </p:txBody>
      </p:sp>
      <p:sp>
        <p:nvSpPr>
          <p:cNvPr id="12" name="Shape 9"/>
          <p:cNvSpPr/>
          <p:nvPr/>
        </p:nvSpPr>
        <p:spPr>
          <a:xfrm>
            <a:off x="6675120" y="3383280"/>
            <a:ext cx="4965192" cy="1463040"/>
          </a:xfrm>
          <a:prstGeom prst="roundRect">
            <a:avLst>
              <a:gd name="adj" fmla="val 5000"/>
            </a:avLst>
          </a:prstGeom>
          <a:solidFill>
            <a:srgbClr val="FBF0E5"/>
          </a:solidFill>
          <a:ln w="12700">
            <a:solidFill>
              <a:srgbClr val="FBF0E5"/>
            </a:solidFill>
            <a:prstDash val="solid"/>
          </a:ln>
        </p:spPr>
        <p:txBody>
          <a:bodyPr/>
          <a:lstStyle/>
          <a:p>
            <a:endParaRPr lang="en-US"/>
          </a:p>
        </p:txBody>
      </p:sp>
      <p:sp>
        <p:nvSpPr>
          <p:cNvPr id="13" name="Text 10"/>
          <p:cNvSpPr txBox="1"/>
          <p:nvPr/>
        </p:nvSpPr>
        <p:spPr>
          <a:xfrm>
            <a:off x="6903720" y="3456432"/>
            <a:ext cx="4572000" cy="1325880"/>
          </a:xfrm>
          <a:prstGeom prst="rect">
            <a:avLst/>
          </a:prstGeom>
          <a:noFill/>
          <a:ln/>
        </p:spPr>
        <p:txBody>
          <a:bodyPr wrap="square" lIns="0" tIns="0" rIns="0" bIns="0" rtlCol="0" anchor="t"/>
          <a:lstStyle/>
          <a:p>
            <a:pPr marL="0" indent="0">
              <a:buNone/>
            </a:pPr>
            <a:r>
              <a:rPr lang="en-US" sz="1800" b="1" dirty="0">
                <a:solidFill>
                  <a:srgbClr val="B03A2E"/>
                </a:solidFill>
              </a:rPr>
              <a:t>644 people</a:t>
            </a:r>
            <a:endParaRPr lang="en-US" sz="1800" dirty="0"/>
          </a:p>
          <a:p>
            <a:pPr marL="0" indent="0">
              <a:buNone/>
            </a:pPr>
            <a:r>
              <a:rPr lang="en-US" sz="1250" dirty="0">
                <a:solidFill>
                  <a:srgbClr val="16263A"/>
                </a:solidFill>
              </a:rPr>
              <a:t>are in both hypertension and type_2_diabetes, and they enter within a median of 6 days of each other. Such tight timing is unusual in real care and is likely an artefact of the synthetic data.</a:t>
            </a:r>
            <a:endParaRPr lang="en-US" sz="1800" dirty="0"/>
          </a:p>
        </p:txBody>
      </p:sp>
      <p:sp>
        <p:nvSpPr>
          <p:cNvPr id="14" name="Researcher takeaway"/>
          <p:cNvSpPr/>
          <p:nvPr/>
        </p:nvSpPr>
        <p:spPr>
          <a:xfrm>
            <a:off x="6675120" y="4983480"/>
            <a:ext cx="4965192" cy="731520"/>
          </a:xfrm>
          <a:prstGeom prst="roundRect">
            <a:avLst>
              <a:gd name="adj" fmla="val 10000"/>
            </a:avLst>
          </a:prstGeom>
          <a:solidFill>
            <a:srgbClr val="FBF0E5"/>
          </a:solidFill>
          <a:ln w="12700">
            <a:solidFill>
              <a:srgbClr val="FBF0E5"/>
            </a:solidFill>
            <a:prstDash val="solid"/>
          </a:ln>
        </p:spPr>
        <p:txBody>
          <a:bodyPr/>
          <a:lstStyle/>
          <a:p>
            <a:endParaRPr lang="en-US"/>
          </a:p>
        </p:txBody>
      </p:sp>
      <p:sp>
        <p:nvSpPr>
          <p:cNvPr id="15" name="Text 12"/>
          <p:cNvSpPr txBox="1"/>
          <p:nvPr/>
        </p:nvSpPr>
        <p:spPr>
          <a:xfrm>
            <a:off x="6903720" y="5093208"/>
            <a:ext cx="4507992" cy="51206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An implausible pattern can come from the database rather than the definition.</a:t>
            </a:r>
            <a:endParaRPr lang="en-US" sz="1000" dirty="0"/>
          </a:p>
        </p:txBody>
      </p:sp>
      <p:sp>
        <p:nvSpPr>
          <p:cNvPr id="16"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Compare cohorts  →  Cohort overlap and Cohort timing</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SURVIVAL</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Survival</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With only </a:t>
            </a:r>
            <a:r>
              <a:rPr lang="en-US" sz="1600" b="1" dirty="0">
                <a:solidFill>
                  <a:srgbClr val="C8702A"/>
                </a:solidFill>
              </a:rPr>
              <a:t>8 and 13 deaths</a:t>
            </a:r>
            <a:r>
              <a:rPr lang="en-US" sz="1600" dirty="0">
                <a:solidFill>
                  <a:srgbClr val="556677"/>
                </a:solidFill>
              </a:rPr>
              <a:t>, the two survival curves cannot be told apart</a:t>
            </a:r>
            <a:endParaRPr lang="en-US" sz="1600" dirty="0"/>
          </a:p>
        </p:txBody>
      </p:sp>
      <p:pic>
        <p:nvPicPr>
          <p:cNvPr id="9" name="Survival plot" descr="/home/claude/work/img/survival.png"/>
          <p:cNvPicPr>
            <a:picLocks noChangeAspect="1"/>
          </p:cNvPicPr>
          <p:nvPr/>
        </p:nvPicPr>
        <p:blipFill>
          <a:blip r:embed="rId3"/>
          <a:stretch>
            <a:fillRect/>
          </a:stretch>
        </p:blipFill>
        <p:spPr>
          <a:xfrm>
            <a:off x="548640" y="1737360"/>
            <a:ext cx="5852160" cy="3904488"/>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1814576"/>
        </p:xfrm>
        <a:graphic>
          <a:graphicData uri="http://schemas.openxmlformats.org/drawingml/2006/table">
            <a:tbl>
              <a:tblPr/>
              <a:tblGrid>
                <a:gridCol w="2130552">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438912">
                <a:tc>
                  <a:txBody>
                    <a:bodyPr/>
                    <a:lstStyle/>
                    <a:p>
                      <a:pPr marL="0" indent="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Sampled cohort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Matched controls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Records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235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235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Deaths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Restricted mean survival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1,064</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1,041</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Researcher takeaway"/>
          <p:cNvSpPr/>
          <p:nvPr/>
        </p:nvSpPr>
        <p:spPr>
          <a:xfrm>
            <a:off x="6675120" y="3794760"/>
            <a:ext cx="4965192" cy="1828800"/>
          </a:xfrm>
          <a:prstGeom prst="roundRect">
            <a:avLst>
              <a:gd name="adj" fmla="val 4000"/>
            </a:avLst>
          </a:prstGeom>
          <a:solidFill>
            <a:srgbClr val="FBF0E5"/>
          </a:solidFill>
          <a:ln w="12700">
            <a:solidFill>
              <a:srgbClr val="FBF0E5"/>
            </a:solidFill>
            <a:prstDash val="solid"/>
          </a:ln>
        </p:spPr>
        <p:txBody>
          <a:bodyPr/>
          <a:lstStyle/>
          <a:p>
            <a:endParaRPr lang="en-US"/>
          </a:p>
        </p:txBody>
      </p:sp>
      <p:sp>
        <p:nvSpPr>
          <p:cNvPr id="12" name="Text 8"/>
          <p:cNvSpPr txBox="1"/>
          <p:nvPr/>
        </p:nvSpPr>
        <p:spPr>
          <a:xfrm>
            <a:off x="6903720" y="3904488"/>
            <a:ext cx="4507992" cy="160934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Survival is estimated for a sample of the cohort and for its </a:t>
            </a:r>
            <a:r>
              <a:rPr lang="en-US" sz="1300" dirty="0">
                <a:solidFill>
                  <a:srgbClr val="16263A"/>
                </a:solidFill>
              </a:rPr>
              <a:t>matched controls. Here the confidence bands overlap and events are few, so mortality cannot be used to judge this phenotype.</a:t>
            </a:r>
            <a:endParaRPr lang="en-US" sz="1000">
              <a:ea typeface="Calibri"/>
              <a:cs typeface="Calibri"/>
            </a:endParaRPr>
          </a:p>
        </p:txBody>
      </p:sp>
      <p:sp>
        <p:nvSpPr>
          <p:cNvPr id="13"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04088" y="5984748"/>
            <a:ext cx="137160" cy="137160"/>
          </a:xfrm>
          <a:prstGeom prst="rect">
            <a:avLst/>
          </a:prstGeom>
        </p:spPr>
      </p:pic>
      <p:sp>
        <p:nvSpPr>
          <p:cNvPr id="15" name="Text 1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survival  (hypertension)</a:t>
            </a:r>
            <a:endParaRPr lang="en-US" sz="1200" dirty="0"/>
          </a:p>
        </p:txBody>
      </p:sp>
      <p:sp>
        <p:nvSpPr>
          <p:cNvPr id="16" name="Text 1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6A4C93"/>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04</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Population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Estimate how often each cohort occurs in the database population</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a:solidFill>
                  <a:srgbClr val="FFFFFF"/>
                </a:solidFill>
              </a:rPr>
              <a:t>It shows whether the frequency of a cohort is plausible, and whether </a:t>
            </a:r>
            <a:r>
              <a:rPr lang="en-US" sz="1400" dirty="0">
                <a:solidFill>
                  <a:srgbClr val="FFFFFF"/>
                </a:solidFill>
              </a:rPr>
              <a:t>changes over time reflect the condition or the data.</a:t>
            </a:r>
            <a:endParaRPr lang="en-US" sz="1050">
              <a:ea typeface="Calibri"/>
              <a:cs typeface="Calibri"/>
            </a:endParaRPr>
          </a:p>
        </p:txBody>
      </p:sp>
      <p:sp>
        <p:nvSpPr>
          <p:cNvPr id="10" name="Tab Incidence"/>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6A4C93"/>
                </a:solidFill>
              </a:rPr>
              <a:t>Incidence</a:t>
            </a:r>
            <a:endParaRPr lang="en-US" sz="1500" dirty="0"/>
          </a:p>
          <a:p>
            <a:pPr marL="0" indent="0">
              <a:buNone/>
            </a:pPr>
            <a:r>
              <a:rPr lang="en-US" sz="1200" dirty="0">
                <a:solidFill>
                  <a:srgbClr val="16263A"/>
                </a:solidFill>
              </a:rPr>
              <a:t>New cohort entries per 100,000 person-years, by year, age group, sex and required prior observation.</a:t>
            </a:r>
            <a:endParaRPr lang="en-US" sz="1500" dirty="0"/>
          </a:p>
        </p:txBody>
      </p:sp>
      <p:sp>
        <p:nvSpPr>
          <p:cNvPr id="12" name="Tab Period prevalence"/>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6A4C93"/>
                </a:solidFill>
              </a:rPr>
              <a:t>Period prevalence</a:t>
            </a:r>
            <a:endParaRPr lang="en-US" sz="1500" dirty="0"/>
          </a:p>
          <a:p>
            <a:pPr marL="0" indent="0">
              <a:buNone/>
            </a:pPr>
            <a:r>
              <a:rPr lang="en-US" sz="1200" dirty="0">
                <a:solidFill>
                  <a:srgbClr val="16263A"/>
                </a:solidFill>
              </a:rPr>
              <a:t>The proportion of the population in the cohort during each year.</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a:solidFill>
              <a:srgbClr val="6A4C93"/>
            </a:solidFill>
          </a:ln>
        </p:spPr>
        <p:txBody>
          <a:bodyPr wrap="square" lIns="0" tIns="0" rIns="0" bIns="0" rtlCol="0" anchor="ctr"/>
          <a:lstStyle/>
          <a:p>
            <a:pPr marL="0" indent="0" algn="ctr">
              <a:buNone/>
            </a:pPr>
            <a:r>
              <a:rPr lang="en-US" sz="1000" b="1" dirty="0">
                <a:solidFill>
                  <a:srgbClr val="FFFFFF"/>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6A4C93"/>
                </a:solidFill>
              </a:rPr>
              <a:t>POPULATION DIAGNOSTICS · INCIDENCE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Incidence</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Rates fall in both cohorts, which points to </a:t>
            </a:r>
            <a:r>
              <a:rPr lang="en-US" sz="1600" b="1" dirty="0">
                <a:solidFill>
                  <a:srgbClr val="6A4C93"/>
                </a:solidFill>
              </a:rPr>
              <a:t>the start of the data</a:t>
            </a:r>
            <a:r>
              <a:rPr lang="en-US" sz="1600" dirty="0">
                <a:solidFill>
                  <a:srgbClr val="556677"/>
                </a:solidFill>
              </a:rPr>
              <a:t> rather than the conditions</a:t>
            </a:r>
            <a:endParaRPr lang="en-US" sz="1600" dirty="0"/>
          </a:p>
        </p:txBody>
      </p:sp>
      <p:graphicFrame>
        <p:nvGraphicFramePr>
          <p:cNvPr id="9" name="Chart 0"/>
          <p:cNvGraphicFramePr/>
          <p:nvPr/>
        </p:nvGraphicFramePr>
        <p:xfrm>
          <a:off x="457200" y="1737360"/>
          <a:ext cx="3749040" cy="3200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1"/>
          <p:cNvGraphicFramePr/>
          <p:nvPr/>
        </p:nvGraphicFramePr>
        <p:xfrm>
          <a:off x="4297680" y="1737360"/>
          <a:ext cx="374904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7"/>
          <p:cNvSpPr txBox="1"/>
          <p:nvPr/>
        </p:nvSpPr>
        <p:spPr>
          <a:xfrm>
            <a:off x="548640" y="4983480"/>
            <a:ext cx="7498080" cy="320040"/>
          </a:xfrm>
          <a:prstGeom prst="rect">
            <a:avLst/>
          </a:prstGeom>
          <a:noFill/>
          <a:ln/>
        </p:spPr>
        <p:txBody>
          <a:bodyPr wrap="square" lIns="0" tIns="0" rIns="0" bIns="0" rtlCol="0" anchor="ctr"/>
          <a:lstStyle/>
          <a:p>
            <a:pPr marL="0" indent="0" algn="ctr">
              <a:buNone/>
            </a:pPr>
            <a:r>
              <a:rPr lang="en-US" sz="1100" i="1" dirty="0">
                <a:solidFill>
                  <a:srgbClr val="556677"/>
                </a:solidFill>
              </a:rPr>
              <a:t>Rates with no prior-observation requirement (0 days). The two charts use different scales.</a:t>
            </a:r>
            <a:endParaRPr lang="en-US" sz="1100" dirty="0"/>
          </a:p>
        </p:txBody>
      </p:sp>
      <p:sp>
        <p:nvSpPr>
          <p:cNvPr id="12" name="Researcher takeaway"/>
          <p:cNvSpPr/>
          <p:nvPr/>
        </p:nvSpPr>
        <p:spPr>
          <a:xfrm>
            <a:off x="8321040" y="1783080"/>
            <a:ext cx="3319272" cy="3520440"/>
          </a:xfrm>
          <a:prstGeom prst="roundRect">
            <a:avLst>
              <a:gd name="adj" fmla="val 2204"/>
            </a:avLst>
          </a:prstGeom>
          <a:solidFill>
            <a:srgbClr val="F1ECF7"/>
          </a:solidFill>
          <a:ln w="12700">
            <a:solidFill>
              <a:srgbClr val="F1ECF7"/>
            </a:solidFill>
            <a:prstDash val="solid"/>
          </a:ln>
        </p:spPr>
        <p:txBody>
          <a:bodyPr/>
          <a:lstStyle/>
          <a:p>
            <a:endParaRPr lang="en-US"/>
          </a:p>
        </p:txBody>
      </p:sp>
      <p:sp>
        <p:nvSpPr>
          <p:cNvPr id="13" name="Text 9"/>
          <p:cNvSpPr txBox="1"/>
          <p:nvPr/>
        </p:nvSpPr>
        <p:spPr>
          <a:xfrm>
            <a:off x="8519160" y="1923288"/>
            <a:ext cx="2943352" cy="3229864"/>
          </a:xfrm>
          <a:prstGeom prst="rect">
            <a:avLst/>
          </a:prstGeom>
          <a:noFill/>
          <a:ln/>
        </p:spPr>
        <p:txBody>
          <a:bodyPr wrap="square" lIns="0" tIns="0" rIns="0" bIns="0" rtlCol="0" anchor="t"/>
          <a:lstStyle/>
          <a:p>
            <a:pPr marL="0" indent="0">
              <a:buNone/>
            </a:pPr>
            <a:r>
              <a:rPr lang="en-US" sz="1000" b="1" kern="0" spc="100" dirty="0">
                <a:solidFill>
                  <a:srgbClr val="6A4C93"/>
                </a:solidFill>
              </a:rPr>
              <a:t>WHAT THIS TELLS THE RESEARCHER</a:t>
            </a:r>
            <a:endParaRPr lang="en-US" sz="1000" dirty="0"/>
          </a:p>
          <a:p>
            <a:endParaRPr lang="en-US" sz="1000" b="1" kern="0" spc="100" dirty="0">
              <a:solidFill>
                <a:srgbClr val="6A4C93"/>
              </a:solidFill>
              <a:ea typeface="Calibri"/>
              <a:cs typeface="Calibri"/>
            </a:endParaRPr>
          </a:p>
          <a:p>
            <a:r>
              <a:rPr lang="en-US" sz="1400" dirty="0">
                <a:ea typeface="Calibri"/>
                <a:cs typeface="Calibri"/>
              </a:rPr>
              <a:t>568 of the 728 hypertension entries fall in 2008, the first year of data. </a:t>
            </a:r>
            <a:endParaRPr lang="en-US" sz="1400" dirty="0">
              <a:solidFill>
                <a:srgbClr val="000000"/>
              </a:solidFill>
              <a:ea typeface="Calibri"/>
              <a:cs typeface="Calibri"/>
            </a:endParaRPr>
          </a:p>
          <a:p>
            <a:endParaRPr lang="en-US" sz="1400" dirty="0">
              <a:ea typeface="Calibri"/>
              <a:cs typeface="Calibri"/>
            </a:endParaRPr>
          </a:p>
          <a:p>
            <a:r>
              <a:rPr lang="en-US" sz="1400" dirty="0">
                <a:ea typeface="Calibri"/>
                <a:cs typeface="Calibri"/>
              </a:rPr>
              <a:t>People who already had the condition, or were already taking the drug, are recorded as new when the data begin. </a:t>
            </a:r>
            <a:endParaRPr lang="en-US" sz="1400" dirty="0">
              <a:solidFill>
                <a:srgbClr val="000000"/>
              </a:solidFill>
              <a:ea typeface="Calibri"/>
              <a:cs typeface="Calibri"/>
            </a:endParaRPr>
          </a:p>
          <a:p>
            <a:endParaRPr lang="en-US" sz="1400" dirty="0">
              <a:ea typeface="Calibri"/>
              <a:cs typeface="Calibri"/>
            </a:endParaRPr>
          </a:p>
          <a:p>
            <a:r>
              <a:rPr lang="en-US" sz="1400" dirty="0">
                <a:ea typeface="Calibri"/>
                <a:cs typeface="Calibri"/>
              </a:rPr>
              <a:t>These rates describe first recorded entry, not incidence of disease.</a:t>
            </a:r>
            <a:endParaRPr lang="en-US" sz="1400" dirty="0">
              <a:solidFill>
                <a:srgbClr val="000000"/>
              </a:solidFill>
              <a:ea typeface="Calibri"/>
              <a:cs typeface="Calibri"/>
            </a:endParaRPr>
          </a:p>
          <a:p>
            <a:pPr marL="0" indent="0">
              <a:buNone/>
            </a:pPr>
            <a:endParaRPr lang="en-US" sz="1000" dirty="0">
              <a:ea typeface="Calibri"/>
              <a:cs typeface="Calibri"/>
            </a:endParaRPr>
          </a:p>
        </p:txBody>
      </p:sp>
      <p:sp>
        <p:nvSpPr>
          <p:cNvPr id="14" name="R Shiny App path"/>
          <p:cNvSpPr/>
          <p:nvPr/>
        </p:nvSpPr>
        <p:spPr>
          <a:xfrm>
            <a:off x="548640" y="5852160"/>
            <a:ext cx="6400800" cy="402336"/>
          </a:xfrm>
          <a:prstGeom prst="roundRect">
            <a:avLst>
              <a:gd name="adj" fmla="val 50000"/>
            </a:avLst>
          </a:prstGeom>
          <a:solidFill>
            <a:srgbClr val="6A4C93"/>
          </a:solidFill>
          <a:ln w="12700">
            <a:solidFill>
              <a:srgbClr val="6A4C93"/>
            </a:solidFill>
            <a:prstDash val="solid"/>
          </a:ln>
        </p:spPr>
        <p:txBody>
          <a:bodyPr/>
          <a:lstStyle/>
          <a:p>
            <a:endParaRPr lang="en-US"/>
          </a:p>
        </p:txBody>
      </p:sp>
      <p:pic>
        <p:nvPicPr>
          <p:cNvPr id="15" name="Image 0" descr="preencoded.png"/>
          <p:cNvPicPr>
            <a:picLocks noChangeAspect="1"/>
          </p:cNvPicPr>
          <p:nvPr/>
        </p:nvPicPr>
        <p:blipFill>
          <a:blip r:embed="rId6"/>
          <a:stretch>
            <a:fillRect/>
          </a:stretch>
        </p:blipFill>
        <p:spPr>
          <a:xfrm>
            <a:off x="704088" y="5984748"/>
            <a:ext cx="137160" cy="137160"/>
          </a:xfrm>
          <a:prstGeom prst="rect">
            <a:avLst/>
          </a:prstGeom>
        </p:spPr>
      </p:pic>
      <p:sp>
        <p:nvSpPr>
          <p:cNvPr id="16" name="Text 11"/>
          <p:cNvSpPr txBox="1"/>
          <p:nvPr/>
        </p:nvSpPr>
        <p:spPr>
          <a:xfrm>
            <a:off x="960120" y="5852160"/>
            <a:ext cx="589788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Population diagnostics › Incidence  (both cohorts)</a:t>
            </a:r>
            <a:endParaRPr lang="en-US" sz="1200" dirty="0"/>
          </a:p>
        </p:txBody>
      </p:sp>
      <p:sp>
        <p:nvSpPr>
          <p:cNvPr id="17" name="Text 12"/>
          <p:cNvSpPr txBox="1"/>
          <p:nvPr/>
        </p:nvSpPr>
        <p:spPr>
          <a:xfrm>
            <a:off x="8321040" y="5870448"/>
            <a:ext cx="331927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28</a:t>
            </a:fld>
            <a:endParaRPr lang="en-US"/>
          </a:p>
        </p:txBody>
      </p:sp>
    </p:spTree>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a:solidFill>
              <a:srgbClr val="6A4C93"/>
            </a:solidFill>
          </a:ln>
        </p:spPr>
        <p:txBody>
          <a:bodyPr wrap="square" lIns="0" tIns="0" rIns="0" bIns="0" rtlCol="0" anchor="ctr"/>
          <a:lstStyle/>
          <a:p>
            <a:pPr marL="0" indent="0" algn="ctr">
              <a:buNone/>
            </a:pPr>
            <a:r>
              <a:rPr lang="en-US" sz="1000" b="1" dirty="0">
                <a:solidFill>
                  <a:srgbClr val="FFFFFF"/>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6A4C93"/>
                </a:solidFill>
              </a:rPr>
              <a:t>POPULATION DIAGNOSTICS · PERIOD PREVALENCE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Period Prevalence</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Hypertension rises from </a:t>
            </a:r>
            <a:r>
              <a:rPr lang="en-US" sz="1600" b="1" dirty="0">
                <a:solidFill>
                  <a:srgbClr val="6A4C93"/>
                </a:solidFill>
              </a:rPr>
              <a:t>58% to 77%</a:t>
            </a:r>
            <a:r>
              <a:rPr lang="en-US" sz="1600" dirty="0">
                <a:solidFill>
                  <a:srgbClr val="556677"/>
                </a:solidFill>
              </a:rPr>
              <a:t>; warfarin stays at </a:t>
            </a:r>
            <a:r>
              <a:rPr lang="en-US" sz="1600" b="1" dirty="0">
                <a:solidFill>
                  <a:srgbClr val="6A4C93"/>
                </a:solidFill>
              </a:rPr>
              <a:t>2–3%</a:t>
            </a:r>
            <a:endParaRPr lang="en-US" sz="1600" dirty="0"/>
          </a:p>
        </p:txBody>
      </p:sp>
      <p:graphicFrame>
        <p:nvGraphicFramePr>
          <p:cNvPr id="9" name="Chart 0"/>
          <p:cNvGraphicFramePr/>
          <p:nvPr/>
        </p:nvGraphicFramePr>
        <p:xfrm>
          <a:off x="457200" y="1737360"/>
          <a:ext cx="37490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4297680" y="1737360"/>
          <a:ext cx="37490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548640" y="4983480"/>
            <a:ext cx="7498080" cy="320040"/>
          </a:xfrm>
          <a:prstGeom prst="rect">
            <a:avLst/>
          </a:prstGeom>
          <a:noFill/>
          <a:ln/>
        </p:spPr>
        <p:txBody>
          <a:bodyPr wrap="square" lIns="0" tIns="0" rIns="0" bIns="0" rtlCol="0" anchor="ctr"/>
          <a:lstStyle/>
          <a:p>
            <a:pPr marL="0" indent="0" algn="ctr">
              <a:buNone/>
            </a:pPr>
            <a:r>
              <a:rPr lang="en-US" sz="1100" i="1" dirty="0">
                <a:solidFill>
                  <a:srgbClr val="556677"/>
                </a:solidFill>
              </a:rPr>
              <a:t>Denominators are 930 to 973 people a year. Scales differ: 0–100% for hypertension and 0–10% for warfarin.</a:t>
            </a:r>
            <a:endParaRPr lang="en-US" sz="1100" dirty="0"/>
          </a:p>
        </p:txBody>
      </p:sp>
      <p:sp>
        <p:nvSpPr>
          <p:cNvPr id="12" name="Researcher takeaway"/>
          <p:cNvSpPr/>
          <p:nvPr/>
        </p:nvSpPr>
        <p:spPr>
          <a:xfrm>
            <a:off x="8321040" y="1783080"/>
            <a:ext cx="3319272" cy="3520440"/>
          </a:xfrm>
          <a:prstGeom prst="roundRect">
            <a:avLst>
              <a:gd name="adj" fmla="val 2204"/>
            </a:avLst>
          </a:prstGeom>
          <a:solidFill>
            <a:srgbClr val="F1ECF7"/>
          </a:solidFill>
          <a:ln w="12700">
            <a:solidFill>
              <a:srgbClr val="F1ECF7"/>
            </a:solidFill>
            <a:prstDash val="solid"/>
          </a:ln>
        </p:spPr>
        <p:txBody>
          <a:bodyPr/>
          <a:lstStyle/>
          <a:p>
            <a:endParaRPr lang="en-US"/>
          </a:p>
        </p:txBody>
      </p:sp>
      <p:sp>
        <p:nvSpPr>
          <p:cNvPr id="13" name="Text 9"/>
          <p:cNvSpPr txBox="1"/>
          <p:nvPr/>
        </p:nvSpPr>
        <p:spPr>
          <a:xfrm>
            <a:off x="8549640" y="1892808"/>
            <a:ext cx="2862072" cy="3300984"/>
          </a:xfrm>
          <a:prstGeom prst="rect">
            <a:avLst/>
          </a:prstGeom>
          <a:noFill/>
          <a:ln/>
        </p:spPr>
        <p:txBody>
          <a:bodyPr wrap="square" lIns="0" tIns="0" rIns="0" bIns="0" rtlCol="0" anchor="t"/>
          <a:lstStyle/>
          <a:p>
            <a:pPr marL="0" indent="0">
              <a:buNone/>
            </a:pPr>
            <a:r>
              <a:rPr lang="en-US" sz="1000" b="1" kern="0" spc="100" dirty="0">
                <a:solidFill>
                  <a:srgbClr val="6A4C93"/>
                </a:solidFill>
              </a:rPr>
              <a:t>WHAT THIS TELLS THE RESEARCHER</a:t>
            </a:r>
            <a:endParaRPr lang="en-US" sz="1000" dirty="0"/>
          </a:p>
          <a:p>
            <a:endParaRPr lang="en-US" sz="1000" b="1" kern="0" spc="100" dirty="0">
              <a:solidFill>
                <a:srgbClr val="6A4C93"/>
              </a:solidFill>
            </a:endParaRPr>
          </a:p>
          <a:p>
            <a:r>
              <a:rPr lang="en-US" sz="1400" dirty="0">
                <a:solidFill>
                  <a:srgbClr val="16263A"/>
                </a:solidFill>
              </a:rPr>
              <a:t>Hypertension prevalence is high but explainable in an older claims population. It rises because more of the population acquires a record over time. </a:t>
            </a:r>
            <a:endParaRPr lang="en-US" sz="1000" dirty="0">
              <a:solidFill>
                <a:srgbClr val="16263A"/>
              </a:solidFill>
            </a:endParaRPr>
          </a:p>
          <a:p>
            <a:endParaRPr lang="en-US" sz="1400" dirty="0">
              <a:solidFill>
                <a:srgbClr val="16263A"/>
              </a:solidFill>
            </a:endParaRPr>
          </a:p>
          <a:p>
            <a:pPr marL="0" indent="0">
              <a:buNone/>
            </a:pPr>
            <a:r>
              <a:rPr lang="en-US" sz="1400">
                <a:solidFill>
                  <a:srgbClr val="16263A"/>
                </a:solidFill>
              </a:rPr>
              <a:t>Warfarin prevalence is low, which </a:t>
            </a:r>
            <a:r>
              <a:rPr lang="en-US" sz="1400" dirty="0">
                <a:solidFill>
                  <a:srgbClr val="16263A"/>
                </a:solidFill>
              </a:rPr>
              <a:t>fits a single 5 mg product.</a:t>
            </a:r>
            <a:endParaRPr lang="en-US" sz="1000">
              <a:ea typeface="Calibri"/>
              <a:cs typeface="Calibri"/>
            </a:endParaRPr>
          </a:p>
        </p:txBody>
      </p:sp>
      <p:sp>
        <p:nvSpPr>
          <p:cNvPr id="14" name="R Shiny App path"/>
          <p:cNvSpPr/>
          <p:nvPr/>
        </p:nvSpPr>
        <p:spPr>
          <a:xfrm>
            <a:off x="548640" y="5852160"/>
            <a:ext cx="6400800" cy="402336"/>
          </a:xfrm>
          <a:prstGeom prst="roundRect">
            <a:avLst>
              <a:gd name="adj" fmla="val 50000"/>
            </a:avLst>
          </a:prstGeom>
          <a:solidFill>
            <a:srgbClr val="6A4C93"/>
          </a:solidFill>
          <a:ln w="12700">
            <a:solidFill>
              <a:srgbClr val="6A4C93"/>
            </a:solidFill>
            <a:prstDash val="solid"/>
          </a:ln>
        </p:spPr>
        <p:txBody>
          <a:bodyPr/>
          <a:lstStyle/>
          <a:p>
            <a:endParaRPr lang="en-US"/>
          </a:p>
        </p:txBody>
      </p:sp>
      <p:pic>
        <p:nvPicPr>
          <p:cNvPr id="15"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6" name="Text 11"/>
          <p:cNvSpPr txBox="1"/>
          <p:nvPr/>
        </p:nvSpPr>
        <p:spPr>
          <a:xfrm>
            <a:off x="960120" y="5852160"/>
            <a:ext cx="589788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Population diagnostics › Period prevalence  (both cohorts)</a:t>
            </a:r>
            <a:endParaRPr lang="en-US" sz="1200" dirty="0"/>
          </a:p>
        </p:txBody>
      </p:sp>
      <p:sp>
        <p:nvSpPr>
          <p:cNvPr id="17" name="Text 12"/>
          <p:cNvSpPr txBox="1"/>
          <p:nvPr/>
        </p:nvSpPr>
        <p:spPr>
          <a:xfrm>
            <a:off x="8321040" y="5870448"/>
            <a:ext cx="331927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SUMMARY OF PART A</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Summary of Findings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Both cohorts are usable, but only under labels that </a:t>
            </a:r>
            <a:r>
              <a:rPr lang="en-US" sz="1600" b="1" dirty="0">
                <a:solidFill>
                  <a:srgbClr val="0B2545"/>
                </a:solidFill>
              </a:rPr>
              <a:t>match their definitions</a:t>
            </a:r>
            <a:endParaRPr lang="en-US" sz="1600" dirty="0"/>
          </a:p>
        </p:txBody>
      </p:sp>
      <p:sp>
        <p:nvSpPr>
          <p:cNvPr id="5" name="Text 3"/>
          <p:cNvSpPr/>
          <p:nvPr/>
        </p:nvSpPr>
        <p:spPr>
          <a:xfrm>
            <a:off x="548640" y="1783080"/>
            <a:ext cx="1645920" cy="804672"/>
          </a:xfrm>
          <a:prstGeom prst="roundRect">
            <a:avLst>
              <a:gd name="adj" fmla="val 9091"/>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a:t>
            </a:r>
            <a:endParaRPr lang="en-US" sz="1400" dirty="0"/>
          </a:p>
        </p:txBody>
      </p:sp>
      <p:sp>
        <p:nvSpPr>
          <p:cNvPr id="6" name="Shape 4"/>
          <p:cNvSpPr/>
          <p:nvPr/>
        </p:nvSpPr>
        <p:spPr>
          <a:xfrm>
            <a:off x="2331720" y="1783080"/>
            <a:ext cx="9308592" cy="804672"/>
          </a:xfrm>
          <a:prstGeom prst="roundRect">
            <a:avLst>
              <a:gd name="adj" fmla="val 9091"/>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2514600" y="17830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A small, older, synthetic claims database covering 2008–2010, with no numeric measurement values.</a:t>
            </a:r>
            <a:endParaRPr lang="en-US" sz="1250" dirty="0"/>
          </a:p>
        </p:txBody>
      </p:sp>
      <p:sp>
        <p:nvSpPr>
          <p:cNvPr id="8" name="Text 6"/>
          <p:cNvSpPr txBox="1"/>
          <p:nvPr/>
        </p:nvSpPr>
        <p:spPr>
          <a:xfrm>
            <a:off x="7818120" y="1783080"/>
            <a:ext cx="3657600" cy="804672"/>
          </a:xfrm>
          <a:prstGeom prst="rect">
            <a:avLst/>
          </a:prstGeom>
          <a:noFill/>
          <a:ln/>
        </p:spPr>
        <p:txBody>
          <a:bodyPr wrap="square" lIns="0" tIns="0" rIns="0" bIns="0" rtlCol="0" anchor="ctr"/>
          <a:lstStyle/>
          <a:p>
            <a:pPr marL="0" indent="0">
              <a:buNone/>
            </a:pPr>
            <a:r>
              <a:rPr lang="en-US" sz="1250" b="1" dirty="0">
                <a:solidFill>
                  <a:srgbClr val="3D5A80"/>
                </a:solidFill>
              </a:rPr>
              <a:t>Definitions can use diagnosis codes and dispensings, but not measured values.</a:t>
            </a:r>
            <a:endParaRPr lang="en-US" sz="1250" dirty="0"/>
          </a:p>
        </p:txBody>
      </p:sp>
      <p:sp>
        <p:nvSpPr>
          <p:cNvPr id="9" name="Text 7"/>
          <p:cNvSpPr/>
          <p:nvPr/>
        </p:nvSpPr>
        <p:spPr>
          <a:xfrm>
            <a:off x="548640" y="2697480"/>
            <a:ext cx="1645920" cy="804672"/>
          </a:xfrm>
          <a:prstGeom prst="roundRect">
            <a:avLst>
              <a:gd name="adj" fmla="val 9091"/>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a:t>
            </a:r>
            <a:endParaRPr lang="en-US" sz="1400" dirty="0"/>
          </a:p>
        </p:txBody>
      </p:sp>
      <p:sp>
        <p:nvSpPr>
          <p:cNvPr id="10" name="Shape 8"/>
          <p:cNvSpPr/>
          <p:nvPr/>
        </p:nvSpPr>
        <p:spPr>
          <a:xfrm>
            <a:off x="2331720" y="2697480"/>
            <a:ext cx="9308592" cy="804672"/>
          </a:xfrm>
          <a:prstGeom prst="roundRect">
            <a:avLst>
              <a:gd name="adj" fmla="val 9091"/>
            </a:avLst>
          </a:prstGeom>
          <a:solidFill>
            <a:srgbClr val="E4F2F3"/>
          </a:solidFill>
          <a:ln w="12700">
            <a:solidFill>
              <a:srgbClr val="E4F2F3"/>
            </a:solidFill>
            <a:prstDash val="solid"/>
          </a:ln>
        </p:spPr>
        <p:txBody>
          <a:bodyPr/>
          <a:lstStyle/>
          <a:p>
            <a:endParaRPr lang="en-US"/>
          </a:p>
        </p:txBody>
      </p:sp>
      <p:sp>
        <p:nvSpPr>
          <p:cNvPr id="11" name="Text 9"/>
          <p:cNvSpPr txBox="1"/>
          <p:nvPr/>
        </p:nvSpPr>
        <p:spPr>
          <a:xfrm>
            <a:off x="2514600" y="26974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Hypertension rests on one billing code; warfarin rests on one 5 mg product. Related concepts with many records are missing.</a:t>
            </a:r>
            <a:endParaRPr lang="en-US" sz="1250" dirty="0"/>
          </a:p>
        </p:txBody>
      </p:sp>
      <p:sp>
        <p:nvSpPr>
          <p:cNvPr id="12" name="Text 10"/>
          <p:cNvSpPr txBox="1"/>
          <p:nvPr/>
        </p:nvSpPr>
        <p:spPr>
          <a:xfrm>
            <a:off x="7818120" y="2697480"/>
            <a:ext cx="3657600" cy="804672"/>
          </a:xfrm>
          <a:prstGeom prst="rect">
            <a:avLst/>
          </a:prstGeom>
          <a:noFill/>
          <a:ln/>
        </p:spPr>
        <p:txBody>
          <a:bodyPr wrap="square" lIns="0" tIns="0" rIns="0" bIns="0" rtlCol="0" anchor="ctr"/>
          <a:lstStyle/>
          <a:p>
            <a:pPr marL="0" indent="0">
              <a:buNone/>
            </a:pPr>
            <a:r>
              <a:rPr lang="en-US" sz="1250" b="1" dirty="0">
                <a:solidFill>
                  <a:srgbClr val="0E7C86"/>
                </a:solidFill>
              </a:rPr>
              <a:t>Review the orphan concepts and widen the concept sets if the study needs it.</a:t>
            </a:r>
            <a:endParaRPr lang="en-US" sz="1250" dirty="0"/>
          </a:p>
        </p:txBody>
      </p:sp>
      <p:sp>
        <p:nvSpPr>
          <p:cNvPr id="13" name="Text 11"/>
          <p:cNvSpPr/>
          <p:nvPr/>
        </p:nvSpPr>
        <p:spPr>
          <a:xfrm>
            <a:off x="548640" y="3611880"/>
            <a:ext cx="1645920" cy="804672"/>
          </a:xfrm>
          <a:prstGeom prst="roundRect">
            <a:avLst>
              <a:gd name="adj" fmla="val 9091"/>
            </a:avLst>
          </a:prstGeom>
          <a:solidFill>
            <a:srgbClr val="C8702A"/>
          </a:solidFill>
          <a:ln/>
        </p:spPr>
        <p:txBody>
          <a:bodyPr wrap="square" lIns="0" tIns="0" rIns="0" bIns="0" rtlCol="0" anchor="ctr"/>
          <a:lstStyle/>
          <a:p>
            <a:pPr marL="0" indent="0" algn="ctr">
              <a:buNone/>
            </a:pPr>
            <a:r>
              <a:rPr lang="en-US" sz="1400" b="1" dirty="0">
                <a:solidFill>
                  <a:srgbClr val="FFFFFF"/>
                </a:solidFill>
              </a:rPr>
              <a:t>Cohort</a:t>
            </a:r>
            <a:endParaRPr lang="en-US" sz="1400" dirty="0"/>
          </a:p>
        </p:txBody>
      </p:sp>
      <p:sp>
        <p:nvSpPr>
          <p:cNvPr id="14" name="Shape 12"/>
          <p:cNvSpPr/>
          <p:nvPr/>
        </p:nvSpPr>
        <p:spPr>
          <a:xfrm>
            <a:off x="2331720" y="3611880"/>
            <a:ext cx="9308592" cy="804672"/>
          </a:xfrm>
          <a:prstGeom prst="roundRect">
            <a:avLst>
              <a:gd name="adj" fmla="val 9091"/>
            </a:avLst>
          </a:prstGeom>
          <a:solidFill>
            <a:srgbClr val="FBF0E5"/>
          </a:solidFill>
          <a:ln w="12700">
            <a:solidFill>
              <a:srgbClr val="FBF0E5"/>
            </a:solidFill>
            <a:prstDash val="solid"/>
          </a:ln>
        </p:spPr>
        <p:txBody>
          <a:bodyPr/>
          <a:lstStyle/>
          <a:p>
            <a:endParaRPr lang="en-US"/>
          </a:p>
        </p:txBody>
      </p:sp>
      <p:sp>
        <p:nvSpPr>
          <p:cNvPr id="15" name="Text 13"/>
          <p:cNvSpPr txBox="1"/>
          <p:nvPr/>
        </p:nvSpPr>
        <p:spPr>
          <a:xfrm>
            <a:off x="2514600" y="36118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No one is excluded. Many hypertension entries follow earlier hypertension records, and warfarin episodes last 30 days.</a:t>
            </a:r>
            <a:endParaRPr lang="en-US" sz="1250" dirty="0"/>
          </a:p>
        </p:txBody>
      </p:sp>
      <p:sp>
        <p:nvSpPr>
          <p:cNvPr id="16" name="Text 14"/>
          <p:cNvSpPr txBox="1"/>
          <p:nvPr/>
        </p:nvSpPr>
        <p:spPr>
          <a:xfrm>
            <a:off x="7818120" y="3611880"/>
            <a:ext cx="3657600" cy="804672"/>
          </a:xfrm>
          <a:prstGeom prst="rect">
            <a:avLst/>
          </a:prstGeom>
          <a:noFill/>
          <a:ln/>
        </p:spPr>
        <p:txBody>
          <a:bodyPr wrap="square" lIns="0" tIns="0" rIns="0" bIns="0" rtlCol="0" anchor="ctr"/>
          <a:lstStyle/>
          <a:p>
            <a:pPr marL="0" indent="0">
              <a:buNone/>
            </a:pPr>
            <a:r>
              <a:rPr lang="en-US" sz="1250" b="1" dirty="0">
                <a:solidFill>
                  <a:srgbClr val="C8702A"/>
                </a:solidFill>
              </a:rPr>
              <a:t>Describe the cohorts as recorded, not incident, and as one dispensing, not a treatment course.</a:t>
            </a:r>
            <a:endParaRPr lang="en-US" sz="1250" dirty="0"/>
          </a:p>
        </p:txBody>
      </p:sp>
      <p:sp>
        <p:nvSpPr>
          <p:cNvPr id="17" name="Text 15"/>
          <p:cNvSpPr/>
          <p:nvPr/>
        </p:nvSpPr>
        <p:spPr>
          <a:xfrm>
            <a:off x="548640" y="4526280"/>
            <a:ext cx="1645920" cy="804672"/>
          </a:xfrm>
          <a:prstGeom prst="roundRect">
            <a:avLst>
              <a:gd name="adj" fmla="val 9091"/>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a:t>
            </a:r>
            <a:endParaRPr lang="en-US" sz="1400" dirty="0"/>
          </a:p>
        </p:txBody>
      </p:sp>
      <p:sp>
        <p:nvSpPr>
          <p:cNvPr id="18" name="Shape 16"/>
          <p:cNvSpPr/>
          <p:nvPr/>
        </p:nvSpPr>
        <p:spPr>
          <a:xfrm>
            <a:off x="2331720" y="4526280"/>
            <a:ext cx="9308592" cy="804672"/>
          </a:xfrm>
          <a:prstGeom prst="roundRect">
            <a:avLst>
              <a:gd name="adj" fmla="val 9091"/>
            </a:avLst>
          </a:prstGeom>
          <a:solidFill>
            <a:srgbClr val="F1ECF7"/>
          </a:solidFill>
          <a:ln w="12700">
            <a:solidFill>
              <a:srgbClr val="F1ECF7"/>
            </a:solidFill>
            <a:prstDash val="solid"/>
          </a:ln>
        </p:spPr>
        <p:txBody>
          <a:bodyPr/>
          <a:lstStyle/>
          <a:p>
            <a:endParaRPr lang="en-US"/>
          </a:p>
        </p:txBody>
      </p:sp>
      <p:sp>
        <p:nvSpPr>
          <p:cNvPr id="19" name="Text 17"/>
          <p:cNvSpPr txBox="1"/>
          <p:nvPr/>
        </p:nvSpPr>
        <p:spPr>
          <a:xfrm>
            <a:off x="2514600" y="45262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Rates fall from the first year of data in both cohorts; hypertension prevalence is high.</a:t>
            </a:r>
            <a:endParaRPr lang="en-US" sz="1250" dirty="0"/>
          </a:p>
        </p:txBody>
      </p:sp>
      <p:sp>
        <p:nvSpPr>
          <p:cNvPr id="20" name="Text 18"/>
          <p:cNvSpPr txBox="1"/>
          <p:nvPr/>
        </p:nvSpPr>
        <p:spPr>
          <a:xfrm>
            <a:off x="7818120" y="4526280"/>
            <a:ext cx="3657600" cy="804672"/>
          </a:xfrm>
          <a:prstGeom prst="rect">
            <a:avLst/>
          </a:prstGeom>
          <a:noFill/>
          <a:ln/>
        </p:spPr>
        <p:txBody>
          <a:bodyPr wrap="square" lIns="0" tIns="0" rIns="0" bIns="0" rtlCol="0" anchor="ctr"/>
          <a:lstStyle/>
          <a:p>
            <a:pPr marL="0" indent="0">
              <a:buNone/>
            </a:pPr>
            <a:r>
              <a:rPr lang="en-US" sz="1250" b="1" dirty="0">
                <a:solidFill>
                  <a:srgbClr val="6A4C93"/>
                </a:solidFill>
              </a:rPr>
              <a:t>Report first recorded entry, not disease incidence.</a:t>
            </a:r>
            <a:endParaRPr lang="en-US" sz="1250" dirty="0"/>
          </a:p>
        </p:txBody>
      </p:sp>
      <p:sp>
        <p:nvSpPr>
          <p:cNvPr id="21" name="Text 19"/>
          <p:cNvSpPr/>
          <p:nvPr/>
        </p:nvSpPr>
        <p:spPr>
          <a:xfrm>
            <a:off x="548640" y="5532120"/>
            <a:ext cx="11091672" cy="548640"/>
          </a:xfrm>
          <a:prstGeom prst="roundRect">
            <a:avLst>
              <a:gd name="adj" fmla="val 13333"/>
            </a:avLst>
          </a:prstGeom>
          <a:solidFill>
            <a:srgbClr val="EEF3F6"/>
          </a:solidFill>
          <a:ln/>
        </p:spPr>
        <p:txBody>
          <a:bodyPr wrap="square" lIns="0" tIns="0" rIns="0" bIns="0" rtlCol="0" anchor="ctr"/>
          <a:lstStyle/>
          <a:p>
            <a:pPr marL="0" indent="0" algn="ctr">
              <a:buNone/>
            </a:pPr>
            <a:r>
              <a:rPr lang="en-US" sz="1400" b="1" dirty="0">
                <a:solidFill>
                  <a:srgbClr val="0B2545"/>
                </a:solidFill>
              </a:rPr>
              <a:t>Safe labels:  </a:t>
            </a:r>
            <a:r>
              <a:rPr lang="en-US" sz="1400" i="1" dirty="0">
                <a:solidFill>
                  <a:srgbClr val="16263A"/>
                </a:solidFill>
              </a:rPr>
              <a:t>recorded essential hypertension</a:t>
            </a:r>
            <a:r>
              <a:rPr lang="en-US" sz="1400" dirty="0">
                <a:solidFill>
                  <a:srgbClr val="556677"/>
                </a:solidFill>
              </a:rPr>
              <a:t>   and   </a:t>
            </a:r>
            <a:r>
              <a:rPr lang="en-US" sz="1400" i="1" dirty="0">
                <a:solidFill>
                  <a:srgbClr val="16263A"/>
                </a:solidFill>
              </a:rPr>
              <a:t>user of warfarin sodium 5 mg oral tablet</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B</a:t>
            </a:r>
            <a:endParaRPr lang="en-US" sz="5400" dirty="0"/>
          </a:p>
        </p:txBody>
      </p:sp>
      <p:sp>
        <p:nvSpPr>
          <p:cNvPr id="3"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LLM-Supported Context</a:t>
            </a:r>
            <a:endParaRPr lang="en-US" sz="3800" dirty="0"/>
          </a:p>
        </p:txBody>
      </p:sp>
      <p:sp>
        <p:nvSpPr>
          <p:cNvPr id="4"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Optional inputs that help interpret the diagnostics</a:t>
            </a:r>
            <a:endParaRPr lang="en-US" sz="1800" dirty="0"/>
          </a:p>
        </p:txBody>
      </p:sp>
      <p:sp>
        <p:nvSpPr>
          <p:cNvPr id="5" name="Text 3"/>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dirty="0">
                <a:solidFill>
                  <a:srgbClr val="FFFFFF"/>
                </a:solidFill>
              </a:rPr>
              <a:t>It gives reviewers the clinical and data context next to the results and </a:t>
            </a:r>
            <a:r>
              <a:rPr lang="en-US" sz="1400">
                <a:solidFill>
                  <a:srgbClr val="FFFFFF"/>
                </a:solidFill>
              </a:rPr>
              <a:t>makes expectations explicit before the results are interpreted</a:t>
            </a:r>
            <a:endParaRPr lang="en-US" sz="1050">
              <a:ea typeface="Calibri"/>
              <a:cs typeface="Calibri"/>
            </a:endParaRPr>
          </a:p>
        </p:txBody>
      </p:sp>
      <p:sp>
        <p:nvSpPr>
          <p:cNvPr id="6" name="Tab Clinical descriptions"/>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8" name="Tab Data source descriptions"/>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0" name="Tab Cohort expectations"/>
          <p:cNvSpPr/>
          <p:nvPr/>
        </p:nvSpPr>
        <p:spPr>
          <a:xfrm>
            <a:off x="6583680" y="3273552"/>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779992" y="916518"/>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Cohort expectations</a:t>
            </a:r>
            <a:endParaRPr lang="en-US" sz="1500" dirty="0"/>
          </a:p>
          <a:p>
            <a:pPr marL="0" indent="0">
              <a:buNone/>
            </a:pPr>
            <a:r>
              <a:rPr lang="en-US" sz="1200" dirty="0">
                <a:solidFill>
                  <a:srgbClr val="16263A"/>
                </a:solidFill>
              </a:rPr>
              <a:t>What we expect to see in each cohort, generated by an LLM or written by a clinician, and shown beside the results.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31</a:t>
            </a:fld>
            <a:endParaRPr lang="en-US"/>
          </a:p>
        </p:txBody>
      </p:sp>
      <p:sp>
        <p:nvSpPr>
          <p:cNvPr id="9" name="Text 7"/>
          <p:cNvSpPr txBox="1"/>
          <p:nvPr/>
        </p:nvSpPr>
        <p:spPr>
          <a:xfrm>
            <a:off x="6805823" y="3249892"/>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Data source descriptions</a:t>
            </a:r>
            <a:endParaRPr lang="en-US" sz="1500" dirty="0"/>
          </a:p>
          <a:p>
            <a:pPr marL="0" indent="0">
              <a:buNone/>
            </a:pPr>
            <a:r>
              <a:rPr lang="en-US" sz="1200" dirty="0">
                <a:solidFill>
                  <a:srgbClr val="16263A"/>
                </a:solidFill>
              </a:rPr>
              <a:t>A structured profile of each database, written by the people who know the data.</a:t>
            </a:r>
            <a:endParaRPr lang="en-US" sz="1500" dirty="0"/>
          </a:p>
        </p:txBody>
      </p:sp>
      <p:sp>
        <p:nvSpPr>
          <p:cNvPr id="7" name="Text 5"/>
          <p:cNvSpPr txBox="1"/>
          <p:nvPr/>
        </p:nvSpPr>
        <p:spPr>
          <a:xfrm>
            <a:off x="6779991" y="2096146"/>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Clinical descriptions</a:t>
            </a:r>
            <a:endParaRPr lang="en-US" sz="1500" dirty="0"/>
          </a:p>
          <a:p>
            <a:pPr marL="0" indent="0">
              <a:buNone/>
            </a:pPr>
            <a:r>
              <a:rPr lang="en-US" sz="1200" dirty="0">
                <a:solidFill>
                  <a:srgbClr val="16263A"/>
                </a:solidFill>
              </a:rPr>
              <a:t>A structured profile of each condition or exposure, drafted by an LLM or written by a clinician.</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LLM-SUPPORTED CONTEXT</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Three Inputs Add Context to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Each input is a file in a folder that </a:t>
            </a:r>
            <a:r>
              <a:rPr lang="en-US" sz="1600" b="1" dirty="0">
                <a:solidFill>
                  <a:srgbClr val="A23B72"/>
                </a:solidFill>
                <a:latin typeface="Courier New" pitchFamily="34" charset="0"/>
                <a:ea typeface="Courier New" pitchFamily="34" charset="-122"/>
                <a:cs typeface="Courier New" pitchFamily="34" charset="-120"/>
              </a:rPr>
              <a:t>shinyDiagnostics()</a:t>
            </a:r>
            <a:r>
              <a:rPr lang="en-US" sz="1600" dirty="0">
                <a:solidFill>
                  <a:srgbClr val="556677"/>
                </a:solidFill>
              </a:rPr>
              <a:t> reads when it builds the app</a:t>
            </a:r>
            <a:endParaRPr lang="en-US" sz="1600" dirty="0"/>
          </a:p>
        </p:txBody>
      </p:sp>
      <p:grpSp>
        <p:nvGrpSpPr>
          <p:cNvPr id="29" name="Group 28">
            <a:extLst>
              <a:ext uri="{FF2B5EF4-FFF2-40B4-BE49-F238E27FC236}">
                <a16:creationId xmlns:a16="http://schemas.microsoft.com/office/drawing/2014/main" id="{A9785DED-3E01-A42C-804D-9A64E0FFB2CC}"/>
              </a:ext>
            </a:extLst>
          </p:cNvPr>
          <p:cNvGrpSpPr/>
          <p:nvPr/>
        </p:nvGrpSpPr>
        <p:grpSpPr>
          <a:xfrm>
            <a:off x="4319894" y="1938063"/>
            <a:ext cx="3566160" cy="3886200"/>
            <a:chOff x="548640" y="1783080"/>
            <a:chExt cx="3566160" cy="3886200"/>
          </a:xfrm>
        </p:grpSpPr>
        <p:sp>
          <p:nvSpPr>
            <p:cNvPr id="5" name="Shape 3"/>
            <p:cNvSpPr/>
            <p:nvPr/>
          </p:nvSpPr>
          <p:spPr>
            <a:xfrm>
              <a:off x="54864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6" name="Shape 4"/>
            <p:cNvSpPr/>
            <p:nvPr/>
          </p:nvSpPr>
          <p:spPr>
            <a:xfrm>
              <a:off x="77724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3544" y="2157984"/>
              <a:ext cx="274320" cy="274320"/>
            </a:xfrm>
            <a:prstGeom prst="rect">
              <a:avLst/>
            </a:prstGeom>
          </p:spPr>
        </p:pic>
        <p:sp>
          <p:nvSpPr>
            <p:cNvPr id="8" name="Text 5"/>
            <p:cNvSpPr txBox="1"/>
            <p:nvPr/>
          </p:nvSpPr>
          <p:spPr>
            <a:xfrm>
              <a:off x="1463040" y="2011680"/>
              <a:ext cx="2514600" cy="566928"/>
            </a:xfrm>
            <a:prstGeom prst="rect">
              <a:avLst/>
            </a:prstGeom>
            <a:noFill/>
            <a:ln/>
          </p:spPr>
          <p:txBody>
            <a:bodyPr wrap="square" lIns="0" tIns="0" rIns="0" bIns="0" rtlCol="0" anchor="ctr"/>
            <a:lstStyle/>
            <a:p>
              <a:pPr marL="0" indent="0">
                <a:buNone/>
              </a:pPr>
              <a:r>
                <a:rPr lang="en-US" sz="1700" b="1" dirty="0">
                  <a:solidFill>
                    <a:srgbClr val="0B2545"/>
                  </a:solidFill>
                </a:rPr>
                <a:t>Clinical description</a:t>
              </a:r>
              <a:endParaRPr lang="en-US" sz="1700" dirty="0"/>
            </a:p>
          </p:txBody>
        </p:sp>
        <p:sp>
          <p:nvSpPr>
            <p:cNvPr id="9" name="Text 6"/>
            <p:cNvSpPr txBox="1"/>
            <p:nvPr/>
          </p:nvSpPr>
          <p:spPr>
            <a:xfrm>
              <a:off x="77724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dirty="0">
                  <a:solidFill>
                    <a:srgbClr val="16263A"/>
                  </a:solidFill>
                </a:rPr>
                <a:t>The Clinical Description app, or an LLM through PhenotypeR</a:t>
              </a:r>
              <a:endParaRPr lang="en-US" sz="1000" dirty="0"/>
            </a:p>
          </p:txBody>
        </p:sp>
        <p:sp>
          <p:nvSpPr>
            <p:cNvPr id="10" name="Text 7"/>
            <p:cNvSpPr txBox="1"/>
            <p:nvPr/>
          </p:nvSpPr>
          <p:spPr>
            <a:xfrm>
              <a:off x="77724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Phenotype name = cohort name</a:t>
              </a:r>
              <a:endParaRPr lang="en-US" sz="1000" dirty="0"/>
            </a:p>
          </p:txBody>
        </p:sp>
        <p:sp>
          <p:nvSpPr>
            <p:cNvPr id="11" name="Text 8"/>
            <p:cNvSpPr txBox="1"/>
            <p:nvPr/>
          </p:nvSpPr>
          <p:spPr>
            <a:xfrm>
              <a:off x="77724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dirty="0">
                  <a:solidFill>
                    <a:srgbClr val="16263A"/>
                  </a:solidFill>
                </a:rPr>
                <a:t>Background › Clinical descriptions</a:t>
              </a:r>
              <a:endParaRPr lang="en-US" sz="1000" dirty="0"/>
            </a:p>
          </p:txBody>
        </p:sp>
      </p:grpSp>
      <p:grpSp>
        <p:nvGrpSpPr>
          <p:cNvPr id="28" name="Group 27">
            <a:extLst>
              <a:ext uri="{FF2B5EF4-FFF2-40B4-BE49-F238E27FC236}">
                <a16:creationId xmlns:a16="http://schemas.microsoft.com/office/drawing/2014/main" id="{C53EC723-FC0E-E81C-291A-CF96D048CD71}"/>
              </a:ext>
            </a:extLst>
          </p:cNvPr>
          <p:cNvGrpSpPr/>
          <p:nvPr/>
        </p:nvGrpSpPr>
        <p:grpSpPr>
          <a:xfrm>
            <a:off x="8068934" y="1938063"/>
            <a:ext cx="3566160" cy="3886200"/>
            <a:chOff x="4297680" y="1783080"/>
            <a:chExt cx="3566160" cy="3886200"/>
          </a:xfrm>
        </p:grpSpPr>
        <p:sp>
          <p:nvSpPr>
            <p:cNvPr id="12" name="Shape 9"/>
            <p:cNvSpPr/>
            <p:nvPr/>
          </p:nvSpPr>
          <p:spPr>
            <a:xfrm>
              <a:off x="429768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13" name="Shape 10"/>
            <p:cNvSpPr/>
            <p:nvPr/>
          </p:nvSpPr>
          <p:spPr>
            <a:xfrm>
              <a:off x="452628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672584" y="2157984"/>
              <a:ext cx="274320" cy="274320"/>
            </a:xfrm>
            <a:prstGeom prst="rect">
              <a:avLst/>
            </a:prstGeom>
          </p:spPr>
        </p:pic>
        <p:sp>
          <p:nvSpPr>
            <p:cNvPr id="15" name="Text 11"/>
            <p:cNvSpPr txBox="1"/>
            <p:nvPr/>
          </p:nvSpPr>
          <p:spPr>
            <a:xfrm>
              <a:off x="5212080" y="2011680"/>
              <a:ext cx="2514600" cy="566928"/>
            </a:xfrm>
            <a:prstGeom prst="rect">
              <a:avLst/>
            </a:prstGeom>
            <a:noFill/>
            <a:ln/>
          </p:spPr>
          <p:txBody>
            <a:bodyPr wrap="square" lIns="0" tIns="0" rIns="0" bIns="0" rtlCol="0" anchor="ctr"/>
            <a:lstStyle/>
            <a:p>
              <a:r>
                <a:rPr lang="en-US" sz="1700" b="1">
                  <a:solidFill>
                    <a:srgbClr val="0B2545"/>
                  </a:solidFill>
                </a:rPr>
                <a:t>Data source description</a:t>
              </a:r>
              <a:endParaRPr lang="en-US" sz="1700" b="1">
                <a:solidFill>
                  <a:srgbClr val="0B2545"/>
                </a:solidFill>
                <a:ea typeface="Calibri"/>
                <a:cs typeface="Calibri"/>
              </a:endParaRPr>
            </a:p>
          </p:txBody>
        </p:sp>
        <p:sp>
          <p:nvSpPr>
            <p:cNvPr id="16" name="Text 12"/>
            <p:cNvSpPr txBox="1"/>
            <p:nvPr/>
          </p:nvSpPr>
          <p:spPr>
            <a:xfrm>
              <a:off x="452628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a:solidFill>
                    <a:srgbClr val="16263A"/>
                  </a:solidFill>
                </a:rPr>
                <a:t>The Data Source Description app</a:t>
              </a:r>
              <a:endParaRPr lang="en-US" sz="1300">
                <a:ea typeface="Calibri"/>
                <a:cs typeface="Calibri"/>
              </a:endParaRPr>
            </a:p>
          </p:txBody>
        </p:sp>
        <p:sp>
          <p:nvSpPr>
            <p:cNvPr id="17" name="Text 13"/>
            <p:cNvSpPr txBox="1"/>
            <p:nvPr/>
          </p:nvSpPr>
          <p:spPr>
            <a:xfrm>
              <a:off x="452628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Data source acronym = CDM name</a:t>
              </a:r>
              <a:endParaRPr lang="en-US" sz="1000" dirty="0"/>
            </a:p>
          </p:txBody>
        </p:sp>
        <p:sp>
          <p:nvSpPr>
            <p:cNvPr id="18" name="Text 14"/>
            <p:cNvSpPr txBox="1"/>
            <p:nvPr/>
          </p:nvSpPr>
          <p:spPr>
            <a:xfrm>
              <a:off x="452628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dirty="0">
                  <a:solidFill>
                    <a:srgbClr val="16263A"/>
                  </a:solidFill>
                </a:rPr>
                <a:t>Background › Database descriptions</a:t>
              </a:r>
              <a:endParaRPr lang="en-US" sz="1000" dirty="0"/>
            </a:p>
          </p:txBody>
        </p:sp>
      </p:grpSp>
      <p:grpSp>
        <p:nvGrpSpPr>
          <p:cNvPr id="27" name="Group 26">
            <a:extLst>
              <a:ext uri="{FF2B5EF4-FFF2-40B4-BE49-F238E27FC236}">
                <a16:creationId xmlns:a16="http://schemas.microsoft.com/office/drawing/2014/main" id="{071A3BCA-CB28-D38B-66C0-07755144DB3C}"/>
              </a:ext>
            </a:extLst>
          </p:cNvPr>
          <p:cNvGrpSpPr/>
          <p:nvPr/>
        </p:nvGrpSpPr>
        <p:grpSpPr>
          <a:xfrm>
            <a:off x="588162" y="1938064"/>
            <a:ext cx="3566160" cy="3886200"/>
            <a:chOff x="8046720" y="1783080"/>
            <a:chExt cx="3566160" cy="3886200"/>
          </a:xfrm>
        </p:grpSpPr>
        <p:sp>
          <p:nvSpPr>
            <p:cNvPr id="19" name="Shape 15"/>
            <p:cNvSpPr/>
            <p:nvPr/>
          </p:nvSpPr>
          <p:spPr>
            <a:xfrm>
              <a:off x="804672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20" name="Shape 16"/>
            <p:cNvSpPr/>
            <p:nvPr/>
          </p:nvSpPr>
          <p:spPr>
            <a:xfrm>
              <a:off x="827532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8421624" y="2157984"/>
              <a:ext cx="274320" cy="274320"/>
            </a:xfrm>
            <a:prstGeom prst="rect">
              <a:avLst/>
            </a:prstGeom>
          </p:spPr>
        </p:pic>
        <p:sp>
          <p:nvSpPr>
            <p:cNvPr id="22" name="Text 17"/>
            <p:cNvSpPr txBox="1"/>
            <p:nvPr/>
          </p:nvSpPr>
          <p:spPr>
            <a:xfrm>
              <a:off x="8961120" y="2011680"/>
              <a:ext cx="2514600" cy="566928"/>
            </a:xfrm>
            <a:prstGeom prst="rect">
              <a:avLst/>
            </a:prstGeom>
            <a:noFill/>
            <a:ln/>
          </p:spPr>
          <p:txBody>
            <a:bodyPr wrap="square" lIns="0" tIns="0" rIns="0" bIns="0" rtlCol="0" anchor="ctr"/>
            <a:lstStyle/>
            <a:p>
              <a:pPr marL="0" indent="0">
                <a:buNone/>
              </a:pPr>
              <a:r>
                <a:rPr lang="en-US" sz="1700" b="1" dirty="0">
                  <a:solidFill>
                    <a:srgbClr val="0B2545"/>
                  </a:solidFill>
                </a:rPr>
                <a:t>Cohort expectations</a:t>
              </a:r>
              <a:endParaRPr lang="en-US" sz="1700" dirty="0"/>
            </a:p>
          </p:txBody>
        </p:sp>
        <p:sp>
          <p:nvSpPr>
            <p:cNvPr id="23" name="Text 18"/>
            <p:cNvSpPr txBox="1"/>
            <p:nvPr/>
          </p:nvSpPr>
          <p:spPr>
            <a:xfrm>
              <a:off x="827532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dirty="0">
                  <a:solidFill>
                    <a:srgbClr val="16263A"/>
                  </a:solidFill>
                </a:rPr>
                <a:t>getCohortExpectations() and an LLM, or written by a clinician</a:t>
              </a:r>
              <a:endParaRPr lang="en-US" sz="1000" dirty="0"/>
            </a:p>
          </p:txBody>
        </p:sp>
        <p:sp>
          <p:nvSpPr>
            <p:cNvPr id="24" name="Text 19"/>
            <p:cNvSpPr txBox="1"/>
            <p:nvPr/>
          </p:nvSpPr>
          <p:spPr>
            <a:xfrm>
              <a:off x="827532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Cohort name</a:t>
              </a:r>
              <a:endParaRPr lang="en-US" sz="1000" dirty="0"/>
            </a:p>
          </p:txBody>
        </p:sp>
        <p:sp>
          <p:nvSpPr>
            <p:cNvPr id="25" name="Text 20"/>
            <p:cNvSpPr txBox="1"/>
            <p:nvPr/>
          </p:nvSpPr>
          <p:spPr>
            <a:xfrm>
              <a:off x="827532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a:solidFill>
                    <a:srgbClr val="16263A"/>
                  </a:solidFill>
                </a:rPr>
                <a:t>“Show cohort expectations” in cohort </a:t>
              </a:r>
              <a:r>
                <a:rPr lang="en-US" sz="1300" dirty="0">
                  <a:solidFill>
                    <a:srgbClr val="16263A"/>
                  </a:solidFill>
                </a:rPr>
                <a:t>diagnostics tabs</a:t>
              </a:r>
              <a:endParaRPr lang="en-US" sz="1000" dirty="0"/>
            </a:p>
          </p:txBody>
        </p:sp>
      </p:gr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COHORT EXPECTATIONS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Expectations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r>
              <a:rPr lang="en-US" sz="1600" dirty="0">
                <a:solidFill>
                  <a:srgbClr val="556677"/>
                </a:solidFill>
              </a:rPr>
              <a:t>Expectations are shown </a:t>
            </a:r>
            <a:r>
              <a:rPr lang="en-US" sz="1600" b="1" dirty="0">
                <a:solidFill>
                  <a:srgbClr val="A23B72"/>
                </a:solidFill>
              </a:rPr>
              <a:t>beside the results</a:t>
            </a:r>
            <a:r>
              <a:rPr lang="en-US" sz="1600">
                <a:solidFill>
                  <a:srgbClr val="556677"/>
                </a:solidFill>
              </a:rPr>
              <a:t> in </a:t>
            </a:r>
            <a:r>
              <a:rPr lang="en-US"/>
              <a:t>the cohort</a:t>
            </a:r>
            <a:r>
              <a:rPr lang="en-US" sz="1600">
                <a:solidFill>
                  <a:srgbClr val="556677"/>
                </a:solidFill>
              </a:rPr>
              <a:t> diagnostics tabs</a:t>
            </a:r>
            <a:endParaRPr lang="en-US" sz="1600"/>
          </a:p>
        </p:txBody>
      </p:sp>
      <p:graphicFrame>
        <p:nvGraphicFramePr>
          <p:cNvPr id="30" name="Table 0"/>
          <p:cNvGraphicFramePr>
            <a:graphicFrameLocks noGrp="1"/>
          </p:cNvGraphicFramePr>
          <p:nvPr>
            <p:extLst>
              <p:ext uri="{D42A27DB-BD31-4B8C-83A1-F6EECF244321}">
                <p14:modId xmlns:p14="http://schemas.microsoft.com/office/powerpoint/2010/main" val="1348449699"/>
              </p:ext>
            </p:extLst>
          </p:nvPr>
        </p:nvGraphicFramePr>
        <p:xfrm>
          <a:off x="548640" y="1783080"/>
          <a:ext cx="6949440" cy="3200400"/>
        </p:xfrm>
        <a:graphic>
          <a:graphicData uri="http://schemas.openxmlformats.org/drawingml/2006/table">
            <a:tbl>
              <a:tblPr/>
              <a:tblGrid>
                <a:gridCol w="4023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1148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Expectation returned by getCohortExpectations()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Shown in the R Shiny App tab</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Clinical description; how frequently the condition is seen</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count</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Median age of incident cases; percentage male</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characteristics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Frequent comorbidities, signs and symptoms, and medications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a:solidFill>
                            <a:srgbClr val="C8702A"/>
                          </a:solidFill>
                          <a:latin typeface="Calibri"/>
                          <a:ea typeface="Calibri"/>
                          <a:cs typeface="Calibri"/>
                        </a:rPr>
                        <a:t>Large scale characteristics</a:t>
                      </a: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Overlap and timing with the other cohorts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Compare cohorts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Survival at five years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survival</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074920"/>
            <a:ext cx="6949440" cy="365760"/>
          </a:xfrm>
          <a:prstGeom prst="rect">
            <a:avLst/>
          </a:prstGeom>
          <a:noFill/>
          <a:ln/>
        </p:spPr>
        <p:txBody>
          <a:bodyPr wrap="square" lIns="0" tIns="0" rIns="0" bIns="0" rtlCol="0" anchor="ctr"/>
          <a:lstStyle/>
          <a:p>
            <a:pPr marL="0" indent="0">
              <a:buNone/>
            </a:pPr>
            <a:r>
              <a:rPr lang="en-US" sz="1150" i="1" dirty="0">
                <a:solidFill>
                  <a:srgbClr val="556677"/>
                </a:solidFill>
              </a:rPr>
              <a:t>Each row also records its source: the model name or clinician</a:t>
            </a:r>
            <a:endParaRPr lang="en-US" sz="1150" dirty="0"/>
          </a:p>
        </p:txBody>
      </p:sp>
      <p:sp>
        <p:nvSpPr>
          <p:cNvPr id="7" name="Shape 4"/>
          <p:cNvSpPr/>
          <p:nvPr/>
        </p:nvSpPr>
        <p:spPr>
          <a:xfrm>
            <a:off x="7772400" y="1783080"/>
            <a:ext cx="3867912" cy="3886200"/>
          </a:xfrm>
          <a:prstGeom prst="roundRect">
            <a:avLst>
              <a:gd name="adj" fmla="val 2364"/>
            </a:avLst>
          </a:prstGeom>
          <a:solidFill>
            <a:srgbClr val="F8EAF1"/>
          </a:solidFill>
          <a:ln w="12700">
            <a:solidFill>
              <a:srgbClr val="F8EAF1"/>
            </a:solidFill>
            <a:prstDash val="solid"/>
          </a:ln>
        </p:spPr>
        <p:txBody>
          <a:bodyPr/>
          <a:lstStyle/>
          <a:p>
            <a:endParaRPr lang="en-US"/>
          </a:p>
        </p:txBody>
      </p:sp>
      <p:sp>
        <p:nvSpPr>
          <p:cNvPr id="8" name="Text 5"/>
          <p:cNvSpPr txBox="1"/>
          <p:nvPr/>
        </p:nvSpPr>
        <p:spPr>
          <a:xfrm>
            <a:off x="8001000" y="1965960"/>
            <a:ext cx="3474720" cy="3566160"/>
          </a:xfrm>
          <a:prstGeom prst="rect">
            <a:avLst/>
          </a:prstGeom>
          <a:noFill/>
          <a:ln/>
        </p:spPr>
        <p:txBody>
          <a:bodyPr wrap="square" lIns="0" tIns="0" rIns="0" bIns="0" rtlCol="0" anchor="t"/>
          <a:lstStyle/>
          <a:p>
            <a:pPr marL="0" indent="0">
              <a:buNone/>
            </a:pPr>
            <a:r>
              <a:rPr lang="en-US" sz="1500" b="1" dirty="0">
                <a:solidFill>
                  <a:srgbClr val="0B2545"/>
                </a:solidFill>
              </a:rPr>
              <a:t>Two ways to create them</a:t>
            </a:r>
            <a:endParaRPr lang="en-US" sz="1250" dirty="0"/>
          </a:p>
          <a:p>
            <a:endParaRPr lang="en-US" sz="1250" b="1" dirty="0">
              <a:solidFill>
                <a:srgbClr val="A23B72"/>
              </a:solidFill>
            </a:endParaRPr>
          </a:p>
          <a:p>
            <a:pPr marL="0" indent="0">
              <a:buNone/>
            </a:pPr>
            <a:r>
              <a:rPr lang="en-US" sz="1250" b="1" dirty="0">
                <a:solidFill>
                  <a:srgbClr val="A23B72"/>
                </a:solidFill>
              </a:rPr>
              <a:t>With an LLM: </a:t>
            </a:r>
            <a:r>
              <a:rPr lang="en-US" sz="1250" dirty="0" err="1">
                <a:solidFill>
                  <a:srgbClr val="16263A"/>
                </a:solidFill>
              </a:rPr>
              <a:t>getCohortExpectations</a:t>
            </a:r>
            <a:r>
              <a:rPr lang="en-US" sz="1250" dirty="0">
                <a:solidFill>
                  <a:srgbClr val="16263A"/>
                </a:solidFill>
              </a:rPr>
              <a:t>() sends only the cohort names to the model and returns a table of expectations.</a:t>
            </a:r>
            <a:endParaRPr lang="en-US" sz="1250">
              <a:ea typeface="Calibri"/>
              <a:cs typeface="Calibri"/>
            </a:endParaRPr>
          </a:p>
          <a:p>
            <a:pPr marL="0" indent="0">
              <a:buNone/>
            </a:pPr>
            <a:r>
              <a:rPr lang="en-US" sz="1250" dirty="0">
                <a:solidFill>
                  <a:srgbClr val="000000"/>
                </a:solidFill>
              </a:rPr>
              <a:t> </a:t>
            </a:r>
            <a:endParaRPr lang="en-US" sz="1250" dirty="0"/>
          </a:p>
          <a:p>
            <a:pPr marL="0" indent="0">
              <a:buNone/>
            </a:pPr>
            <a:r>
              <a:rPr lang="en-US" sz="1250" b="1" dirty="0">
                <a:solidFill>
                  <a:srgbClr val="A23B72"/>
                </a:solidFill>
              </a:rPr>
              <a:t>By hand: </a:t>
            </a:r>
            <a:r>
              <a:rPr lang="en-US" sz="1250" dirty="0">
                <a:solidFill>
                  <a:srgbClr val="16263A"/>
                </a:solidFill>
              </a:rPr>
              <a:t>a clinician writes a table with four columns: </a:t>
            </a:r>
            <a:r>
              <a:rPr lang="en-US" sz="1250" dirty="0" err="1">
                <a:solidFill>
                  <a:srgbClr val="16263A"/>
                </a:solidFill>
              </a:rPr>
              <a:t>cohort_name</a:t>
            </a:r>
            <a:r>
              <a:rPr lang="en-US" sz="1250" dirty="0">
                <a:solidFill>
                  <a:srgbClr val="16263A"/>
                </a:solidFill>
              </a:rPr>
              <a:t>, estimate, value and source.</a:t>
            </a:r>
            <a:endParaRPr lang="en-US" sz="1250" dirty="0"/>
          </a:p>
          <a:p>
            <a:pPr marL="0" indent="0">
              <a:buNone/>
            </a:pPr>
            <a:r>
              <a:rPr lang="en-US" sz="1250" dirty="0">
                <a:solidFill>
                  <a:srgbClr val="000000"/>
                </a:solidFill>
              </a:rPr>
              <a:t> </a:t>
            </a:r>
            <a:endParaRPr lang="en-US" sz="1250" dirty="0"/>
          </a:p>
          <a:p>
            <a:pPr marL="0" indent="0">
              <a:buNone/>
            </a:pPr>
            <a:r>
              <a:rPr lang="en-US" sz="1250" i="1" dirty="0">
                <a:solidFill>
                  <a:srgbClr val="16263A"/>
                </a:solidFill>
              </a:rPr>
              <a:t>The comparison cohort in the app is the age- and sex-matched control group. The expectations are text shown next to the observed results.</a:t>
            </a:r>
            <a:endParaRPr lang="en-US" sz="12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CLINICAL DESCRIPTIONS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The Clinical Description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structured profile of the condition that can be </a:t>
            </a:r>
            <a:r>
              <a:rPr lang="en-US" sz="1600" b="1" dirty="0">
                <a:solidFill>
                  <a:srgbClr val="A23B72"/>
                </a:solidFill>
              </a:rPr>
              <a:t>drafted by an LLM</a:t>
            </a:r>
            <a:r>
              <a:rPr lang="en-US" sz="1600">
                <a:solidFill>
                  <a:srgbClr val="556677"/>
                </a:solidFill>
              </a:rPr>
              <a:t> and edited by a clinician</a:t>
            </a:r>
            <a:r>
              <a:rPr lang="en-US"/>
              <a:t>/epi</a:t>
            </a:r>
            <a:endParaRPr lang="en-US" sz="1600" dirty="0"/>
          </a:p>
        </p:txBody>
      </p:sp>
      <p:sp>
        <p:nvSpPr>
          <p:cNvPr id="5" name="Shape 3"/>
          <p:cNvSpPr/>
          <p:nvPr/>
        </p:nvSpPr>
        <p:spPr>
          <a:xfrm>
            <a:off x="548640" y="1783080"/>
            <a:ext cx="3840480" cy="3886200"/>
          </a:xfrm>
          <a:prstGeom prst="roundRect">
            <a:avLst>
              <a:gd name="adj" fmla="val 2381"/>
            </a:avLst>
          </a:prstGeom>
          <a:solidFill>
            <a:srgbClr val="F7F9FB"/>
          </a:solidFill>
          <a:ln w="12700">
            <a:solidFill>
              <a:srgbClr val="DCE3E9"/>
            </a:solidFill>
            <a:prstDash val="solid"/>
          </a:ln>
        </p:spPr>
        <p:txBody>
          <a:bodyPr/>
          <a:lstStyle/>
          <a:p>
            <a:endParaRPr lang="en-US"/>
          </a:p>
        </p:txBody>
      </p:sp>
      <p:sp>
        <p:nvSpPr>
          <p:cNvPr id="6" name="Text 4"/>
          <p:cNvSpPr txBox="1"/>
          <p:nvPr/>
        </p:nvSpPr>
        <p:spPr>
          <a:xfrm>
            <a:off x="777240" y="1920240"/>
            <a:ext cx="338328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METADATA</a:t>
            </a:r>
            <a:endParaRPr lang="en-US" sz="1100" dirty="0"/>
          </a:p>
        </p:txBody>
      </p:sp>
      <p:sp>
        <p:nvSpPr>
          <p:cNvPr id="7" name="Text 5"/>
          <p:cNvSpPr txBox="1"/>
          <p:nvPr/>
        </p:nvSpPr>
        <p:spPr>
          <a:xfrm>
            <a:off x="777240" y="2240280"/>
            <a:ext cx="3474720" cy="2103120"/>
          </a:xfrm>
          <a:prstGeom prst="rect">
            <a:avLst/>
          </a:prstGeom>
          <a:noFill/>
          <a:ln/>
        </p:spPr>
        <p:txBody>
          <a:bodyPr wrap="square" lIns="0" tIns="0" rIns="0" bIns="0" rtlCol="0" anchor="t"/>
          <a:lstStyle/>
          <a:p>
            <a:pPr marL="165100" indent="-165100">
              <a:spcAft>
                <a:spcPts val="600"/>
              </a:spcAft>
              <a:buSzPct val="100000"/>
              <a:buChar char="•"/>
            </a:pPr>
            <a:r>
              <a:rPr lang="en-US" sz="1300">
                <a:solidFill>
                  <a:srgbClr val="16263A"/>
                </a:solidFill>
              </a:rPr>
              <a:t>Phenotype name</a:t>
            </a:r>
            <a:endParaRPr lang="en-US" sz="1300" dirty="0">
              <a:solidFill>
                <a:srgbClr val="16263A"/>
              </a:solidFill>
            </a:endParaRPr>
          </a:p>
          <a:p>
            <a:pPr marL="165100" indent="-165100">
              <a:spcAft>
                <a:spcPts val="600"/>
              </a:spcAft>
              <a:buSzPct val="100000"/>
              <a:buChar char="•"/>
            </a:pPr>
            <a:r>
              <a:rPr lang="en-US" sz="1300" dirty="0">
                <a:solidFill>
                  <a:srgbClr val="16263A"/>
                </a:solidFill>
              </a:rPr>
              <a:t>Created by and created date</a:t>
            </a:r>
            <a:endParaRPr lang="en-US" sz="1300" dirty="0"/>
          </a:p>
          <a:p>
            <a:pPr marL="165100" indent="-165100">
              <a:spcAft>
                <a:spcPts val="600"/>
              </a:spcAft>
              <a:buSzPct val="100000"/>
              <a:buChar char="•"/>
            </a:pPr>
            <a:r>
              <a:rPr lang="en-US" sz="1300" dirty="0">
                <a:solidFill>
                  <a:srgbClr val="16263A"/>
                </a:solidFill>
              </a:rPr>
              <a:t>Last edited by and last edited date</a:t>
            </a:r>
            <a:endParaRPr lang="en-US" sz="1300" dirty="0"/>
          </a:p>
          <a:p>
            <a:pPr marL="165100" indent="-165100">
              <a:spcAft>
                <a:spcPts val="600"/>
              </a:spcAft>
              <a:buSzPct val="100000"/>
              <a:buChar char="•"/>
            </a:pPr>
            <a:r>
              <a:rPr lang="en-US" sz="1300" dirty="0">
                <a:solidFill>
                  <a:srgbClr val="16263A"/>
                </a:solidFill>
              </a:rPr>
              <a:t>Source of information</a:t>
            </a:r>
            <a:endParaRPr lang="en-US" sz="1300" dirty="0"/>
          </a:p>
        </p:txBody>
      </p:sp>
      <p:sp>
        <p:nvSpPr>
          <p:cNvPr id="8" name="Text 6"/>
          <p:cNvSpPr txBox="1"/>
          <p:nvPr/>
        </p:nvSpPr>
        <p:spPr>
          <a:xfrm>
            <a:off x="777240" y="4572000"/>
            <a:ext cx="3474720" cy="914400"/>
          </a:xfrm>
          <a:prstGeom prst="rect">
            <a:avLst/>
          </a:prstGeom>
          <a:noFill/>
          <a:ln/>
        </p:spPr>
        <p:txBody>
          <a:bodyPr wrap="square" lIns="0" tIns="0" rIns="0" bIns="0" rtlCol="0" anchor="t"/>
          <a:lstStyle/>
          <a:p>
            <a:pPr marL="0" indent="0">
              <a:buNone/>
            </a:pPr>
            <a:r>
              <a:rPr lang="en-US" sz="1200" i="1" dirty="0">
                <a:solidFill>
                  <a:srgbClr val="556677"/>
                </a:solidFill>
              </a:rPr>
              <a:t>Download JSON is enabled only when every required field is complete.</a:t>
            </a:r>
            <a:endParaRPr lang="en-US" sz="1200" dirty="0"/>
          </a:p>
        </p:txBody>
      </p:sp>
      <p:sp>
        <p:nvSpPr>
          <p:cNvPr id="9" name="Text 7"/>
          <p:cNvSpPr txBox="1"/>
          <p:nvPr/>
        </p:nvSpPr>
        <p:spPr>
          <a:xfrm>
            <a:off x="4663440" y="1783080"/>
            <a:ext cx="694944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CLINICAL PROFILE</a:t>
            </a:r>
            <a:endParaRPr lang="en-US" sz="1100" dirty="0"/>
          </a:p>
        </p:txBody>
      </p:sp>
      <p:sp>
        <p:nvSpPr>
          <p:cNvPr id="10" name="Shape 8"/>
          <p:cNvSpPr/>
          <p:nvPr/>
        </p:nvSpPr>
        <p:spPr>
          <a:xfrm>
            <a:off x="4663440" y="2148840"/>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1" name="Text 9"/>
          <p:cNvSpPr txBox="1"/>
          <p:nvPr/>
        </p:nvSpPr>
        <p:spPr>
          <a:xfrm>
            <a:off x="4800600" y="2148840"/>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Introduction and synonyms</a:t>
            </a:r>
            <a:endParaRPr lang="en-US" sz="1250" dirty="0"/>
          </a:p>
          <a:p>
            <a:pPr marL="0" indent="0">
              <a:buNone/>
            </a:pPr>
            <a:r>
              <a:rPr lang="en-US" sz="1100" dirty="0">
                <a:solidFill>
                  <a:srgbClr val="16263A"/>
                </a:solidFill>
              </a:rPr>
              <a:t>What the condition is, and the names clinicians use for it</a:t>
            </a:r>
            <a:endParaRPr lang="en-US" sz="1250" dirty="0"/>
          </a:p>
        </p:txBody>
      </p:sp>
      <p:sp>
        <p:nvSpPr>
          <p:cNvPr id="12" name="Shape 10"/>
          <p:cNvSpPr/>
          <p:nvPr/>
        </p:nvSpPr>
        <p:spPr>
          <a:xfrm>
            <a:off x="8183880" y="2148840"/>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3" name="Text 11"/>
          <p:cNvSpPr txBox="1"/>
          <p:nvPr/>
        </p:nvSpPr>
        <p:spPr>
          <a:xfrm>
            <a:off x="8321040" y="2148840"/>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Clinical presentation and symptoms</a:t>
            </a:r>
            <a:endParaRPr lang="en-US" sz="1250" dirty="0"/>
          </a:p>
          <a:p>
            <a:pPr marL="0" indent="0">
              <a:buNone/>
            </a:pPr>
            <a:r>
              <a:rPr lang="en-US" sz="1100" dirty="0">
                <a:solidFill>
                  <a:srgbClr val="16263A"/>
                </a:solidFill>
              </a:rPr>
              <a:t>How patients present before diagnosis</a:t>
            </a:r>
            <a:endParaRPr lang="en-US" sz="1250" dirty="0"/>
          </a:p>
        </p:txBody>
      </p:sp>
      <p:sp>
        <p:nvSpPr>
          <p:cNvPr id="14" name="Shape 12"/>
          <p:cNvSpPr/>
          <p:nvPr/>
        </p:nvSpPr>
        <p:spPr>
          <a:xfrm>
            <a:off x="4663440" y="2898648"/>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5" name="Text 13"/>
          <p:cNvSpPr txBox="1"/>
          <p:nvPr/>
        </p:nvSpPr>
        <p:spPr>
          <a:xfrm>
            <a:off x="4800600" y="2898648"/>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Epidemiology</a:t>
            </a:r>
            <a:endParaRPr lang="en-US" sz="1250" dirty="0"/>
          </a:p>
          <a:p>
            <a:pPr marL="0" indent="0">
              <a:buNone/>
            </a:pPr>
            <a:r>
              <a:rPr lang="en-US" sz="1100" dirty="0">
                <a:solidFill>
                  <a:srgbClr val="16263A"/>
                </a:solidFill>
              </a:rPr>
              <a:t>Who is affected, risk factors and comorbidities</a:t>
            </a:r>
            <a:endParaRPr lang="en-US" sz="1250" dirty="0"/>
          </a:p>
        </p:txBody>
      </p:sp>
      <p:sp>
        <p:nvSpPr>
          <p:cNvPr id="16" name="Shape 14"/>
          <p:cNvSpPr/>
          <p:nvPr/>
        </p:nvSpPr>
        <p:spPr>
          <a:xfrm>
            <a:off x="8183880" y="2898648"/>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7" name="Text 15"/>
          <p:cNvSpPr txBox="1"/>
          <p:nvPr/>
        </p:nvSpPr>
        <p:spPr>
          <a:xfrm>
            <a:off x="8321040" y="2898648"/>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Assessment and diagnosis</a:t>
            </a:r>
            <a:endParaRPr lang="en-US" sz="1250" dirty="0"/>
          </a:p>
          <a:p>
            <a:pPr marL="0" indent="0">
              <a:buNone/>
            </a:pPr>
            <a:r>
              <a:rPr lang="en-US" sz="1100" dirty="0">
                <a:solidFill>
                  <a:srgbClr val="16263A"/>
                </a:solidFill>
              </a:rPr>
              <a:t>Tests and measurements used to make the diagnosis</a:t>
            </a:r>
            <a:endParaRPr lang="en-US" sz="1250" dirty="0"/>
          </a:p>
        </p:txBody>
      </p:sp>
      <p:sp>
        <p:nvSpPr>
          <p:cNvPr id="18" name="Shape 16"/>
          <p:cNvSpPr/>
          <p:nvPr/>
        </p:nvSpPr>
        <p:spPr>
          <a:xfrm>
            <a:off x="4663440" y="3648456"/>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9" name="Text 17"/>
          <p:cNvSpPr txBox="1"/>
          <p:nvPr/>
        </p:nvSpPr>
        <p:spPr>
          <a:xfrm>
            <a:off x="4800600" y="3648456"/>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Therapeutic plan and treatment</a:t>
            </a:r>
            <a:endParaRPr lang="en-US" sz="1250" dirty="0"/>
          </a:p>
          <a:p>
            <a:pPr marL="0" indent="0">
              <a:buNone/>
            </a:pPr>
            <a:r>
              <a:rPr lang="en-US" sz="1100" dirty="0">
                <a:solidFill>
                  <a:srgbClr val="16263A"/>
                </a:solidFill>
              </a:rPr>
              <a:t>First-line and later treatments</a:t>
            </a:r>
            <a:endParaRPr lang="en-US" sz="1250" dirty="0"/>
          </a:p>
        </p:txBody>
      </p:sp>
      <p:sp>
        <p:nvSpPr>
          <p:cNvPr id="20" name="Shape 18"/>
          <p:cNvSpPr/>
          <p:nvPr/>
        </p:nvSpPr>
        <p:spPr>
          <a:xfrm>
            <a:off x="8183880" y="3648456"/>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21" name="Text 19"/>
          <p:cNvSpPr txBox="1"/>
          <p:nvPr/>
        </p:nvSpPr>
        <p:spPr>
          <a:xfrm>
            <a:off x="8321040" y="3648456"/>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Complications and prognosis</a:t>
            </a:r>
            <a:endParaRPr lang="en-US" sz="1250" dirty="0"/>
          </a:p>
          <a:p>
            <a:pPr marL="0" indent="0">
              <a:buNone/>
            </a:pPr>
            <a:r>
              <a:rPr lang="en-US" sz="1100" dirty="0">
                <a:solidFill>
                  <a:srgbClr val="16263A"/>
                </a:solidFill>
              </a:rPr>
              <a:t>Short- and long-term outcomes</a:t>
            </a:r>
            <a:endParaRPr lang="en-US" sz="1250" dirty="0"/>
          </a:p>
        </p:txBody>
      </p:sp>
      <p:sp>
        <p:nvSpPr>
          <p:cNvPr id="22" name="Shape 20"/>
          <p:cNvSpPr/>
          <p:nvPr/>
        </p:nvSpPr>
        <p:spPr>
          <a:xfrm>
            <a:off x="4663440" y="4398264"/>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23" name="Text 21"/>
          <p:cNvSpPr txBox="1"/>
          <p:nvPr/>
        </p:nvSpPr>
        <p:spPr>
          <a:xfrm>
            <a:off x="4800600" y="4398264"/>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Disqualifiers</a:t>
            </a:r>
            <a:endParaRPr lang="en-US" sz="1250" dirty="0"/>
          </a:p>
          <a:p>
            <a:pPr marL="0" indent="0">
              <a:buNone/>
            </a:pPr>
            <a:r>
              <a:rPr lang="en-US" sz="1100" dirty="0">
                <a:solidFill>
                  <a:srgbClr val="16263A"/>
                </a:solidFill>
              </a:rPr>
              <a:t>Differential diagnoses that should not enter the cohort</a:t>
            </a:r>
            <a:endParaRPr lang="en-US" sz="1250" dirty="0"/>
          </a:p>
        </p:txBody>
      </p:sp>
      <p:sp>
        <p:nvSpPr>
          <p:cNvPr id="24" name="Text 22"/>
          <p:cNvSpPr txBox="1"/>
          <p:nvPr/>
        </p:nvSpPr>
        <p:spPr>
          <a:xfrm>
            <a:off x="8183880" y="4398264"/>
            <a:ext cx="3456432" cy="1234440"/>
          </a:xfrm>
          <a:prstGeom prst="rect">
            <a:avLst/>
          </a:prstGeom>
          <a:noFill/>
          <a:ln/>
        </p:spPr>
        <p:txBody>
          <a:bodyPr wrap="square" lIns="0" tIns="0" rIns="0" bIns="0" rtlCol="0" anchor="ctr"/>
          <a:lstStyle/>
          <a:p>
            <a:pPr marL="0" indent="0">
              <a:buNone/>
            </a:pPr>
            <a:r>
              <a:rPr lang="en-US" sz="1150" b="1" dirty="0">
                <a:solidFill>
                  <a:srgbClr val="A23B72"/>
                </a:solidFill>
              </a:rPr>
              <a:t>Draft with AI </a:t>
            </a:r>
            <a:r>
              <a:rPr lang="en-US" sz="1150" dirty="0">
                <a:solidFill>
                  <a:srgbClr val="16263A"/>
                </a:solidFill>
              </a:rPr>
              <a:t>fills the clinical profile when the app runs locally with an LLM connection. The hosted app is completed by hand, or loaded from an uploaded JSON file.</a:t>
            </a:r>
            <a:endParaRPr lang="en-US" sz="11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DATA SOURCE DESCRIPTIONS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The Data Source Description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structured profile of the database, written by </a:t>
            </a:r>
            <a:r>
              <a:rPr lang="en-US" sz="1600" b="1" dirty="0">
                <a:solidFill>
                  <a:srgbClr val="A23B72"/>
                </a:solidFill>
              </a:rPr>
              <a:t>the people who know the data</a:t>
            </a:r>
            <a:endParaRPr lang="en-US" sz="1600" dirty="0"/>
          </a:p>
        </p:txBody>
      </p:sp>
      <p:sp>
        <p:nvSpPr>
          <p:cNvPr id="5" name="Shape 3"/>
          <p:cNvSpPr/>
          <p:nvPr/>
        </p:nvSpPr>
        <p:spPr>
          <a:xfrm>
            <a:off x="548640" y="1783080"/>
            <a:ext cx="5486400" cy="960120"/>
          </a:xfrm>
          <a:prstGeom prst="roundRect">
            <a:avLst>
              <a:gd name="adj" fmla="val 7619"/>
            </a:avLst>
          </a:prstGeom>
          <a:solidFill>
            <a:srgbClr val="F8EAF1"/>
          </a:solidFill>
          <a:ln w="12700">
            <a:solidFill>
              <a:srgbClr val="F8EAF1"/>
            </a:solidFill>
            <a:prstDash val="solid"/>
          </a:ln>
        </p:spPr>
        <p:txBody>
          <a:bodyPr/>
          <a:lstStyle/>
          <a:p>
            <a:endParaRPr lang="en-US"/>
          </a:p>
        </p:txBody>
      </p:sp>
      <p:sp>
        <p:nvSpPr>
          <p:cNvPr id="6" name="Text 4"/>
          <p:cNvSpPr txBox="1"/>
          <p:nvPr/>
        </p:nvSpPr>
        <p:spPr>
          <a:xfrm>
            <a:off x="731520" y="1874520"/>
            <a:ext cx="1828800" cy="777240"/>
          </a:xfrm>
          <a:prstGeom prst="rect">
            <a:avLst/>
          </a:prstGeom>
          <a:noFill/>
          <a:ln/>
        </p:spPr>
        <p:txBody>
          <a:bodyPr wrap="square" lIns="0" tIns="0" rIns="0" bIns="0" rtlCol="0" anchor="t"/>
          <a:lstStyle/>
          <a:p>
            <a:pPr marL="0" indent="0">
              <a:buNone/>
            </a:pPr>
            <a:r>
              <a:rPr lang="en-US" sz="1350" b="1" dirty="0">
                <a:solidFill>
                  <a:srgbClr val="A23B72"/>
                </a:solidFill>
              </a:rPr>
              <a:t>Administrative details</a:t>
            </a:r>
            <a:endParaRPr lang="en-US" sz="1350" dirty="0"/>
          </a:p>
        </p:txBody>
      </p:sp>
      <p:sp>
        <p:nvSpPr>
          <p:cNvPr id="7" name="Text 5"/>
          <p:cNvSpPr txBox="1"/>
          <p:nvPr/>
        </p:nvSpPr>
        <p:spPr>
          <a:xfrm>
            <a:off x="2606040" y="1874520"/>
            <a:ext cx="3291840" cy="77724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Name and acronym of the data source</a:t>
            </a:r>
            <a:endParaRPr lang="en-US" sz="1150" dirty="0"/>
          </a:p>
          <a:p>
            <a:pPr marL="152400" indent="-152400">
              <a:buSzPct val="100000"/>
              <a:buChar char="•"/>
            </a:pPr>
            <a:r>
              <a:rPr lang="en-US" sz="1150" dirty="0">
                <a:solidFill>
                  <a:srgbClr val="16263A"/>
                </a:solidFill>
              </a:rPr>
              <a:t>Website and HMA-EMA catalogue entry</a:t>
            </a:r>
            <a:endParaRPr lang="en-US" sz="1150" dirty="0"/>
          </a:p>
          <a:p>
            <a:pPr marL="152400" indent="-152400">
              <a:buSzPct val="100000"/>
              <a:buChar char="•"/>
            </a:pPr>
            <a:r>
              <a:rPr lang="en-US" sz="1150" dirty="0">
                <a:solidFill>
                  <a:srgbClr val="16263A"/>
                </a:solidFill>
              </a:rPr>
              <a:t>Main references</a:t>
            </a:r>
            <a:endParaRPr lang="en-US" sz="1150" dirty="0"/>
          </a:p>
        </p:txBody>
      </p:sp>
      <p:sp>
        <p:nvSpPr>
          <p:cNvPr id="8" name="Shape 6"/>
          <p:cNvSpPr/>
          <p:nvPr/>
        </p:nvSpPr>
        <p:spPr>
          <a:xfrm>
            <a:off x="548640" y="2834640"/>
            <a:ext cx="5486400" cy="1783080"/>
          </a:xfrm>
          <a:prstGeom prst="roundRect">
            <a:avLst>
              <a:gd name="adj" fmla="val 4103"/>
            </a:avLst>
          </a:prstGeom>
          <a:solidFill>
            <a:srgbClr val="F8EAF1"/>
          </a:solidFill>
          <a:ln w="12700">
            <a:solidFill>
              <a:srgbClr val="F8EAF1"/>
            </a:solidFill>
            <a:prstDash val="solid"/>
          </a:ln>
        </p:spPr>
        <p:txBody>
          <a:bodyPr/>
          <a:lstStyle/>
          <a:p>
            <a:endParaRPr lang="en-US"/>
          </a:p>
        </p:txBody>
      </p:sp>
      <p:sp>
        <p:nvSpPr>
          <p:cNvPr id="9" name="Text 7"/>
          <p:cNvSpPr txBox="1"/>
          <p:nvPr/>
        </p:nvSpPr>
        <p:spPr>
          <a:xfrm>
            <a:off x="731520" y="2926080"/>
            <a:ext cx="1828800" cy="1600200"/>
          </a:xfrm>
          <a:prstGeom prst="rect">
            <a:avLst/>
          </a:prstGeom>
          <a:noFill/>
          <a:ln/>
        </p:spPr>
        <p:txBody>
          <a:bodyPr wrap="square" lIns="0" tIns="0" rIns="0" bIns="0" rtlCol="0" anchor="t"/>
          <a:lstStyle/>
          <a:p>
            <a:pPr marL="0" indent="0">
              <a:buNone/>
            </a:pPr>
            <a:r>
              <a:rPr lang="en-US" sz="1350" b="1" dirty="0">
                <a:solidFill>
                  <a:srgbClr val="A23B72"/>
                </a:solidFill>
              </a:rPr>
              <a:t>Data collected</a:t>
            </a:r>
            <a:endParaRPr lang="en-US" sz="1350" dirty="0"/>
          </a:p>
        </p:txBody>
      </p:sp>
      <p:sp>
        <p:nvSpPr>
          <p:cNvPr id="10" name="Text 8"/>
          <p:cNvSpPr txBox="1"/>
          <p:nvPr/>
        </p:nvSpPr>
        <p:spPr>
          <a:xfrm>
            <a:off x="2606040" y="2926080"/>
            <a:ext cx="3291840" cy="160020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Geography and population</a:t>
            </a:r>
            <a:endParaRPr lang="en-US" sz="1150" dirty="0"/>
          </a:p>
          <a:p>
            <a:pPr marL="152400" indent="-152400">
              <a:buSzPct val="100000"/>
              <a:buChar char="•"/>
            </a:pPr>
            <a:r>
              <a:rPr lang="en-US" sz="1150" dirty="0">
                <a:solidFill>
                  <a:srgbClr val="16263A"/>
                </a:solidFill>
              </a:rPr>
              <a:t>Healthcare setting and type of data</a:t>
            </a:r>
            <a:endParaRPr lang="en-US" sz="1150" dirty="0"/>
          </a:p>
          <a:p>
            <a:pPr marL="152400" indent="-152400">
              <a:buSzPct val="100000"/>
              <a:buChar char="•"/>
            </a:pPr>
            <a:r>
              <a:rPr lang="en-US" sz="1150" dirty="0">
                <a:solidFill>
                  <a:srgbClr val="16263A"/>
                </a:solidFill>
              </a:rPr>
              <a:t>Collection process and representativeness</a:t>
            </a:r>
            <a:endParaRPr lang="en-US" sz="1150" dirty="0"/>
          </a:p>
          <a:p>
            <a:pPr marL="152400" indent="-152400">
              <a:buSzPct val="100000"/>
              <a:buChar char="•"/>
            </a:pPr>
            <a:r>
              <a:rPr lang="en-US" sz="1150" dirty="0">
                <a:solidFill>
                  <a:srgbClr val="16263A"/>
                </a:solidFill>
              </a:rPr>
              <a:t>Coding, quality control and linkage</a:t>
            </a:r>
            <a:endParaRPr lang="en-US" sz="1150" dirty="0"/>
          </a:p>
          <a:p>
            <a:pPr marL="152400" indent="-152400">
              <a:buSzPct val="100000"/>
              <a:buChar char="•"/>
            </a:pPr>
            <a:r>
              <a:rPr lang="en-US" sz="1150" dirty="0">
                <a:solidFill>
                  <a:srgbClr val="16263A"/>
                </a:solidFill>
              </a:rPr>
              <a:t>How deaths are captured</a:t>
            </a:r>
            <a:endParaRPr lang="en-US" sz="1150" dirty="0"/>
          </a:p>
          <a:p>
            <a:pPr marL="152400" indent="-152400">
              <a:buSzPct val="100000"/>
              <a:buChar char="•"/>
            </a:pPr>
            <a:r>
              <a:rPr lang="en-US" sz="1150" dirty="0">
                <a:solidFill>
                  <a:srgbClr val="16263A"/>
                </a:solidFill>
              </a:rPr>
              <a:t>Known limitations</a:t>
            </a:r>
            <a:endParaRPr lang="en-US" sz="1150" dirty="0"/>
          </a:p>
        </p:txBody>
      </p:sp>
      <p:sp>
        <p:nvSpPr>
          <p:cNvPr id="11" name="Shape 9"/>
          <p:cNvSpPr/>
          <p:nvPr/>
        </p:nvSpPr>
        <p:spPr>
          <a:xfrm>
            <a:off x="548640" y="4709160"/>
            <a:ext cx="5486400" cy="868680"/>
          </a:xfrm>
          <a:prstGeom prst="roundRect">
            <a:avLst>
              <a:gd name="adj" fmla="val 8421"/>
            </a:avLst>
          </a:prstGeom>
          <a:solidFill>
            <a:srgbClr val="F8EAF1"/>
          </a:solidFill>
          <a:ln w="12700">
            <a:solidFill>
              <a:srgbClr val="F8EAF1"/>
            </a:solidFill>
            <a:prstDash val="solid"/>
          </a:ln>
        </p:spPr>
        <p:txBody>
          <a:bodyPr/>
          <a:lstStyle/>
          <a:p>
            <a:endParaRPr lang="en-US"/>
          </a:p>
        </p:txBody>
      </p:sp>
      <p:sp>
        <p:nvSpPr>
          <p:cNvPr id="12" name="Text 10"/>
          <p:cNvSpPr txBox="1"/>
          <p:nvPr/>
        </p:nvSpPr>
        <p:spPr>
          <a:xfrm>
            <a:off x="731520" y="4800600"/>
            <a:ext cx="1828800" cy="685800"/>
          </a:xfrm>
          <a:prstGeom prst="rect">
            <a:avLst/>
          </a:prstGeom>
          <a:noFill/>
          <a:ln/>
        </p:spPr>
        <p:txBody>
          <a:bodyPr wrap="square" lIns="0" tIns="0" rIns="0" bIns="0" rtlCol="0" anchor="t"/>
          <a:lstStyle/>
          <a:p>
            <a:pPr marL="0" indent="0">
              <a:buNone/>
            </a:pPr>
            <a:r>
              <a:rPr lang="en-US" sz="1350" b="1" dirty="0">
                <a:solidFill>
                  <a:srgbClr val="A23B72"/>
                </a:solidFill>
              </a:rPr>
              <a:t>OMOP CDM mapping</a:t>
            </a:r>
            <a:endParaRPr lang="en-US" sz="1350" dirty="0"/>
          </a:p>
        </p:txBody>
      </p:sp>
      <p:sp>
        <p:nvSpPr>
          <p:cNvPr id="13" name="Text 11"/>
          <p:cNvSpPr txBox="1"/>
          <p:nvPr/>
        </p:nvSpPr>
        <p:spPr>
          <a:xfrm>
            <a:off x="2606040" y="4800600"/>
            <a:ext cx="3291840" cy="68580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How the source data were mapped to OMOP</a:t>
            </a:r>
            <a:endParaRPr lang="en-US" sz="1150" dirty="0"/>
          </a:p>
          <a:p>
            <a:pPr marL="152400" indent="-152400">
              <a:buSzPct val="100000"/>
              <a:buChar char="•"/>
            </a:pPr>
            <a:r>
              <a:rPr lang="en-US" sz="1150" dirty="0">
                <a:solidFill>
                  <a:srgbClr val="16263A"/>
                </a:solidFill>
              </a:rPr>
              <a:t>Quality control during and after mapping</a:t>
            </a:r>
            <a:endParaRPr lang="en-US" sz="1150" dirty="0"/>
          </a:p>
        </p:txBody>
      </p:sp>
      <p:sp>
        <p:nvSpPr>
          <p:cNvPr id="14" name="Text 12"/>
          <p:cNvSpPr txBox="1"/>
          <p:nvPr/>
        </p:nvSpPr>
        <p:spPr>
          <a:xfrm>
            <a:off x="6355080" y="1783080"/>
            <a:ext cx="5285232" cy="274320"/>
          </a:xfrm>
          <a:prstGeom prst="rect">
            <a:avLst/>
          </a:prstGeom>
          <a:noFill/>
          <a:ln/>
        </p:spPr>
        <p:txBody>
          <a:bodyPr wrap="square" lIns="0" tIns="0" rIns="0" bIns="0" rtlCol="0" anchor="ctr"/>
          <a:lstStyle/>
          <a:p>
            <a:pPr marL="0" indent="0">
              <a:buNone/>
            </a:pPr>
            <a:r>
              <a:rPr lang="en-US" sz="1050" b="1" kern="0" spc="100" dirty="0">
                <a:solidFill>
                  <a:srgbClr val="A23B72"/>
                </a:solidFill>
              </a:rPr>
              <a:t>EXAMPLE ENTRIES FOR SYNPUF-1K, FROM THE DATABASE DIAGNOSTICS</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355080" y="2103120"/>
          <a:ext cx="5285232" cy="3063240"/>
        </p:xfrm>
        <a:graphic>
          <a:graphicData uri="http://schemas.openxmlformats.org/drawingml/2006/table">
            <a:tbl>
              <a:tblPr/>
              <a:tblGrid>
                <a:gridCol w="1737360">
                  <a:extLst>
                    <a:ext uri="{9D8B030D-6E8A-4147-A177-3AD203B41FA5}">
                      <a16:colId xmlns:a16="http://schemas.microsoft.com/office/drawing/2014/main" val="20000"/>
                    </a:ext>
                  </a:extLst>
                </a:gridCol>
                <a:gridCol w="3547872">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 entry</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Data source acronym</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synpuf-1k (must match the CDM name)</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Type of data</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Synthetic US insurance claims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1,000 people, mostly aged over 65</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Data source coding</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ICD-9-CM diagnoses, NDC and HCPCS drug codes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Source limitations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Synthetic data; three years of follow-up; no numeric measurement values; provider and care site missing</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3"/>
          <p:cNvSpPr txBox="1"/>
          <p:nvPr/>
        </p:nvSpPr>
        <p:spPr>
          <a:xfrm>
            <a:off x="6355080" y="5349240"/>
            <a:ext cx="5285232" cy="411480"/>
          </a:xfrm>
          <a:prstGeom prst="rect">
            <a:avLst/>
          </a:prstGeom>
          <a:noFill/>
          <a:ln/>
        </p:spPr>
        <p:txBody>
          <a:bodyPr wrap="square" lIns="0" tIns="0" rIns="0" bIns="0" rtlCol="0" anchor="t"/>
          <a:lstStyle/>
          <a:p>
            <a:pPr marL="0" indent="0">
              <a:buNone/>
            </a:pPr>
            <a:r>
              <a:rPr lang="en-US" sz="1150" i="1">
                <a:solidFill>
                  <a:srgbClr val="556677"/>
                </a:solidFill>
              </a:rPr>
              <a:t>The description should come from the data custodian, and </a:t>
            </a:r>
            <a:r>
              <a:rPr lang="en-US" sz="1150" i="1" dirty="0">
                <a:solidFill>
                  <a:srgbClr val="556677"/>
                </a:solidFill>
              </a:rPr>
              <a:t>the database diagnostics can be used to check it.</a:t>
            </a:r>
            <a:endParaRPr lang="en-US" sz="11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PUTTING IT TOGETHER</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Adding Context to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Three folders are passed to </a:t>
            </a:r>
            <a:r>
              <a:rPr lang="en-US" sz="1600" b="1" dirty="0">
                <a:solidFill>
                  <a:srgbClr val="A23B72"/>
                </a:solidFill>
                <a:latin typeface="Courier New" pitchFamily="34" charset="0"/>
                <a:ea typeface="Courier New" pitchFamily="34" charset="-122"/>
                <a:cs typeface="Courier New" pitchFamily="34" charset="-120"/>
              </a:rPr>
              <a:t>shinyDiagnostics()</a:t>
            </a:r>
            <a:r>
              <a:rPr lang="en-US" sz="1600" dirty="0">
                <a:solidFill>
                  <a:srgbClr val="556677"/>
                </a:solidFill>
              </a:rPr>
              <a:t> together with the diagnostic results</a:t>
            </a:r>
            <a:endParaRPr lang="en-US" sz="1600" dirty="0"/>
          </a:p>
        </p:txBody>
      </p:sp>
      <p:sp>
        <p:nvSpPr>
          <p:cNvPr id="5" name="Shape 3"/>
          <p:cNvSpPr/>
          <p:nvPr/>
        </p:nvSpPr>
        <p:spPr>
          <a:xfrm>
            <a:off x="548640" y="1783080"/>
            <a:ext cx="6949440" cy="3931920"/>
          </a:xfrm>
          <a:prstGeom prst="roundRect">
            <a:avLst>
              <a:gd name="adj" fmla="val 1860"/>
            </a:avLst>
          </a:prstGeom>
          <a:solidFill>
            <a:srgbClr val="13293D"/>
          </a:solidFill>
          <a:ln w="12700">
            <a:solidFill>
              <a:srgbClr val="13293D"/>
            </a:solidFill>
            <a:prstDash val="solid"/>
          </a:ln>
        </p:spPr>
        <p:txBody>
          <a:bodyPr/>
          <a:lstStyle/>
          <a:p>
            <a:endParaRPr lang="en-US"/>
          </a:p>
        </p:txBody>
      </p:sp>
      <p:sp>
        <p:nvSpPr>
          <p:cNvPr id="6" name="Text 4"/>
          <p:cNvSpPr txBox="1"/>
          <p:nvPr/>
        </p:nvSpPr>
        <p:spPr>
          <a:xfrm>
            <a:off x="822960" y="1874520"/>
            <a:ext cx="6583680" cy="3749040"/>
          </a:xfrm>
          <a:prstGeom prst="rect">
            <a:avLst/>
          </a:prstGeom>
          <a:noFill/>
          <a:ln/>
        </p:spPr>
        <p:txBody>
          <a:bodyPr wrap="square" lIns="0" tIns="0" rIns="0" bIns="0" rtlCol="0" anchor="ctr"/>
          <a:lstStyle/>
          <a:p>
            <a:pPr marL="0" indent="0">
              <a:buNone/>
            </a:pPr>
            <a:r>
              <a:rPr lang="en-US" sz="1250" dirty="0">
                <a:solidFill>
                  <a:srgbClr val="CFE3EA"/>
                </a:solidFill>
                <a:latin typeface="Courier New" pitchFamily="34" charset="0"/>
                <a:ea typeface="Courier New" pitchFamily="34" charset="-122"/>
                <a:cs typeface="Courier New" pitchFamily="34" charset="-120"/>
              </a:rPr>
              <a:t>library(ellmer)</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chat &lt;- chat("google_gemini")</a:t>
            </a:r>
            <a:r>
              <a:rPr lang="en-US" sz="1250" dirty="0">
                <a:solidFill>
                  <a:srgbClr val="7F95A8"/>
                </a:solidFill>
                <a:latin typeface="Courier New" pitchFamily="34" charset="0"/>
                <a:ea typeface="Courier New" pitchFamily="34" charset="-122"/>
                <a:cs typeface="Courier New" pitchFamily="34" charset="-120"/>
              </a:rPr>
              <a:t>     # any ellmer provider</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1. Expectations, from cohort names only</a:t>
            </a:r>
            <a:endParaRPr lang="en-US" sz="1250" dirty="0"/>
          </a:p>
          <a:p>
            <a:pPr marL="0" indent="0">
              <a:buNone/>
            </a:pPr>
            <a:r>
              <a:rPr lang="en-US" sz="1250" b="1" dirty="0">
                <a:solidFill>
                  <a:srgbClr val="7FD1D8"/>
                </a:solidFill>
                <a:latin typeface="Courier New" pitchFamily="34" charset="0"/>
                <a:ea typeface="Courier New" pitchFamily="34" charset="-122"/>
                <a:cs typeface="Courier New" pitchFamily="34" charset="-120"/>
              </a:rPr>
              <a:t>getCohortExpectations</a:t>
            </a:r>
            <a:r>
              <a:rPr lang="en-US" sz="1250" dirty="0">
                <a:solidFill>
                  <a:srgbClr val="CFE3EA"/>
                </a:solidFill>
                <a:latin typeface="Courier New" pitchFamily="34" charset="0"/>
                <a:ea typeface="Courier New" pitchFamily="34" charset="-122"/>
                <a:cs typeface="Courier New" pitchFamily="34" charset="-120"/>
              </a:rPr>
              <a:t>(chat, phenotypes = result,</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outputDir = "expectations")</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2. Clinical and data source descriptions: files saved</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from the two description apps (or drafted with an LLM)</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b="1" dirty="0">
                <a:solidFill>
                  <a:srgbClr val="7FD1D8"/>
                </a:solidFill>
                <a:latin typeface="Courier New" pitchFamily="34" charset="0"/>
                <a:ea typeface="Courier New" pitchFamily="34" charset="-122"/>
                <a:cs typeface="Courier New" pitchFamily="34" charset="-120"/>
              </a:rPr>
              <a:t>shinyDiagnostics</a:t>
            </a:r>
            <a:r>
              <a:rPr lang="en-US" sz="1250" dirty="0">
                <a:solidFill>
                  <a:srgbClr val="CFE3EA"/>
                </a:solidFill>
                <a:latin typeface="Courier New" pitchFamily="34" charset="0"/>
                <a:ea typeface="Courier New" pitchFamily="34" charset="-122"/>
                <a:cs typeface="Courier New" pitchFamily="34" charset="-120"/>
              </a:rPr>
              <a:t>(result, directory = tempdir(),</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expectationsDir         = "expectations",</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clinicalDescriptionsDir = "clinical_descriptions",</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databaseDescriptionsDir = "database_descriptions")</a:t>
            </a:r>
            <a:endParaRPr lang="en-US" sz="1250" dirty="0"/>
          </a:p>
        </p:txBody>
      </p:sp>
      <p:sp>
        <p:nvSpPr>
          <p:cNvPr id="7" name="Shape 5"/>
          <p:cNvSpPr/>
          <p:nvPr/>
        </p:nvSpPr>
        <p:spPr>
          <a:xfrm>
            <a:off x="7772400" y="178308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8" name="Text 6"/>
          <p:cNvSpPr txBox="1"/>
          <p:nvPr/>
        </p:nvSpPr>
        <p:spPr>
          <a:xfrm>
            <a:off x="7955280" y="185623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Only names leave the database.</a:t>
            </a:r>
            <a:endParaRPr lang="en-US" sz="1400" dirty="0"/>
          </a:p>
          <a:p>
            <a:pPr marL="0" indent="0">
              <a:buNone/>
            </a:pPr>
            <a:r>
              <a:rPr lang="en-US" sz="1200" dirty="0">
                <a:solidFill>
                  <a:srgbClr val="16263A"/>
                </a:solidFill>
              </a:rPr>
              <a:t>getCohortExpectations() sends cohort names to the model, and no counts or patient data.</a:t>
            </a:r>
            <a:endParaRPr lang="en-US" sz="1400" dirty="0"/>
          </a:p>
        </p:txBody>
      </p:sp>
      <p:sp>
        <p:nvSpPr>
          <p:cNvPr id="9" name="Shape 7"/>
          <p:cNvSpPr/>
          <p:nvPr/>
        </p:nvSpPr>
        <p:spPr>
          <a:xfrm>
            <a:off x="7772400" y="310896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10" name="Text 8"/>
          <p:cNvSpPr txBox="1"/>
          <p:nvPr/>
        </p:nvSpPr>
        <p:spPr>
          <a:xfrm>
            <a:off x="7955280" y="318211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Names must match.</a:t>
            </a:r>
            <a:endParaRPr lang="en-US" sz="1400" dirty="0"/>
          </a:p>
          <a:p>
            <a:pPr marL="0" indent="0">
              <a:buNone/>
            </a:pPr>
            <a:r>
              <a:rPr lang="en-US" sz="1200" dirty="0">
                <a:solidFill>
                  <a:srgbClr val="16263A"/>
                </a:solidFill>
              </a:rPr>
              <a:t>Clinical descriptions match on cohort name, and data source descriptions match on the CDM name.</a:t>
            </a:r>
            <a:endParaRPr lang="en-US" sz="1400" dirty="0"/>
          </a:p>
        </p:txBody>
      </p:sp>
      <p:sp>
        <p:nvSpPr>
          <p:cNvPr id="11" name="Shape 9"/>
          <p:cNvSpPr/>
          <p:nvPr/>
        </p:nvSpPr>
        <p:spPr>
          <a:xfrm>
            <a:off x="7772400" y="443484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12" name="Text 10"/>
          <p:cNvSpPr txBox="1"/>
          <p:nvPr/>
        </p:nvSpPr>
        <p:spPr>
          <a:xfrm>
            <a:off x="7955280" y="450799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Check the version.</a:t>
            </a:r>
            <a:endParaRPr lang="en-US" sz="1400" dirty="0"/>
          </a:p>
          <a:p>
            <a:pPr marL="0" indent="0">
              <a:buNone/>
            </a:pPr>
            <a:r>
              <a:rPr lang="en-US" sz="1200" dirty="0">
                <a:solidFill>
                  <a:srgbClr val="16263A"/>
                </a:solidFill>
              </a:rPr>
              <a:t>The documentation and the current code name the description function differently; confirm against the installed version.</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40080" y="685800"/>
            <a:ext cx="7315200" cy="320040"/>
          </a:xfrm>
          <a:prstGeom prst="rect">
            <a:avLst/>
          </a:prstGeom>
          <a:noFill/>
          <a:ln/>
        </p:spPr>
        <p:txBody>
          <a:bodyPr wrap="square" lIns="0" tIns="0" rIns="0" bIns="0" rtlCol="0" anchor="ctr"/>
          <a:lstStyle/>
          <a:p>
            <a:pPr marL="0" indent="0">
              <a:buNone/>
            </a:pPr>
            <a:r>
              <a:rPr lang="en-US" sz="1200" b="1" kern="0" spc="200" dirty="0">
                <a:solidFill>
                  <a:srgbClr val="8FC1C6"/>
                </a:solidFill>
              </a:rPr>
              <a:t>KEY MESSAGES</a:t>
            </a:r>
            <a:endParaRPr lang="en-US" sz="1200" dirty="0"/>
          </a:p>
        </p:txBody>
      </p:sp>
      <p:sp>
        <p:nvSpPr>
          <p:cNvPr id="3" name="Text 1"/>
          <p:cNvSpPr txBox="1"/>
          <p:nvPr/>
        </p:nvSpPr>
        <p:spPr>
          <a:xfrm>
            <a:off x="640080" y="1234440"/>
            <a:ext cx="640080" cy="914400"/>
          </a:xfrm>
          <a:prstGeom prst="rect">
            <a:avLst/>
          </a:prstGeom>
          <a:noFill/>
          <a:ln/>
        </p:spPr>
        <p:txBody>
          <a:bodyPr wrap="square" lIns="0" tIns="0" rIns="0" bIns="0" rtlCol="0" anchor="t"/>
          <a:lstStyle/>
          <a:p>
            <a:pPr marL="0" indent="0">
              <a:buNone/>
            </a:pPr>
            <a:r>
              <a:rPr lang="en-US" sz="4400" b="1" dirty="0">
                <a:solidFill>
                  <a:srgbClr val="8FC1C6"/>
                </a:solidFill>
              </a:rPr>
              <a:t>1</a:t>
            </a:r>
            <a:endParaRPr lang="en-US" sz="4400" dirty="0"/>
          </a:p>
        </p:txBody>
      </p:sp>
      <p:sp>
        <p:nvSpPr>
          <p:cNvPr id="4" name="Text 2"/>
          <p:cNvSpPr txBox="1"/>
          <p:nvPr/>
        </p:nvSpPr>
        <p:spPr>
          <a:xfrm>
            <a:off x="1371600" y="1234440"/>
            <a:ext cx="6949440" cy="1143000"/>
          </a:xfrm>
          <a:prstGeom prst="rect">
            <a:avLst/>
          </a:prstGeom>
          <a:noFill/>
          <a:ln/>
        </p:spPr>
        <p:txBody>
          <a:bodyPr wrap="square" lIns="0" tIns="0" rIns="0" bIns="0" rtlCol="0" anchor="t"/>
          <a:lstStyle/>
          <a:p>
            <a:pPr marL="0" indent="0">
              <a:buNone/>
            </a:pPr>
            <a:r>
              <a:rPr lang="en-US" sz="2200" b="1">
                <a:solidFill>
                  <a:srgbClr val="FFFFFF"/>
                </a:solidFill>
              </a:rPr>
              <a:t>A cohort that runs is not yet ready for research</a:t>
            </a:r>
            <a:endParaRPr lang="en-US" sz="2200"/>
          </a:p>
          <a:p>
            <a:pPr marL="0" indent="0">
              <a:buNone/>
            </a:pPr>
            <a:r>
              <a:rPr lang="en-US" sz="1400">
                <a:solidFill>
                  <a:srgbClr val="C9D6DF"/>
                </a:solidFill>
              </a:rPr>
              <a:t>Counts of 728 and 63 showed that the definitions ran, not what they captured</a:t>
            </a:r>
            <a:endParaRPr lang="en-US" sz="2200"/>
          </a:p>
        </p:txBody>
      </p:sp>
      <p:sp>
        <p:nvSpPr>
          <p:cNvPr id="5" name="Text 3"/>
          <p:cNvSpPr txBox="1"/>
          <p:nvPr/>
        </p:nvSpPr>
        <p:spPr>
          <a:xfrm>
            <a:off x="640080" y="2560320"/>
            <a:ext cx="640080" cy="914400"/>
          </a:xfrm>
          <a:prstGeom prst="rect">
            <a:avLst/>
          </a:prstGeom>
          <a:noFill/>
          <a:ln/>
        </p:spPr>
        <p:txBody>
          <a:bodyPr wrap="square" lIns="0" tIns="0" rIns="0" bIns="0" rtlCol="0" anchor="t"/>
          <a:lstStyle/>
          <a:p>
            <a:pPr marL="0" indent="0">
              <a:buNone/>
            </a:pPr>
            <a:r>
              <a:rPr lang="en-US" sz="4400" b="1" dirty="0">
                <a:solidFill>
                  <a:srgbClr val="8FC1C6"/>
                </a:solidFill>
              </a:rPr>
              <a:t>2</a:t>
            </a:r>
            <a:endParaRPr lang="en-US" sz="4400" dirty="0"/>
          </a:p>
        </p:txBody>
      </p:sp>
      <p:sp>
        <p:nvSpPr>
          <p:cNvPr id="6" name="Text 4"/>
          <p:cNvSpPr txBox="1"/>
          <p:nvPr/>
        </p:nvSpPr>
        <p:spPr>
          <a:xfrm>
            <a:off x="1371600" y="2560320"/>
            <a:ext cx="6949440" cy="1143000"/>
          </a:xfrm>
          <a:prstGeom prst="rect">
            <a:avLst/>
          </a:prstGeom>
          <a:noFill/>
          <a:ln/>
        </p:spPr>
        <p:txBody>
          <a:bodyPr wrap="square" lIns="0" tIns="0" rIns="0" bIns="0" rtlCol="0" anchor="t"/>
          <a:lstStyle/>
          <a:p>
            <a:pPr marL="0" indent="0">
              <a:buNone/>
            </a:pPr>
            <a:r>
              <a:rPr lang="en-US" sz="2200" b="1" dirty="0">
                <a:solidFill>
                  <a:srgbClr val="FFFFFF"/>
                </a:solidFill>
              </a:rPr>
              <a:t>Each section of the R Shiny App answers a different </a:t>
            </a:r>
            <a:r>
              <a:rPr lang="en-US" sz="2200" b="1">
                <a:solidFill>
                  <a:srgbClr val="FFFFFF"/>
                </a:solidFill>
              </a:rPr>
              <a:t>question</a:t>
            </a:r>
            <a:endParaRPr lang="en-US" sz="2200"/>
          </a:p>
          <a:p>
            <a:pPr marL="0" indent="0">
              <a:buNone/>
            </a:pPr>
            <a:r>
              <a:rPr lang="en-US" sz="1400" dirty="0">
                <a:solidFill>
                  <a:srgbClr val="C9D6DF"/>
                </a:solidFill>
              </a:rPr>
              <a:t>Database, </a:t>
            </a:r>
            <a:r>
              <a:rPr lang="en-US" sz="1400" dirty="0" err="1">
                <a:solidFill>
                  <a:srgbClr val="C9D6DF"/>
                </a:solidFill>
              </a:rPr>
              <a:t>codelist</a:t>
            </a:r>
            <a:r>
              <a:rPr lang="en-US" sz="1400" dirty="0">
                <a:solidFill>
                  <a:srgbClr val="C9D6DF"/>
                </a:solidFill>
              </a:rPr>
              <a:t>, cohort and population diagnostics together show what a cohort really contains</a:t>
            </a:r>
            <a:endParaRPr lang="en-US" sz="2200" dirty="0"/>
          </a:p>
        </p:txBody>
      </p:sp>
      <p:sp>
        <p:nvSpPr>
          <p:cNvPr id="7" name="Text 5"/>
          <p:cNvSpPr txBox="1"/>
          <p:nvPr/>
        </p:nvSpPr>
        <p:spPr>
          <a:xfrm>
            <a:off x="640080" y="3886200"/>
            <a:ext cx="640080" cy="914400"/>
          </a:xfrm>
          <a:prstGeom prst="rect">
            <a:avLst/>
          </a:prstGeom>
          <a:noFill/>
          <a:ln/>
        </p:spPr>
        <p:txBody>
          <a:bodyPr wrap="square" lIns="0" tIns="0" rIns="0" bIns="0" rtlCol="0" anchor="t"/>
          <a:lstStyle/>
          <a:p>
            <a:pPr marL="0" indent="0">
              <a:buNone/>
            </a:pPr>
            <a:r>
              <a:rPr lang="en-US" sz="4400" b="1" dirty="0">
                <a:solidFill>
                  <a:srgbClr val="8FC1C6"/>
                </a:solidFill>
              </a:rPr>
              <a:t>3</a:t>
            </a:r>
            <a:endParaRPr lang="en-US" sz="4400" dirty="0"/>
          </a:p>
        </p:txBody>
      </p:sp>
      <p:sp>
        <p:nvSpPr>
          <p:cNvPr id="8" name="Text 6"/>
          <p:cNvSpPr txBox="1"/>
          <p:nvPr/>
        </p:nvSpPr>
        <p:spPr>
          <a:xfrm>
            <a:off x="1371600" y="3886200"/>
            <a:ext cx="6949440" cy="1143000"/>
          </a:xfrm>
          <a:prstGeom prst="rect">
            <a:avLst/>
          </a:prstGeom>
          <a:noFill/>
          <a:ln/>
        </p:spPr>
        <p:txBody>
          <a:bodyPr wrap="square" lIns="0" tIns="0" rIns="0" bIns="0" rtlCol="0" anchor="t"/>
          <a:lstStyle/>
          <a:p>
            <a:pPr marL="0" indent="0">
              <a:buNone/>
            </a:pPr>
            <a:r>
              <a:rPr lang="en-US" sz="2200" b="1">
                <a:solidFill>
                  <a:srgbClr val="FFFFFF"/>
                </a:solidFill>
              </a:rPr>
              <a:t>LLMs can draft context, and people make the decisions</a:t>
            </a:r>
            <a:endParaRPr lang="en-US" sz="2200"/>
          </a:p>
          <a:p>
            <a:r>
              <a:rPr lang="en-US" sz="1400">
                <a:solidFill>
                  <a:srgbClr val="C9D6DF"/>
                </a:solidFill>
              </a:rPr>
              <a:t>Descriptions and expectations help interpretation, but expert review</a:t>
            </a:r>
            <a:endParaRPr lang="en-US" sz="2200"/>
          </a:p>
        </p:txBody>
      </p:sp>
      <p:sp>
        <p:nvSpPr>
          <p:cNvPr id="9" name="Text 7"/>
          <p:cNvSpPr/>
          <p:nvPr/>
        </p:nvSpPr>
        <p:spPr>
          <a:xfrm>
            <a:off x="8778240" y="1234440"/>
            <a:ext cx="2862072" cy="548640"/>
          </a:xfrm>
          <a:prstGeom prst="roundRect">
            <a:avLst>
              <a:gd name="adj" fmla="val 13333"/>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 diagnostics</a:t>
            </a:r>
            <a:endParaRPr lang="en-US" sz="1400" dirty="0"/>
          </a:p>
        </p:txBody>
      </p:sp>
      <p:sp>
        <p:nvSpPr>
          <p:cNvPr id="10" name="Text 8"/>
          <p:cNvSpPr/>
          <p:nvPr/>
        </p:nvSpPr>
        <p:spPr>
          <a:xfrm>
            <a:off x="8778240" y="1920240"/>
            <a:ext cx="2862072" cy="548640"/>
          </a:xfrm>
          <a:prstGeom prst="roundRect">
            <a:avLst>
              <a:gd name="adj" fmla="val 13333"/>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 diagnostics</a:t>
            </a:r>
            <a:endParaRPr lang="en-US" sz="1400" dirty="0"/>
          </a:p>
        </p:txBody>
      </p:sp>
      <p:sp>
        <p:nvSpPr>
          <p:cNvPr id="11" name="Text 9"/>
          <p:cNvSpPr/>
          <p:nvPr/>
        </p:nvSpPr>
        <p:spPr>
          <a:xfrm>
            <a:off x="8778240" y="2606040"/>
            <a:ext cx="2862072" cy="548640"/>
          </a:xfrm>
          <a:prstGeom prst="roundRect">
            <a:avLst>
              <a:gd name="adj" fmla="val 13333"/>
            </a:avLst>
          </a:prstGeom>
          <a:solidFill>
            <a:srgbClr val="C8702A"/>
          </a:solidFill>
          <a:ln/>
        </p:spPr>
        <p:txBody>
          <a:bodyPr wrap="square" lIns="0" tIns="0" rIns="0" bIns="0" rtlCol="0" anchor="ctr"/>
          <a:lstStyle/>
          <a:p>
            <a:pPr marL="0" indent="0" algn="ctr">
              <a:buNone/>
            </a:pPr>
            <a:r>
              <a:rPr lang="en-US" sz="1400" b="1" dirty="0">
                <a:solidFill>
                  <a:srgbClr val="FFFFFF"/>
                </a:solidFill>
              </a:rPr>
              <a:t>Cohort diagnostics</a:t>
            </a:r>
            <a:endParaRPr lang="en-US" sz="1400" dirty="0"/>
          </a:p>
        </p:txBody>
      </p:sp>
      <p:sp>
        <p:nvSpPr>
          <p:cNvPr id="12" name="Text 10"/>
          <p:cNvSpPr/>
          <p:nvPr/>
        </p:nvSpPr>
        <p:spPr>
          <a:xfrm>
            <a:off x="8778240" y="3291840"/>
            <a:ext cx="2862072" cy="548640"/>
          </a:xfrm>
          <a:prstGeom prst="roundRect">
            <a:avLst>
              <a:gd name="adj" fmla="val 13333"/>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 diagnostics</a:t>
            </a:r>
            <a:endParaRPr lang="en-US" sz="1400" dirty="0"/>
          </a:p>
        </p:txBody>
      </p:sp>
      <p:sp>
        <p:nvSpPr>
          <p:cNvPr id="13" name="Text 11">
            <a:hlinkClick r:id="rId3"/>
          </p:cNvPr>
          <p:cNvSpPr txBox="1"/>
          <p:nvPr/>
        </p:nvSpPr>
        <p:spPr>
          <a:xfrm>
            <a:off x="8778240" y="4114800"/>
            <a:ext cx="2862072" cy="365760"/>
          </a:xfrm>
          <a:prstGeom prst="rect">
            <a:avLst/>
          </a:prstGeom>
          <a:noFill/>
          <a:ln/>
        </p:spPr>
        <p:txBody>
          <a:bodyPr wrap="square" lIns="0" tIns="0" rIns="0" bIns="0" rtlCol="0" anchor="ctr"/>
          <a:lstStyle/>
          <a:p>
            <a:pPr marL="0" indent="0" algn="ctr">
              <a:buNone/>
            </a:pPr>
            <a:r>
              <a:rPr lang="en-US" sz="1300" b="1" u="sng" dirty="0">
                <a:solidFill>
                  <a:srgbClr val="8FC1C6"/>
                </a:solidFill>
                <a:hlinkClick r:id="rId3">
                  <a:extLst>
                    <a:ext uri="{A12FA001-AC4F-418D-AE19-62706E023703}">
                      <ahyp:hlinkClr xmlns:ahyp="http://schemas.microsoft.com/office/drawing/2018/hyperlinkcolor" val="tx"/>
                    </a:ext>
                  </a:extLst>
                </a:hlinkClick>
              </a:rPr>
              <a:t>ohdsi.github.io/PhenotypeR</a:t>
            </a:r>
            <a:endParaRPr lang="en-US" sz="1300" dirty="0"/>
          </a:p>
        </p:txBody>
      </p:sp>
      <p:sp>
        <p:nvSpPr>
          <p:cNvPr id="14" name="Text 12"/>
          <p:cNvSpPr txBox="1"/>
          <p:nvPr/>
        </p:nvSpPr>
        <p:spPr>
          <a:xfrm>
            <a:off x="640080" y="5440680"/>
            <a:ext cx="7772400" cy="548640"/>
          </a:xfrm>
          <a:prstGeom prst="rect">
            <a:avLst/>
          </a:prstGeom>
          <a:noFill/>
          <a:ln/>
        </p:spPr>
        <p:txBody>
          <a:bodyPr wrap="square" lIns="0" tIns="0" rIns="0" bIns="0" rtlCol="0" anchor="ctr"/>
          <a:lstStyle/>
          <a:p>
            <a:r>
              <a:rPr lang="en-US" sz="2000" b="1">
                <a:solidFill>
                  <a:srgbClr val="FFFFFF"/>
                </a:solidFill>
              </a:rPr>
              <a:t>Next: hands-on practical with the R and R</a:t>
            </a:r>
            <a:r>
              <a:rPr lang="en-US" sz="2000" b="1" dirty="0">
                <a:solidFill>
                  <a:srgbClr val="FFFFFF"/>
                </a:solidFill>
              </a:rPr>
              <a:t> Shiny App</a:t>
            </a:r>
            <a:endParaRPr lang="en-US" sz="2000" dirty="0"/>
          </a:p>
        </p:txBody>
      </p:sp>
    </p:spTree>
  </p:cSld>
  <p:clrMapOvr>
    <a:masterClrMapping/>
  </p:clrMapOvr>
</p:sld>
</file>

<file path=ppt/theme/theme1.xml><?xml version="1.0" encoding="utf-8"?>
<a:theme xmlns:a="http://schemas.openxmlformats.org/drawingml/2006/main" name="PhenotypeR Sections">
  <a:themeElements>
    <a:clrScheme name="PhenotypeR Sections">
      <a:dk1>
        <a:srgbClr val="16263A"/>
      </a:dk1>
      <a:lt1>
        <a:srgbClr val="FFFFFF"/>
      </a:lt1>
      <a:dk2>
        <a:srgbClr val="0B2545"/>
      </a:dk2>
      <a:lt2>
        <a:srgbClr val="EEF3F6"/>
      </a:lt2>
      <a:accent1>
        <a:srgbClr val="0E7C86"/>
      </a:accent1>
      <a:accent2>
        <a:srgbClr val="B03A2E"/>
      </a:accent2>
      <a:accent3>
        <a:srgbClr val="C8702A"/>
      </a:accent3>
      <a:accent4>
        <a:srgbClr val="3D5A80"/>
      </a:accent4>
      <a:accent5>
        <a:srgbClr val="6A4C93"/>
      </a:accent5>
      <a:accent6>
        <a:srgbClr val="A23B72"/>
      </a:accent6>
      <a:hlink>
        <a:srgbClr val="0E7C86"/>
      </a:hlink>
      <a:folHlink>
        <a:srgbClr val="3D5A80"/>
      </a:folHlink>
    </a:clrScheme>
    <a:fontScheme name="PhenotypeR Sectio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2AF0E5E8A1904B8240547E600ECCC8" ma:contentTypeVersion="20" ma:contentTypeDescription="Create a new document." ma:contentTypeScope="" ma:versionID="0f4d6a71bac32830e6feee4431fdfeec">
  <xsd:schema xmlns:xsd="http://www.w3.org/2001/XMLSchema" xmlns:xs="http://www.w3.org/2001/XMLSchema" xmlns:p="http://schemas.microsoft.com/office/2006/metadata/properties" xmlns:ns2="bc6d6a02-5231-4274-81b0-f936fb569ce0" xmlns:ns3="3a0b771f-959a-4f21-8d11-1c4cd0ee27e3" xmlns:ns4="fbbcf6ee-9fbd-400c-b917-9fe3efcb3dea" targetNamespace="http://schemas.microsoft.com/office/2006/metadata/properties" ma:root="true" ma:fieldsID="9b642c0441b019aef6e25f62a64da33f" ns2:_="" ns3:_="" ns4:_="">
    <xsd:import namespace="bc6d6a02-5231-4274-81b0-f936fb569ce0"/>
    <xsd:import namespace="3a0b771f-959a-4f21-8d11-1c4cd0ee27e3"/>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ServiceLocation" minOccurs="0"/>
                <xsd:element ref="ns2:MediaLengthInSeconds" minOccurs="0"/>
                <xsd:element ref="ns2:lcf76f155ced4ddcb4097134ff3c332f" minOccurs="0"/>
                <xsd:element ref="ns4:TaxCatchAll" minOccurs="0"/>
                <xsd:element ref="ns2:MediaServiceDocTag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6d6a02-5231-4274-81b0-f936fb569c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DocTags" ma:index="24" nillable="true" ma:displayName="MediaServiceDocTags" ma:hidden="true" ma:internalName="MediaServiceDocTag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0b771f-959a-4f21-8d11-1c4cd0ee27e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286c795-946a-44fb-b9fe-b46c151efcde}" ma:internalName="TaxCatchAll" ma:showField="CatchAllData" ma:web="3a0b771f-959a-4f21-8d11-1c4cd0ee27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bc6d6a02-5231-4274-81b0-f936fb569ce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117B29D-C029-4792-8F3A-5FCA9D357144}">
  <ds:schemaRefs>
    <ds:schemaRef ds:uri="http://schemas.microsoft.com/sharepoint/v3/contenttype/forms"/>
  </ds:schemaRefs>
</ds:datastoreItem>
</file>

<file path=customXml/itemProps2.xml><?xml version="1.0" encoding="utf-8"?>
<ds:datastoreItem xmlns:ds="http://schemas.openxmlformats.org/officeDocument/2006/customXml" ds:itemID="{DB78A3B9-1C3E-4F1F-9480-419986B71F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6d6a02-5231-4274-81b0-f936fb569ce0"/>
    <ds:schemaRef ds:uri="3a0b771f-959a-4f21-8d11-1c4cd0ee27e3"/>
    <ds:schemaRef ds:uri="fbbcf6ee-9fbd-400c-b917-9fe3efcb3d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75597E-8DE8-4044-BB94-FBB6E69049AB}">
  <ds:schemaRefs>
    <ds:schemaRef ds:uri="http://schemas.microsoft.com/office/infopath/2007/PartnerControls"/>
    <ds:schemaRef ds:uri="http://purl.org/dc/elements/1.1/"/>
    <ds:schemaRef ds:uri="http://schemas.microsoft.com/office/2006/metadata/properties"/>
    <ds:schemaRef ds:uri="3a0b771f-959a-4f21-8d11-1c4cd0ee27e3"/>
    <ds:schemaRef ds:uri="http://purl.org/dc/terms/"/>
    <ds:schemaRef ds:uri="http://schemas.openxmlformats.org/package/2006/metadata/core-properties"/>
    <ds:schemaRef ds:uri="http://schemas.microsoft.com/office/2006/documentManagement/types"/>
    <ds:schemaRef ds:uri="bc6d6a02-5231-4274-81b0-f936fb569ce0"/>
    <ds:schemaRef ds:uri="fbbcf6ee-9fbd-400c-b917-9fe3efcb3de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494</TotalTime>
  <Words>10652</Words>
  <Application>Microsoft Office PowerPoint</Application>
  <PresentationFormat>Widescreen</PresentationFormat>
  <Paragraphs>778</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PhenotypeR Sections</vt:lpstr>
      <vt:lpstr>From Clinical Idea to OMOP Cohort</vt:lpstr>
      <vt:lpstr>Two Example Cohorts</vt:lpstr>
      <vt:lpstr>Two Example Cohorts</vt:lpstr>
      <vt:lpstr>Concept Sets and Cohort Definitions</vt:lpstr>
      <vt:lpstr>What Each Cohort Can Support</vt:lpstr>
      <vt:lpstr>Both Cohorts Created </vt:lpstr>
      <vt:lpstr>PhenotypeR: Evaluating Cohorts in OMOP Data</vt:lpstr>
      <vt:lpstr>What PhenotypeR Does</vt:lpstr>
      <vt:lpstr>Running PhenotypeR</vt:lpstr>
      <vt:lpstr>A Map of the R Shiny App</vt:lpstr>
      <vt:lpstr>Expectations for Each Cohort</vt:lpstr>
      <vt:lpstr>Database Diagnostics</vt:lpstr>
      <vt:lpstr>Snapshot and Person: An Older Synthetic Population</vt:lpstr>
      <vt:lpstr>Observation Periods and Clinical Records</vt:lpstr>
      <vt:lpstr>Codelist Diagnostics</vt:lpstr>
      <vt:lpstr>Cohort Code Use: Hypertension</vt:lpstr>
      <vt:lpstr>Cohort Code Use: Warfarin</vt:lpstr>
      <vt:lpstr>Orphan Codes: Hypertension</vt:lpstr>
      <vt:lpstr>Orphan Codes: Warfarin</vt:lpstr>
      <vt:lpstr>Cohort Diagnostics</vt:lpstr>
      <vt:lpstr>Cohort Count and Attrition</vt:lpstr>
      <vt:lpstr>Cohort Characteristics</vt:lpstr>
      <vt:lpstr>Large Scale Characteristics: Hypertension</vt:lpstr>
      <vt:lpstr>Compare Large Scale Characteristics</vt:lpstr>
      <vt:lpstr>Compare Cohorts: Overlap and Timing</vt:lpstr>
      <vt:lpstr>Cohort Survival</vt:lpstr>
      <vt:lpstr>Population Diagnostics</vt:lpstr>
      <vt:lpstr>Incidence</vt:lpstr>
      <vt:lpstr>Period Prevalence</vt:lpstr>
      <vt:lpstr>Summary of Findings</vt:lpstr>
      <vt:lpstr>LLM-Supported Context</vt:lpstr>
      <vt:lpstr>Three Inputs Add Context to the R Shiny App</vt:lpstr>
      <vt:lpstr>Cohort Expectations</vt:lpstr>
      <vt:lpstr>The Clinical Description App</vt:lpstr>
      <vt:lpstr>The Data Source Description App</vt:lpstr>
      <vt:lpstr>Adding Context to the R Shiny App</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PhenotypeR: Evaluating Cohorts in OMOP Data</dc:title>
  <dc:subject>PptxGenJS Presentation</dc:subject>
  <dc:creator>PptxGenJS</dc:creator>
  <cp:lastModifiedBy>Yang, Qi</cp:lastModifiedBy>
  <cp:revision>176</cp:revision>
  <dcterms:created xsi:type="dcterms:W3CDTF">2026-10-08T11:38:11Z</dcterms:created>
  <dcterms:modified xsi:type="dcterms:W3CDTF">2026-10-14T22:42:13Z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0x010100822AF0E5E8A1904B8240547E600ECCC8</vt:lpwstr>
  </property>
  <property fmtid="{D5CDD505-2E9C-101B-9397-08002B2CF9AE}" pid="3" name="MediaServiceImageTags">
    <vt:lpwstr/>
  </property>
</Properties>
</file>